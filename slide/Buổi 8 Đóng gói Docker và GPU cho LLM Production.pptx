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Urbanist" panose="020B0604020202020204" charset="0"/>
      <p:regular r:id="rId18"/>
      <p:bold r:id="rId19"/>
      <p:italic r:id="rId20"/>
      <p:boldItalic r:id="rId21"/>
    </p:embeddedFont>
    <p:embeddedFont>
      <p:font typeface="Urbanist ExtraBold" panose="020B0604020202020204" charset="0"/>
      <p:bold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527D62-33E6-4F9C-A1A0-017AADB9275F}">
  <a:tblStyle styleId="{4F527D62-33E6-4F9C-A1A0-017AADB927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A high-tech, cinematic background featuring abstract digital representations of artificial intelligence, neural networks, and containerized computing with subtle glowing green and blue accents on a dark metallic surface. Soft bokeh eff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4667250" y="4667250"/>
            <a:ext cx="28575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57250" y="2000250"/>
            <a:ext cx="10477500" cy="18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20" b="0">
                <a:solidFill>
                  <a:srgbClr val="76B90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Đóng gói Docker &amp; Chiến lược GPU cho LLM Production</a:t>
            </a:r>
            <a:endParaRPr sz="6120" b="0">
              <a:solidFill>
                <a:srgbClr val="76B90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4953000"/>
            <a:ext cx="9525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Kiến tạo môi trường triển khai nhất quán, bảo mật và hiệu năng cực hạn với NVIDIA Container Toolkit.</a:t>
            </a:r>
            <a:endParaRPr sz="2400" b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90" name="Google Shape;90;p13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6B900"/>
                  </a:solidFill>
                  <a:latin typeface="Urbanist"/>
                  <a:ea typeface="Urbanist"/>
                  <a:cs typeface="Urbanist"/>
                  <a:sym typeface="Urbanist"/>
                </a:rPr>
                <a:t>POWERED BY NVIDIA CONTAINER TOOLKIT</a:t>
              </a:r>
              <a:endParaRPr sz="1400" b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09625" y="571500"/>
            <a:ext cx="975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Tại sao phải sử dụng Docker cho LLM?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57300" cy="502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1524000"/>
            <a:ext cx="5334000" cy="2190900"/>
          </a:xfrm>
          <a:prstGeom prst="roundRect">
            <a:avLst>
              <a:gd name="adj" fmla="val 521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286500" y="1515090"/>
            <a:ext cx="5334000" cy="2190900"/>
          </a:xfrm>
          <a:prstGeom prst="roundRect">
            <a:avLst>
              <a:gd name="adj" fmla="val 521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4000500"/>
            <a:ext cx="5334000" cy="2190900"/>
          </a:xfrm>
          <a:prstGeom prst="roundRect">
            <a:avLst>
              <a:gd name="adj" fmla="val 521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6286500" y="4000500"/>
            <a:ext cx="5334000" cy="2190900"/>
          </a:xfrm>
          <a:prstGeom prst="roundRect">
            <a:avLst>
              <a:gd name="adj" fmla="val 521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57250" y="2068473"/>
            <a:ext cx="476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Nhất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quán</a:t>
            </a: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môi</a:t>
            </a: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trường</a:t>
            </a:r>
            <a:endParaRPr sz="2000" b="1" dirty="0">
              <a:solidFill>
                <a:srgbClr val="76B9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57250" y="2610540"/>
            <a:ext cx="4762500" cy="73866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Loại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bỏ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hoàn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toàn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xung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đột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phiên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bản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CUDA,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thư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viện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Driver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giữa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môi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trường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Dev, Staging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Production.</a:t>
            </a:r>
            <a:endParaRPr sz="1600" b="0" dirty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572250" y="2101350"/>
            <a:ext cx="476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Khả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năng</a:t>
            </a: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tái</a:t>
            </a: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lập</a:t>
            </a:r>
            <a:endParaRPr sz="2000" b="1" dirty="0">
              <a:solidFill>
                <a:srgbClr val="76B9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572250" y="2658407"/>
            <a:ext cx="4762500" cy="73866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Định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nghĩa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phụ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thuộc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một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lần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duy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nhất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đảm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bảo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chúng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hoạt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động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giống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hệt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nhau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trên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mọi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hạ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tầng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đám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mây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hay on-premise.</a:t>
            </a:r>
            <a:endParaRPr sz="1600" b="0" dirty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09625" y="4441913"/>
            <a:ext cx="476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Tách</a:t>
            </a: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biệt</a:t>
            </a: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tài</a:t>
            </a: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nguyên</a:t>
            </a:r>
            <a:endParaRPr sz="2000" b="1" dirty="0">
              <a:solidFill>
                <a:srgbClr val="76B9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09625" y="5035313"/>
            <a:ext cx="4762500" cy="73866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Quản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lý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tài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nguyên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GPU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bộ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nhớ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VRAM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độc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lập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cho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từng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mô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hình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ngăn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chặn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hiện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tượng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tranh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chấp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tài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nguyên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600" b="0" dirty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6572250" y="4433796"/>
            <a:ext cx="476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Bảo </a:t>
            </a:r>
            <a:r>
              <a:rPr lang="en-US" sz="2000" b="1" dirty="0" err="1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mật</a:t>
            </a:r>
            <a:r>
              <a:rPr lang="en-US" sz="2000" b="1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 Production</a:t>
            </a:r>
            <a:endParaRPr sz="2000" b="1" dirty="0">
              <a:solidFill>
                <a:srgbClr val="76B9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572250" y="5035313"/>
            <a:ext cx="4762500" cy="49244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Đóng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gói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ứng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dụng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vào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sandbox </a:t>
            </a:r>
            <a:r>
              <a:rPr lang="vi-VN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toàn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giảm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thiểu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rủi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từ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lỗ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hổng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hệ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điều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hành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máy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chủ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600" b="0" dirty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1333500"/>
            <a:ext cx="50484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Đây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là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thành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phần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cốt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lõi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cho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phép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môi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trường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Docker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truy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cập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trực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tiếp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vào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phần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cứng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GPU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của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máy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chủ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vật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lý</a:t>
            </a:r>
            <a:r>
              <a:rPr lang="en-US"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600" b="0" dirty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25" name="Google Shape;125;p15"/>
          <p:cNvGrpSpPr/>
          <p:nvPr/>
        </p:nvGrpSpPr>
        <p:grpSpPr>
          <a:xfrm>
            <a:off x="571500" y="2286000"/>
            <a:ext cx="5048400" cy="3810000"/>
            <a:chOff x="571500" y="2286000"/>
            <a:chExt cx="5048400" cy="3810000"/>
          </a:xfrm>
        </p:grpSpPr>
        <p:sp>
          <p:nvSpPr>
            <p:cNvPr id="126" name="Google Shape;126;p15"/>
            <p:cNvSpPr/>
            <p:nvPr/>
          </p:nvSpPr>
          <p:spPr>
            <a:xfrm>
              <a:off x="571500" y="2286000"/>
              <a:ext cx="5048400" cy="1143000"/>
            </a:xfrm>
            <a:prstGeom prst="roundRect">
              <a:avLst>
                <a:gd name="adj" fmla="val 10000"/>
              </a:avLst>
            </a:prstGeom>
            <a:solidFill>
              <a:srgbClr val="1A1A1A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762000" y="2286000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rgbClr val="76B900"/>
                  </a:solidFill>
                  <a:latin typeface="Urbanist"/>
                  <a:ea typeface="Urbanist"/>
                  <a:cs typeface="Urbanist"/>
                  <a:sym typeface="Urbanist"/>
                </a:rPr>
                <a:t>Cơ</a:t>
              </a:r>
              <a:r>
                <a:rPr lang="en-US" sz="1400" b="1" dirty="0">
                  <a:solidFill>
                    <a:srgbClr val="76B900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b="1" dirty="0" err="1">
                  <a:solidFill>
                    <a:srgbClr val="76B900"/>
                  </a:solidFill>
                  <a:latin typeface="Urbanist"/>
                  <a:ea typeface="Urbanist"/>
                  <a:cs typeface="Urbanist"/>
                  <a:sym typeface="Urbanist"/>
                </a:rPr>
                <a:t>chế</a:t>
              </a:r>
              <a:r>
                <a:rPr lang="en-US" sz="1400" b="1" dirty="0">
                  <a:solidFill>
                    <a:srgbClr val="76B900"/>
                  </a:solidFill>
                  <a:latin typeface="Urbanist"/>
                  <a:ea typeface="Urbanist"/>
                  <a:cs typeface="Urbanist"/>
                  <a:sym typeface="Urbanist"/>
                </a:rPr>
                <a:t>:</a:t>
              </a:r>
              <a:endParaRPr sz="14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Ánh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xạ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các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node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thiết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bị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NVIDIA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từ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host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vào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bên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trong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container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một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cách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an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toàn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sz="14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571500" y="3619500"/>
              <a:ext cx="5048400" cy="1143000"/>
            </a:xfrm>
            <a:prstGeom prst="roundRect">
              <a:avLst>
                <a:gd name="adj" fmla="val 10000"/>
              </a:avLst>
            </a:prstGeom>
            <a:solidFill>
              <a:srgbClr val="1A1A1A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762000" y="3619500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rgbClr val="76B900"/>
                  </a:solidFill>
                  <a:latin typeface="Urbanist"/>
                  <a:ea typeface="Urbanist"/>
                  <a:cs typeface="Urbanist"/>
                  <a:sym typeface="Urbanist"/>
                </a:rPr>
                <a:t>Lưu ý Driver:</a:t>
              </a:r>
              <a:endParaRPr sz="14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Phiên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bản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CUDA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bên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trong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image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phải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tương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thích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với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Driver NVIDIA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trên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máy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chủ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(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Ví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dụ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: CUDA 12.1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cần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Driver 525.60+).</a:t>
              </a:r>
              <a:endParaRPr sz="14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571500" y="4953000"/>
              <a:ext cx="5048400" cy="1143000"/>
            </a:xfrm>
            <a:prstGeom prst="roundRect">
              <a:avLst>
                <a:gd name="adj" fmla="val 10000"/>
              </a:avLst>
            </a:prstGeom>
            <a:solidFill>
              <a:srgbClr val="1A1A1A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762000" y="4953000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rgbClr val="76B900"/>
                  </a:solidFill>
                  <a:latin typeface="Urbanist"/>
                  <a:ea typeface="Urbanist"/>
                  <a:cs typeface="Urbanist"/>
                  <a:sym typeface="Urbanist"/>
                </a:rPr>
                <a:t>Lợi </a:t>
              </a:r>
              <a:r>
                <a:rPr lang="en-US" sz="1400" b="1" dirty="0" err="1">
                  <a:solidFill>
                    <a:srgbClr val="76B900"/>
                  </a:solidFill>
                  <a:latin typeface="Urbanist"/>
                  <a:ea typeface="Urbanist"/>
                  <a:cs typeface="Urbanist"/>
                  <a:sym typeface="Urbanist"/>
                </a:rPr>
                <a:t>ích</a:t>
              </a:r>
              <a:r>
                <a:rPr lang="en-US" sz="1400" b="1" dirty="0">
                  <a:solidFill>
                    <a:srgbClr val="76B900"/>
                  </a:solidFill>
                  <a:latin typeface="Urbanist"/>
                  <a:ea typeface="Urbanist"/>
                  <a:cs typeface="Urbanist"/>
                  <a:sym typeface="Urbanist"/>
                </a:rPr>
                <a:t>:</a:t>
              </a:r>
              <a:endParaRPr sz="14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Không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cần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cài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đặt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CUDA Toolkit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khổng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lồ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trên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máy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chủ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,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chỉ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cần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Driver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tối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giản</a:t>
              </a:r>
              <a:r>
                <a:rPr lang="en-US" sz="140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sz="14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132" name="Google Shape;132;p15"/>
          <p:cNvPicPr preferRelativeResize="0"/>
          <p:nvPr/>
        </p:nvPicPr>
        <p:blipFill rotWithShape="1">
          <a:blip r:embed="rId4">
            <a:alphaModFix/>
          </a:blip>
          <a:srcRect t="100" b="110"/>
          <a:stretch/>
        </p:blipFill>
        <p:spPr>
          <a:xfrm>
            <a:off x="6096000" y="1714500"/>
            <a:ext cx="5524500" cy="40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809625" y="571500"/>
            <a:ext cx="975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NVIDIA Container Toolkit - Cầu nối GPU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571500"/>
            <a:ext cx="57300" cy="502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/>
          <p:nvPr/>
        </p:nvSpPr>
        <p:spPr>
          <a:xfrm>
            <a:off x="571500" y="1724025"/>
            <a:ext cx="11049000" cy="3800475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16"/>
          <p:cNvGraphicFramePr/>
          <p:nvPr/>
        </p:nvGraphicFramePr>
        <p:xfrm>
          <a:off x="571500" y="1724025"/>
          <a:ext cx="11049000" cy="3800500"/>
        </p:xfrm>
        <a:graphic>
          <a:graphicData uri="http://schemas.openxmlformats.org/drawingml/2006/table">
            <a:tbl>
              <a:tblPr firstRow="1" bandRow="1">
                <a:noFill/>
                <a:tableStyleId>{4F527D62-33E6-4F9C-A1A0-017AADB9275F}</a:tableStyleId>
              </a:tblPr>
              <a:tblGrid>
                <a:gridCol w="23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50" b="1" i="0" u="none" strike="noStrike" cap="none">
                          <a:solidFill>
                            <a:srgbClr val="76B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Trường hợp sử dụng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50" b="1" i="0" u="none" strike="noStrike" cap="none">
                          <a:solidFill>
                            <a:srgbClr val="76B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Base Image Khuyến nghị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50" b="1" i="0" u="none" strike="noStrike" cap="none">
                          <a:solidFill>
                            <a:srgbClr val="76B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Ưu điểm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Triển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khai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vLLM</a:t>
                      </a:r>
                      <a:endParaRPr sz="1500"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vllm/vllm-openai:v0.6.0</a:t>
                      </a:r>
                      <a:endParaRPr sz="150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Tối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ưu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sẵn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cho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suy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luận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thông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lượng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cao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sz="1500"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Triển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khai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TGI</a:t>
                      </a:r>
                      <a:endParaRPr sz="1500"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ghcr.io/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huggingface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/text-generation-inference:2.3.0</a:t>
                      </a:r>
                      <a:endParaRPr sz="1500"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Hỗ trợ tốt nhất cho các mô hình HuggingFace.</a:t>
                      </a:r>
                      <a:endParaRPr sz="150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Tùy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chỉnh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(Custom)</a:t>
                      </a:r>
                      <a:endParaRPr sz="1500"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nvidia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/cuda:12.1.0-cudnn8-devel-ubuntu22.04</a:t>
                      </a:r>
                      <a:endParaRPr sz="1500"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Đầy đủ công cụ build cho các kernel tùy chỉnh.</a:t>
                      </a:r>
                      <a:endParaRPr sz="150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Inference nhẹ</a:t>
                      </a:r>
                      <a:endParaRPr sz="150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nvidia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/cuda:12.1.0-runtime-ubuntu22.04</a:t>
                      </a:r>
                      <a:endParaRPr sz="1500"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Kích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thước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nhỏ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gọn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tối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ưu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cho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môi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trường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450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chạy</a:t>
                      </a:r>
                      <a:r>
                        <a:rPr lang="en-US" sz="1450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sz="1500"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2" name="Google Shape;142;p16"/>
          <p:cNvSpPr txBox="1"/>
          <p:nvPr/>
        </p:nvSpPr>
        <p:spPr>
          <a:xfrm>
            <a:off x="571500" y="576262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Luôn ghim (pin) tag phiên bản cụ thể thay vì dùng :latest để tránh lỗi phá vỡ hệ thống bất ngờ.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2614612"/>
            <a:ext cx="238898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2960489" y="2614612"/>
            <a:ext cx="47236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684144" y="2614612"/>
            <a:ext cx="39363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81025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571500" y="3233737"/>
            <a:ext cx="238898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2960489" y="3233737"/>
            <a:ext cx="47236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684144" y="3233737"/>
            <a:ext cx="39363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4081462"/>
            <a:ext cx="238898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2960489" y="4081462"/>
            <a:ext cx="47236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684144" y="4081462"/>
            <a:ext cx="39363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71500" y="4700587"/>
            <a:ext cx="238898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960489" y="4700587"/>
            <a:ext cx="47236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684144" y="4700587"/>
            <a:ext cx="39363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71500" y="5510212"/>
            <a:ext cx="238898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960489" y="5510212"/>
            <a:ext cx="47236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7684144" y="5510212"/>
            <a:ext cx="39363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09625" y="571500"/>
            <a:ext cx="97512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Lựa chọn Base Image tối ưu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01442"/>
            <a:ext cx="11049000" cy="160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36377"/>
            <a:ext cx="5238750" cy="2379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736377"/>
            <a:ext cx="5238750" cy="237931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962025" y="5020567"/>
            <a:ext cx="10267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Kết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quả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Giảm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dung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lượng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Image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từ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20GB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xuống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còn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8GB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Tiết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kiệm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&gt;50%)</a:t>
            </a:r>
            <a:endParaRPr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1028700" y="2126902"/>
            <a:ext cx="461057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Giai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đoạn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1: </a:t>
            </a:r>
            <a:r>
              <a:rPr lang="en-US" sz="2100" b="1" i="0" u="none" strike="noStrike" cap="none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Builder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1028700" y="2610742"/>
            <a:ext cx="439102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Sử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dụng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image -devel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nặng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nề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cài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đặt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công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build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gcc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nvcc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biên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dịch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custom CUDA kernels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cài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đặt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viện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Python.</a:t>
            </a:r>
            <a:endParaRPr dirty="0"/>
          </a:p>
        </p:txBody>
      </p:sp>
      <p:sp>
        <p:nvSpPr>
          <p:cNvPr id="172" name="Google Shape;172;p17"/>
          <p:cNvSpPr txBox="1"/>
          <p:nvPr/>
        </p:nvSpPr>
        <p:spPr>
          <a:xfrm>
            <a:off x="6838950" y="2126902"/>
            <a:ext cx="461057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Giai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đoạn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2: </a:t>
            </a:r>
            <a:r>
              <a:rPr lang="en-US" sz="2100" b="1" i="0" u="none" strike="noStrike" cap="none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Runtime</a:t>
            </a:r>
            <a:endParaRPr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6838950" y="2610742"/>
            <a:ext cx="439102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Chỉ sao chép các file thực thi (artifacts) và thư viện đã biên dịch sang một image -runtime siêu nhẹ. Loại bỏ toàn bộ mã nguồn và công cụ build.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09625" y="571500"/>
            <a:ext cx="97512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Tối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ưu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kích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thước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Image 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với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Multi-Stage</a:t>
            </a:r>
            <a:endParaRPr dirty="0"/>
          </a:p>
        </p:txBody>
      </p:sp>
      <p:sp>
        <p:nvSpPr>
          <p:cNvPr id="175" name="Google Shape;175;p17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1045350" y="4878675"/>
            <a:ext cx="101013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 framework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như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vLLM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PyTorch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sử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dụng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bộ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nhớ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chia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sẻ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(Shared Memory)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để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giao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tiếp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giữa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tiến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trình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Tensor Parallel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Thiếu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SHM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sẽ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khiến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hệ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thống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sập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ngay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khi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bắt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đầu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xử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lý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đồng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thời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700"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1157287" y="2713583"/>
            <a:ext cx="37814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64MB</a:t>
            </a:r>
            <a:endParaRPr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1157287" y="3570833"/>
            <a:ext cx="37814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DOCKER DEFAULT (GÂY CRASH)</a:t>
            </a:r>
            <a:endParaRPr dirty="0"/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0287" y="2994570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786687" y="2427833"/>
            <a:ext cx="3471248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32GB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7786687" y="3856583"/>
            <a:ext cx="32480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KHUYẾN NGHỊ CHO LLM</a:t>
            </a:r>
            <a:endParaRPr dirty="0"/>
          </a:p>
        </p:txBody>
      </p:sp>
      <p:sp>
        <p:nvSpPr>
          <p:cNvPr id="187" name="Google Shape;187;p18"/>
          <p:cNvSpPr txBox="1"/>
          <p:nvPr/>
        </p:nvSpPr>
        <p:spPr>
          <a:xfrm>
            <a:off x="809625" y="571500"/>
            <a:ext cx="97512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Cấu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hình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Shared Memory (--</a:t>
            </a: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shm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-size)</a:t>
            </a:r>
            <a:endParaRPr dirty="0"/>
          </a:p>
        </p:txBody>
      </p:sp>
      <p:sp>
        <p:nvSpPr>
          <p:cNvPr id="188" name="Google Shape;188;p18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22415"/>
            <a:ext cx="110490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47825"/>
            <a:ext cx="5238750" cy="2388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647825"/>
            <a:ext cx="5238750" cy="238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962025" y="4903440"/>
            <a:ext cx="10267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Khuyến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nghị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Thiết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lập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ở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mức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0.90 (90%)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10%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còn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lại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đóng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trò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là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vùng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đệm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 (buffer)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overhead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của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CUDA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tránh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lỗi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OOM (Out-of-Memory)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khi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có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lưu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lượng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đột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biến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962025" y="2038350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GPU Passthrough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62025" y="2522190"/>
            <a:ext cx="445770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Sử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dụng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flag --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gpus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hoặc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chỉ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định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(device=0,1)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cấp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quyền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truy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cập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phần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cứng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container.</a:t>
            </a:r>
            <a:endParaRPr dirty="0"/>
          </a:p>
        </p:txBody>
      </p:sp>
      <p:sp>
        <p:nvSpPr>
          <p:cNvPr id="200" name="Google Shape;200;p19"/>
          <p:cNvSpPr txBox="1"/>
          <p:nvPr/>
        </p:nvSpPr>
        <p:spPr>
          <a:xfrm>
            <a:off x="6772275" y="2038350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Memory Utilization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772275" y="2522190"/>
            <a:ext cx="44577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Tham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số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--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gpu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-memory-utilization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kiểm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soát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tỷ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lệ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VRAM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mà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engine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sẽ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chiếm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dụng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ngay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khi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khởi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tạo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809625" y="571500"/>
            <a:ext cx="97512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GPU Passthrough &amp; Memory Utilization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71500" y="571500"/>
            <a:ext cx="5200650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Quản lý bộ nhớ Persistent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571500" y="2118216"/>
            <a:ext cx="49530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</a:rPr>
              <a:t>Quy t</a:t>
            </a:r>
            <a:r>
              <a:rPr lang="en-US" sz="1800" b="1">
                <a:solidFill>
                  <a:srgbClr val="CBD5E1"/>
                </a:solidFill>
              </a:rPr>
              <a:t>ắ</a:t>
            </a:r>
            <a:r>
              <a:rPr lang="en-US" sz="1800" b="1" i="0" u="none" strike="noStrike" cap="none">
                <a:solidFill>
                  <a:srgbClr val="CBD5E1"/>
                </a:solidFill>
              </a:rPr>
              <a:t>c vàng:</a:t>
            </a:r>
            <a:r>
              <a:rPr lang="en-US" sz="1800" i="0" u="none" strike="noStrike" cap="none">
                <a:solidFill>
                  <a:srgbClr val="CBD5E1"/>
                </a:solidFill>
              </a:rPr>
              <a:t> Không bao giờ nén (bake) trọng số mô hình trực tiếp vào Docker image.</a:t>
            </a:r>
            <a:endParaRPr sz="1700"/>
          </a:p>
        </p:txBody>
      </p:sp>
      <p:sp>
        <p:nvSpPr>
          <p:cNvPr id="212" name="Google Shape;212;p20"/>
          <p:cNvSpPr txBox="1"/>
          <p:nvPr/>
        </p:nvSpPr>
        <p:spPr>
          <a:xfrm>
            <a:off x="1000125" y="3379440"/>
            <a:ext cx="4524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CBD5E1"/>
                </a:solidFill>
              </a:rPr>
              <a:t>Gắn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kết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(mount)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thư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mục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cache ~/.cache/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huggingface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dưới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dạng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b="1" i="0" u="none" strike="noStrike" cap="none" dirty="0">
                <a:solidFill>
                  <a:srgbClr val="CBD5E1"/>
                </a:solidFill>
              </a:rPr>
              <a:t>Docker Volume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.</a:t>
            </a:r>
            <a:endParaRPr sz="1500" dirty="0"/>
          </a:p>
        </p:txBody>
      </p:sp>
      <p:sp>
        <p:nvSpPr>
          <p:cNvPr id="213" name="Google Shape;213;p20"/>
          <p:cNvSpPr txBox="1"/>
          <p:nvPr/>
        </p:nvSpPr>
        <p:spPr>
          <a:xfrm>
            <a:off x="1000125" y="4236690"/>
            <a:ext cx="4524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rgbClr val="CBD5E1"/>
                </a:solidFill>
              </a:rPr>
              <a:t>Tránh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tải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lại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hàng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chục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GB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dữ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liệu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mỗi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khi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khởi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động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600" i="0" u="none" strike="noStrike" cap="none" dirty="0" err="1">
                <a:solidFill>
                  <a:srgbClr val="CBD5E1"/>
                </a:solidFill>
              </a:rPr>
              <a:t>lại</a:t>
            </a:r>
            <a:r>
              <a:rPr lang="en-US" sz="1600" i="0" u="none" strike="noStrike" cap="none" dirty="0">
                <a:solidFill>
                  <a:srgbClr val="CBD5E1"/>
                </a:solidFill>
              </a:rPr>
              <a:t> container.</a:t>
            </a:r>
            <a:endParaRPr sz="1500" dirty="0"/>
          </a:p>
        </p:txBody>
      </p:sp>
      <p:sp>
        <p:nvSpPr>
          <p:cNvPr id="214" name="Google Shape;214;p20"/>
          <p:cNvSpPr txBox="1"/>
          <p:nvPr/>
        </p:nvSpPr>
        <p:spPr>
          <a:xfrm>
            <a:off x="1000125" y="5084415"/>
            <a:ext cx="4524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CBD5E1"/>
                </a:solidFill>
              </a:rPr>
              <a:t>Dễ dàng cập nhật phiên bản mô hình mà không cần xây dựng lại (build) image.</a:t>
            </a:r>
            <a:endParaRPr sz="150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794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3669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8441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5390"/>
            <a:ext cx="11049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809625" y="571500"/>
            <a:ext cx="97512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Orchestration: Tensor Parallelism (TP)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682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5634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1000125" y="2099220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--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ipc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=host: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Yêu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cầu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bắt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buộc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kích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hoạt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giao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tiếp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NCCL (NVIDIA Collective Communications Library)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giữa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GPU.</a:t>
            </a:r>
            <a:endParaRPr dirty="0"/>
          </a:p>
        </p:txBody>
      </p:sp>
      <p:sp>
        <p:nvSpPr>
          <p:cNvPr id="234" name="Google Shape;234;p22"/>
          <p:cNvSpPr txBox="1"/>
          <p:nvPr/>
        </p:nvSpPr>
        <p:spPr>
          <a:xfrm>
            <a:off x="1000125" y="325174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Băng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thông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NVLink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Hiệu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năng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TP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thuộc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lớn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vào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tốc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độ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kết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nối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nội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bộ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giữa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card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đồ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họa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35" name="Google Shape;235;p22"/>
          <p:cNvSpPr txBox="1"/>
          <p:nvPr/>
        </p:nvSpPr>
        <p:spPr>
          <a:xfrm>
            <a:off x="1000125" y="409947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Tính đồng nhất: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Các GPU trong một cụm nên có cùng kiến trúc và dung lượng VRAM để tránh nghẽn cổ chai.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000125" y="494719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Dòng điện (Power):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Đảm bảo nguồn điện ổn định cho toàn bộ cụm khi chạy full tải 300W-500W mỗi card.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09625" y="571500"/>
            <a:ext cx="97512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Yêu cầu kỹ thuật cho Đa GPU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992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517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9947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4719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00165"/>
            <a:ext cx="110490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052850"/>
            <a:ext cx="10648951" cy="538873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571500" y="1455390"/>
            <a:ext cx="110490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CBD5E1"/>
                </a:solidFill>
              </a:rPr>
              <a:t>LLM mất trung bình </a:t>
            </a:r>
            <a:r>
              <a:rPr lang="en-US" sz="1800" b="1" i="0" u="none" strike="noStrike" cap="none">
                <a:solidFill>
                  <a:srgbClr val="CBD5E1"/>
                </a:solidFill>
              </a:rPr>
              <a:t>60-180 giây</a:t>
            </a:r>
            <a:r>
              <a:rPr lang="en-US" sz="1800" i="0" u="none" strike="noStrike" cap="none">
                <a:solidFill>
                  <a:srgbClr val="CBD5E1"/>
                </a:solidFill>
              </a:rPr>
              <a:t> để nạp trọng số từ đĩa vào VRAM. Health check phải mô phỏng được quá trình "khởi động" này.</a:t>
            </a:r>
            <a:endParaRPr sz="1700"/>
          </a:p>
        </p:txBody>
      </p:sp>
      <p:sp>
        <p:nvSpPr>
          <p:cNvPr id="251" name="Google Shape;251;p23"/>
          <p:cNvSpPr txBox="1"/>
          <p:nvPr/>
        </p:nvSpPr>
        <p:spPr>
          <a:xfrm>
            <a:off x="771450" y="5909267"/>
            <a:ext cx="1064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CBD5E1"/>
                </a:solidFill>
              </a:rPr>
              <a:t>Cấu</a:t>
            </a:r>
            <a:r>
              <a:rPr lang="en-US" sz="1800" b="1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800" b="1" i="0" u="none" strike="noStrike" cap="none" dirty="0" err="1">
                <a:solidFill>
                  <a:srgbClr val="CBD5E1"/>
                </a:solidFill>
              </a:rPr>
              <a:t>hình</a:t>
            </a:r>
            <a:r>
              <a:rPr lang="en-US" sz="1800" b="1" i="0" u="none" strike="noStrike" cap="none" dirty="0">
                <a:solidFill>
                  <a:srgbClr val="CBD5E1"/>
                </a:solidFill>
              </a:rPr>
              <a:t> Compose: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start_period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: 120s 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để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 Docker 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không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 "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giết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" container 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khi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nó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đang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nạp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mô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 </a:t>
            </a:r>
            <a:r>
              <a:rPr lang="en-US" sz="1800" i="0" u="none" strike="noStrike" cap="none" dirty="0" err="1">
                <a:solidFill>
                  <a:srgbClr val="CBD5E1"/>
                </a:solidFill>
              </a:rPr>
              <a:t>hình</a:t>
            </a:r>
            <a:r>
              <a:rPr lang="en-US" sz="1800" i="0" u="none" strike="noStrike" cap="none" dirty="0">
                <a:solidFill>
                  <a:srgbClr val="CBD5E1"/>
                </a:solidFill>
              </a:rPr>
              <a:t>.</a:t>
            </a:r>
            <a:endParaRPr sz="1700" dirty="0"/>
          </a:p>
        </p:txBody>
      </p:sp>
      <p:sp>
        <p:nvSpPr>
          <p:cNvPr id="252" name="Google Shape;252;p23"/>
          <p:cNvSpPr txBox="1"/>
          <p:nvPr/>
        </p:nvSpPr>
        <p:spPr>
          <a:xfrm>
            <a:off x="771525" y="498750"/>
            <a:ext cx="975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Thiết lập Health Checks cho LLM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06006"/>
            <a:ext cx="1104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55390"/>
            <a:ext cx="2547937" cy="226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05187" y="1455390"/>
            <a:ext cx="2547937" cy="226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1455390"/>
            <a:ext cx="2547937" cy="226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72562" y="1455390"/>
            <a:ext cx="2547937" cy="226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015531"/>
            <a:ext cx="1102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54968" y="18459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917852" y="2417415"/>
            <a:ext cx="185523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Engine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809625" y="2827050"/>
            <a:ext cx="21465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vLLM/TGI xử lý suy luận GPU</a:t>
            </a:r>
            <a:endParaRPr/>
          </a:p>
        </p:txBody>
      </p:sp>
      <p:pic>
        <p:nvPicPr>
          <p:cNvPr id="268" name="Google Shape;268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64843" y="184591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3751540" y="2417415"/>
            <a:ext cx="185523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Gateway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3795712" y="2769840"/>
            <a:ext cx="17670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Nginx/FastAPI quản lý hàng đợi</a:t>
            </a:r>
            <a:endParaRPr/>
          </a:p>
        </p:txBody>
      </p:sp>
      <p:pic>
        <p:nvPicPr>
          <p:cNvPr id="271" name="Google Shape;271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46156" y="184591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6585227" y="2417415"/>
            <a:ext cx="185523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Redis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629400" y="2769840"/>
            <a:ext cx="17670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Lưu trữ trạng thái task/queue</a:t>
            </a:r>
            <a:endParaRPr/>
          </a:p>
        </p:txBody>
      </p:sp>
      <p:pic>
        <p:nvPicPr>
          <p:cNvPr id="274" name="Google Shape;274;p2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56031" y="18459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9418915" y="2417415"/>
            <a:ext cx="185523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Observability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9463087" y="2769840"/>
            <a:ext cx="17670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Prometheus thu thập VRAM metrics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809625" y="571500"/>
            <a:ext cx="97512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Kiến trúc Production Docker Compose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809625" y="571500"/>
            <a:ext cx="9751200" cy="47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Bảo mật Container trong Production</a:t>
            </a:r>
            <a:endParaRPr sz="3060" b="1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71500" y="571500"/>
            <a:ext cx="57300" cy="502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" name="Google Shape;286;p25"/>
          <p:cNvGrpSpPr/>
          <p:nvPr/>
        </p:nvGrpSpPr>
        <p:grpSpPr>
          <a:xfrm>
            <a:off x="571500" y="1524000"/>
            <a:ext cx="5381700" cy="1905000"/>
            <a:chOff x="571500" y="1524000"/>
            <a:chExt cx="5381700" cy="1905000"/>
          </a:xfrm>
        </p:grpSpPr>
        <p:sp>
          <p:nvSpPr>
            <p:cNvPr id="287" name="Google Shape;287;p25"/>
            <p:cNvSpPr/>
            <p:nvPr/>
          </p:nvSpPr>
          <p:spPr>
            <a:xfrm>
              <a:off x="571500" y="1524000"/>
              <a:ext cx="5381700" cy="1905000"/>
            </a:xfrm>
            <a:prstGeom prst="roundRect">
              <a:avLst>
                <a:gd name="adj" fmla="val 7500"/>
              </a:avLst>
            </a:prstGeom>
            <a:solidFill>
              <a:srgbClr val="111111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5"/>
            <p:cNvSpPr txBox="1"/>
            <p:nvPr/>
          </p:nvSpPr>
          <p:spPr>
            <a:xfrm>
              <a:off x="986298" y="1799219"/>
              <a:ext cx="4286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92D050"/>
                  </a:solidFill>
                  <a:latin typeface="Urbanist"/>
                  <a:ea typeface="Urbanist"/>
                  <a:cs typeface="Urbanist"/>
                  <a:sym typeface="Urbanist"/>
                </a:rPr>
                <a:t>Non-root User</a:t>
              </a:r>
              <a:endParaRPr sz="1800" b="1" dirty="0">
                <a:solidFill>
                  <a:srgbClr val="92D05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Tránh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chạy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container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bằng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quyền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root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để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hạn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chế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rủi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ro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leo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thang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đặc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quyền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90" name="Google Shape;290;p25"/>
          <p:cNvGrpSpPr/>
          <p:nvPr/>
        </p:nvGrpSpPr>
        <p:grpSpPr>
          <a:xfrm>
            <a:off x="6238875" y="1524000"/>
            <a:ext cx="5381700" cy="1905000"/>
            <a:chOff x="6238875" y="1524000"/>
            <a:chExt cx="5381700" cy="1905000"/>
          </a:xfrm>
        </p:grpSpPr>
        <p:sp>
          <p:nvSpPr>
            <p:cNvPr id="291" name="Google Shape;291;p25"/>
            <p:cNvSpPr/>
            <p:nvPr/>
          </p:nvSpPr>
          <p:spPr>
            <a:xfrm>
              <a:off x="6238875" y="1524000"/>
              <a:ext cx="5381700" cy="1905000"/>
            </a:xfrm>
            <a:prstGeom prst="roundRect">
              <a:avLst>
                <a:gd name="adj" fmla="val 7500"/>
              </a:avLst>
            </a:prstGeom>
            <a:solidFill>
              <a:srgbClr val="111111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5"/>
            <p:cNvSpPr txBox="1"/>
            <p:nvPr/>
          </p:nvSpPr>
          <p:spPr>
            <a:xfrm>
              <a:off x="6786525" y="1762050"/>
              <a:ext cx="4286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92D050"/>
                  </a:solidFill>
                  <a:latin typeface="Urbanist"/>
                  <a:ea typeface="Urbanist"/>
                  <a:cs typeface="Urbanist"/>
                  <a:sym typeface="Urbanist"/>
                </a:rPr>
                <a:t>Secrets Management</a:t>
              </a:r>
              <a:endParaRPr sz="1800" b="1" dirty="0">
                <a:solidFill>
                  <a:srgbClr val="92D05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Tuyệt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đối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không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để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API Token (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HuggingFace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)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trong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biến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môi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trường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file compose.</a:t>
              </a:r>
              <a:endParaRPr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94" name="Google Shape;294;p25"/>
          <p:cNvGrpSpPr/>
          <p:nvPr/>
        </p:nvGrpSpPr>
        <p:grpSpPr>
          <a:xfrm>
            <a:off x="600150" y="3714750"/>
            <a:ext cx="5381700" cy="1905000"/>
            <a:chOff x="600150" y="3714750"/>
            <a:chExt cx="5381700" cy="1905000"/>
          </a:xfrm>
        </p:grpSpPr>
        <p:sp>
          <p:nvSpPr>
            <p:cNvPr id="295" name="Google Shape;295;p25"/>
            <p:cNvSpPr/>
            <p:nvPr/>
          </p:nvSpPr>
          <p:spPr>
            <a:xfrm>
              <a:off x="600150" y="3714750"/>
              <a:ext cx="5381700" cy="1905000"/>
            </a:xfrm>
            <a:prstGeom prst="roundRect">
              <a:avLst>
                <a:gd name="adj" fmla="val 7500"/>
              </a:avLst>
            </a:prstGeom>
            <a:solidFill>
              <a:srgbClr val="111111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5"/>
            <p:cNvSpPr txBox="1"/>
            <p:nvPr/>
          </p:nvSpPr>
          <p:spPr>
            <a:xfrm>
              <a:off x="1119150" y="3952875"/>
              <a:ext cx="4286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92D050"/>
                  </a:solidFill>
                  <a:latin typeface="Urbanist"/>
                  <a:ea typeface="Urbanist"/>
                  <a:cs typeface="Urbanist"/>
                  <a:sym typeface="Urbanist"/>
                </a:rPr>
                <a:t>Network Isolation</a:t>
              </a:r>
              <a:endParaRPr sz="1800" b="1" dirty="0">
                <a:solidFill>
                  <a:srgbClr val="92D05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Chỉ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công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khai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cổng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của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API Gateway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ra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internet. Engine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suy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luận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nằm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trong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mạng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nội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bộ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Docker.</a:t>
              </a:r>
              <a:endParaRPr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98" name="Google Shape;298;p25"/>
          <p:cNvGrpSpPr/>
          <p:nvPr/>
        </p:nvGrpSpPr>
        <p:grpSpPr>
          <a:xfrm>
            <a:off x="6238875" y="3714750"/>
            <a:ext cx="5381700" cy="1905000"/>
            <a:chOff x="6238875" y="3714750"/>
            <a:chExt cx="5381700" cy="1905000"/>
          </a:xfrm>
        </p:grpSpPr>
        <p:sp>
          <p:nvSpPr>
            <p:cNvPr id="299" name="Google Shape;299;p25"/>
            <p:cNvSpPr/>
            <p:nvPr/>
          </p:nvSpPr>
          <p:spPr>
            <a:xfrm>
              <a:off x="6238875" y="3714750"/>
              <a:ext cx="5381700" cy="1905000"/>
            </a:xfrm>
            <a:prstGeom prst="roundRect">
              <a:avLst>
                <a:gd name="adj" fmla="val 7500"/>
              </a:avLst>
            </a:prstGeom>
            <a:solidFill>
              <a:srgbClr val="111111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5"/>
            <p:cNvSpPr txBox="1"/>
            <p:nvPr/>
          </p:nvSpPr>
          <p:spPr>
            <a:xfrm>
              <a:off x="6786525" y="3952875"/>
              <a:ext cx="4286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92D050"/>
                  </a:solidFill>
                  <a:latin typeface="Urbanist"/>
                  <a:ea typeface="Urbanist"/>
                  <a:cs typeface="Urbanist"/>
                  <a:sym typeface="Urbanist"/>
                </a:rPr>
                <a:t>Image Scanning</a:t>
              </a:r>
              <a:endParaRPr sz="1800" b="1" dirty="0">
                <a:solidFill>
                  <a:srgbClr val="92D05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Quét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các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lỗ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hổng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thư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viện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Python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bằng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các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công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cụ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như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Trivy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trước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600" b="0" dirty="0" err="1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khi</a:t>
              </a:r>
              <a:r>
                <a:rPr lang="en-US" sz="16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deploy.</a:t>
              </a:r>
              <a:endParaRPr sz="16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/>
          <p:nvPr/>
        </p:nvSpPr>
        <p:spPr>
          <a:xfrm>
            <a:off x="571500" y="2423070"/>
            <a:ext cx="11049000" cy="30861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26"/>
          <p:cNvGraphicFramePr/>
          <p:nvPr/>
        </p:nvGraphicFramePr>
        <p:xfrm>
          <a:off x="571500" y="2423070"/>
          <a:ext cx="11049025" cy="3086125"/>
        </p:xfrm>
        <a:graphic>
          <a:graphicData uri="http://schemas.openxmlformats.org/drawingml/2006/table">
            <a:tbl>
              <a:tblPr firstRow="1" bandRow="1">
                <a:noFill/>
                <a:tableStyleId>{4F527D62-33E6-4F9C-A1A0-017AADB9275F}</a:tableStyleId>
              </a:tblPr>
              <a:tblGrid>
                <a:gridCol w="29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76B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Triệu chứng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76B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Nguyên nhân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76B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Giải pháp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Container OOM ngay lập tức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VRAM không đủ cho model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Giảm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memory-utilization </a:t>
                      </a: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hoặc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bật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Quantization (AWQ).</a:t>
                      </a:r>
                      <a:endParaRPr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Mô hình không nạp được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Sai Token/Mount path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Kiểm tra HF_TOKEN và đường dẫn Volume Mounting.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Lỗi NCCL đa GPU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Thiếu cấu hình IPC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Kiểm tra flag --ipc=host và tính đồng nhất driver.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Inference chậm bất thường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Chạy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trên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CPU</a:t>
                      </a:r>
                      <a:endParaRPr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Kiểm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CUDA_VISIBLE_DEVICES </a:t>
                      </a: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xem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có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bị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trống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b="0" i="0" u="none" strike="noStrike" cap="none" dirty="0" err="1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không</a:t>
                      </a:r>
                      <a:r>
                        <a:rPr lang="en-US" b="0" i="0" u="none" strike="noStrike" cap="none" dirty="0">
                          <a:solidFill>
                            <a:srgbClr val="CC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dirty="0"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9" name="Google Shape;309;p26"/>
          <p:cNvSpPr/>
          <p:nvPr/>
        </p:nvSpPr>
        <p:spPr>
          <a:xfrm>
            <a:off x="571500" y="3056483"/>
            <a:ext cx="29762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3547764" y="3056483"/>
            <a:ext cx="28204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6368206" y="3056483"/>
            <a:ext cx="52522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571500" y="3656558"/>
            <a:ext cx="29762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3547764" y="3656558"/>
            <a:ext cx="28204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6368206" y="3656558"/>
            <a:ext cx="52522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571500" y="4256633"/>
            <a:ext cx="29762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3547764" y="4256633"/>
            <a:ext cx="28204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6368206" y="4256633"/>
            <a:ext cx="52522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571500" y="4875758"/>
            <a:ext cx="29762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3547764" y="4875758"/>
            <a:ext cx="28204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6368206" y="4875758"/>
            <a:ext cx="52522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571500" y="5494883"/>
            <a:ext cx="29762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3547764" y="5494883"/>
            <a:ext cx="28204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6368206" y="5494883"/>
            <a:ext cx="52522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 txBox="1"/>
          <p:nvPr/>
        </p:nvSpPr>
        <p:spPr>
          <a:xfrm>
            <a:off x="809625" y="571500"/>
            <a:ext cx="97512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Xử lý các lỗi triển khai phổ biến</a:t>
            </a: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3003" y="2906910"/>
            <a:ext cx="6985992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3422153" y="3297435"/>
            <a:ext cx="57763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Ưu tiên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Multi-stage builds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để tăng tốc độ triển khai.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3422153" y="3840360"/>
            <a:ext cx="57763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Luôn cấu hình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Shared Memory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và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Health Checks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phù hợp.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3422153" y="4383285"/>
            <a:ext cx="57763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Sử dụng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Persistent Volumes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để quản lý trọng số linh hoạt.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3422153" y="4926210"/>
            <a:ext cx="57763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Giám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sát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chỉ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số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VRAM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liên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tục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điều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chỉnh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quy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hạ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tầng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kịp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thời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336" name="Google Shape;33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99819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7"/>
          <p:cNvSpPr txBox="1"/>
          <p:nvPr/>
        </p:nvSpPr>
        <p:spPr>
          <a:xfrm>
            <a:off x="295275" y="204594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76B900"/>
                </a:solidFill>
                <a:latin typeface="Urbanist"/>
                <a:ea typeface="Urbanist"/>
                <a:cs typeface="Urbanist"/>
                <a:sym typeface="Urbanist"/>
              </a:rPr>
              <a:t>Best Practices Mastery</a:t>
            </a:r>
            <a:endParaRPr/>
          </a:p>
        </p:txBody>
      </p:sp>
      <p:pic>
        <p:nvPicPr>
          <p:cNvPr id="338" name="Google Shape;33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93528" y="329743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93528" y="384036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93528" y="438328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93528" y="492621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1157</Words>
  <Application>Microsoft Office PowerPoint</Application>
  <PresentationFormat>Widescreen</PresentationFormat>
  <Paragraphs>108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Urbanist</vt:lpstr>
      <vt:lpstr>Urbanist ExtraBold</vt:lpstr>
      <vt:lpstr>Calibri</vt:lpstr>
      <vt:lpstr>Urbanist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Minh Đức</cp:lastModifiedBy>
  <cp:revision>1</cp:revision>
  <dcterms:modified xsi:type="dcterms:W3CDTF">2026-05-24T08:35:27Z</dcterms:modified>
</cp:coreProperties>
</file>