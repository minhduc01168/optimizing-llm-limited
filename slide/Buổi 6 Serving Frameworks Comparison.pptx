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JetBrains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731D50-50D8-4998-AAC8-C9E808932C61}">
  <a:tblStyle styleId="{B4731D50-50D8-4998-AAC8-C9E808932C6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regular.fntdata"/><Relationship Id="rId21" Type="http://schemas.openxmlformats.org/officeDocument/2006/relationships/slide" Target="slides/slide15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JetBrainsMono-bold.fntdata"/><Relationship Id="rId30" Type="http://schemas.openxmlformats.org/officeDocument/2006/relationships/font" Target="fonts/JetBrainsMono-regular.fntdata"/><Relationship Id="rId11" Type="http://schemas.openxmlformats.org/officeDocument/2006/relationships/slide" Target="slides/slide5.xml"/><Relationship Id="rId33" Type="http://schemas.openxmlformats.org/officeDocument/2006/relationships/font" Target="fonts/JetBrainsMono-boldItalic.fntdata"/><Relationship Id="rId10" Type="http://schemas.openxmlformats.org/officeDocument/2006/relationships/slide" Target="slides/slide4.xml"/><Relationship Id="rId32" Type="http://schemas.openxmlformats.org/officeDocument/2006/relationships/font" Target="fonts/JetBrainsMon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7.jpg"/><Relationship Id="rId5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9" Type="http://schemas.openxmlformats.org/officeDocument/2006/relationships/image" Target="../media/image29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Relationship Id="rId7" Type="http://schemas.openxmlformats.org/officeDocument/2006/relationships/image" Target="../media/image9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7.png"/><Relationship Id="rId8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9.png"/><Relationship Id="rId6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Relationship Id="rId6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8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32.png"/><Relationship Id="rId9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16.png"/><Relationship Id="rId7" Type="http://schemas.openxmlformats.org/officeDocument/2006/relationships/image" Target="../media/image27.png"/><Relationship Id="rId8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Relationship Id="rId7" Type="http://schemas.openxmlformats.org/officeDocument/2006/relationships/image" Target="../media/image25.png"/><Relationship Id="rId8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320653" y="2130772"/>
            <a:ext cx="5550693" cy="712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vLLM vs. Ollama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224212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Đối đầu giữa Hiệu suất Sản xuất (Production) và Trải nghiệm Phát triển (Local Development) trong kỷ nguyên LLM.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429125" y="4527053"/>
            <a:ext cx="3333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BUỔI 6: SERVING FRAMEWORKS SHOWDOWN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95525"/>
            <a:ext cx="5286375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95525"/>
            <a:ext cx="5286375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51149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Hai đại diện tiêu biểu: </a:t>
            </a:r>
            <a:r>
              <a:rPr b="1" i="1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vLLM</a:t>
            </a:r>
            <a:r>
              <a:rPr b="0" i="1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(Hiệu suất cao) và </a:t>
            </a:r>
            <a:r>
              <a:rPr b="1" i="1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Ollama</a:t>
            </a:r>
            <a:r>
              <a:rPr b="0" i="1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(Trải nghiệm người dùng).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268605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Cầu nối API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286125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Chuyển đổi các mô hình thô (raw weights) thành các điểm cuối API chuẩn (như OpenAI) để ứng dụng có thể tiêu thụ dữ liệu một cách dễ dàng.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24650" y="268605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Tối ưu hóa tài nguyên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24650" y="3286125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Quản lý GPU/CPU, lập lịch hàng đợi, nén dữ liệu (quantization) và tối ưu hóa tốc độ sinh token để đạt được hiệu năng cao nhất.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Vai trò của Serving Framework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809625" y="571500"/>
            <a:ext cx="11049000" cy="5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vLLM: Cỗ máy cho Sản xuất</a:t>
            </a:r>
            <a:endParaRPr b="1" sz="3300">
              <a:solidFill>
                <a:srgbClr val="F1F5F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571500" y="571500"/>
            <a:ext cx="76200" cy="619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1714500"/>
            <a:ext cx="49530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500"/>
              </a:spcAft>
              <a:buNone/>
            </a:pPr>
            <a:r>
              <a:rPr b="1" lang="en-US" sz="160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vLLM (Virtual Large Language Model) </a:t>
            </a:r>
            <a:r>
              <a:rPr b="0" lang="en-US" sz="16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là một thư viện mã nguồn mở tốc độ cao tập trung tối đa vào lưu lượng xử lý (Throughput).</a:t>
            </a:r>
            <a:endParaRPr b="1" sz="1600">
              <a:solidFill>
                <a:srgbClr val="F1F5F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3048000"/>
            <a:ext cx="49530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Được thiết kế để phục vụ hàng trăm người dùng đồng thời trên cùng một tài nguyên GPU mà vẫn duy trì độ trễ cực thấp.</a:t>
            </a:r>
            <a:endParaRPr b="0" sz="16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1" name="Google Shape;111;p15"/>
          <p:cNvGrpSpPr/>
          <p:nvPr/>
        </p:nvGrpSpPr>
        <p:grpSpPr>
          <a:xfrm>
            <a:off x="571500" y="4572000"/>
            <a:ext cx="5286300" cy="1714500"/>
            <a:chOff x="571500" y="4572000"/>
            <a:chExt cx="5286300" cy="1714500"/>
          </a:xfrm>
        </p:grpSpPr>
        <p:sp>
          <p:nvSpPr>
            <p:cNvPr id="112" name="Google Shape;112;p15"/>
            <p:cNvSpPr/>
            <p:nvPr/>
          </p:nvSpPr>
          <p:spPr>
            <a:xfrm>
              <a:off x="571500" y="4572000"/>
              <a:ext cx="5286300" cy="1714500"/>
            </a:xfrm>
            <a:prstGeom prst="roundRect">
              <a:avLst>
                <a:gd fmla="val 6666" name="adj"/>
              </a:avLst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857250" y="480631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25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business</a:t>
              </a:r>
              <a:endParaRPr sz="2325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4" name="Google Shape;114;p15"/>
            <p:cNvSpPr txBox="1"/>
            <p:nvPr/>
          </p:nvSpPr>
          <p:spPr>
            <a:xfrm>
              <a:off x="1381125" y="4714875"/>
              <a:ext cx="419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Môi trường lý tưởng</a:t>
              </a:r>
              <a:endParaRPr b="1" sz="18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857250" y="5238750"/>
              <a:ext cx="47148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Chatbot doanh nghiệp, SaaS AI, API quy mô lớn.</a:t>
              </a:r>
              <a:endParaRPr b="0" sz="14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16" name="Google Shape;116;p15"/>
          <p:cNvGrpSpPr/>
          <p:nvPr/>
        </p:nvGrpSpPr>
        <p:grpSpPr>
          <a:xfrm>
            <a:off x="6276975" y="1704975"/>
            <a:ext cx="5343525" cy="4581525"/>
            <a:chOff x="6276975" y="1704975"/>
            <a:chExt cx="5343525" cy="4581525"/>
          </a:xfrm>
        </p:grpSpPr>
        <p:pic>
          <p:nvPicPr>
            <p:cNvPr descr="High performance GPU datacenter visualization, cinematic lighting, server racks with blue and teal neon accents, representing computational power and high throughput, sleek and modern tech aesthetic." id="117" name="Google Shape;117;p15"/>
            <p:cNvPicPr preferRelativeResize="0"/>
            <p:nvPr/>
          </p:nvPicPr>
          <p:blipFill rotWithShape="1">
            <a:blip r:embed="rId4">
              <a:alphaModFix/>
            </a:blip>
            <a:srcRect b="0" l="6247" r="6256" t="0"/>
            <a:stretch/>
          </p:blipFill>
          <p:spPr>
            <a:xfrm>
              <a:off x="6286500" y="1714500"/>
              <a:ext cx="5334000" cy="4572000"/>
            </a:xfrm>
            <a:prstGeom prst="roundRect">
              <a:avLst>
                <a:gd fmla="val 4166" name="adj"/>
              </a:avLst>
            </a:prstGeom>
            <a:noFill/>
            <a:ln>
              <a:noFill/>
            </a:ln>
          </p:spPr>
        </p:pic>
        <p:pic>
          <p:nvPicPr>
            <p:cNvPr id="118" name="Google Shape;118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76975" y="1704975"/>
              <a:ext cx="2867100" cy="3438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38362"/>
            <a:ext cx="3492549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38362"/>
            <a:ext cx="3492549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38362"/>
            <a:ext cx="3492549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914400" y="3262312"/>
            <a:ext cx="2947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PagedAttention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14400" y="3862387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Quản lý bộ nhớ ảo cho KV Cache tương tự OS, giảm lãng phí VRAM xuống dưới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4%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4692699" y="3262312"/>
            <a:ext cx="29470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Continuous Batching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4692699" y="4319587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Lập lịch mức độ lặp giúp tăng Throughput lên tới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23 lần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so với batching tĩnh truyền thống.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470999" y="3262312"/>
            <a:ext cx="29470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Tensor Parallelism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470999" y="4319587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Cho phép chia mô hình lớn (như Llama-70B) chạy song song trên nhiều GPU một cách hiệu quả.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5288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25288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0999" y="25288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Công nghệ lõi của vLLM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" name="Google Shape;143;p17"/>
          <p:cNvGrpSpPr/>
          <p:nvPr/>
        </p:nvGrpSpPr>
        <p:grpSpPr>
          <a:xfrm>
            <a:off x="571500" y="1524000"/>
            <a:ext cx="11049000" cy="1905000"/>
            <a:chOff x="571500" y="1524000"/>
            <a:chExt cx="11049000" cy="1905000"/>
          </a:xfrm>
        </p:grpSpPr>
        <p:sp>
          <p:nvSpPr>
            <p:cNvPr id="144" name="Google Shape;144;p17"/>
            <p:cNvSpPr/>
            <p:nvPr/>
          </p:nvSpPr>
          <p:spPr>
            <a:xfrm>
              <a:off x="571500" y="1524000"/>
              <a:ext cx="11049000" cy="1905000"/>
            </a:xfrm>
            <a:prstGeom prst="roundRect">
              <a:avLst>
                <a:gd fmla="val 7500" name="adj"/>
              </a:avLst>
            </a:prstGeom>
            <a:solidFill>
              <a:srgbClr val="1E293B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5" name="Google Shape;145;p17"/>
            <p:cNvGrpSpPr/>
            <p:nvPr/>
          </p:nvGrpSpPr>
          <p:grpSpPr>
            <a:xfrm>
              <a:off x="952500" y="1762125"/>
              <a:ext cx="9620250" cy="619125"/>
              <a:chOff x="952500" y="1762125"/>
              <a:chExt cx="9620250" cy="619125"/>
            </a:xfrm>
          </p:grpSpPr>
          <p:sp>
            <p:nvSpPr>
              <p:cNvPr id="146" name="Google Shape;146;p17"/>
              <p:cNvSpPr/>
              <p:nvPr/>
            </p:nvSpPr>
            <p:spPr>
              <a:xfrm>
                <a:off x="952500" y="2000250"/>
                <a:ext cx="76200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7"/>
              <p:cNvSpPr txBox="1"/>
              <p:nvPr/>
            </p:nvSpPr>
            <p:spPr>
              <a:xfrm>
                <a:off x="8667750" y="200025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0B98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793 Tokens/s</a:t>
                </a:r>
                <a:endParaRPr b="1" sz="160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48" name="Google Shape;148;p17"/>
              <p:cNvSpPr txBox="1"/>
              <p:nvPr/>
            </p:nvSpPr>
            <p:spPr>
              <a:xfrm>
                <a:off x="952500" y="1762125"/>
                <a:ext cx="1905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1F5F9"/>
                    </a:solidFill>
                    <a:latin typeface="Lato"/>
                    <a:ea typeface="Lato"/>
                    <a:cs typeface="Lato"/>
                    <a:sym typeface="Lato"/>
                  </a:rPr>
                  <a:t>vLLM Peak TPS</a:t>
                </a:r>
                <a:endParaRPr b="1" sz="1200">
                  <a:solidFill>
                    <a:srgbClr val="F1F5F9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49" name="Google Shape;149;p17"/>
            <p:cNvGrpSpPr/>
            <p:nvPr/>
          </p:nvGrpSpPr>
          <p:grpSpPr>
            <a:xfrm>
              <a:off x="952500" y="2524125"/>
              <a:ext cx="2390775" cy="619125"/>
              <a:chOff x="952500" y="2524125"/>
              <a:chExt cx="2390775" cy="619125"/>
            </a:xfrm>
          </p:grpSpPr>
          <p:sp>
            <p:nvSpPr>
              <p:cNvPr id="150" name="Google Shape;150;p17"/>
              <p:cNvSpPr/>
              <p:nvPr/>
            </p:nvSpPr>
            <p:spPr>
              <a:xfrm>
                <a:off x="952500" y="2762250"/>
                <a:ext cx="3906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7"/>
              <p:cNvSpPr txBox="1"/>
              <p:nvPr/>
            </p:nvSpPr>
            <p:spPr>
              <a:xfrm>
                <a:off x="1438275" y="276225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EF4444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41 Tokens/s</a:t>
                </a:r>
                <a:endParaRPr b="1" sz="1600">
                  <a:solidFill>
                    <a:srgbClr val="EF4444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2" name="Google Shape;152;p17"/>
              <p:cNvSpPr txBox="1"/>
              <p:nvPr/>
            </p:nvSpPr>
            <p:spPr>
              <a:xfrm>
                <a:off x="952500" y="2524125"/>
                <a:ext cx="1905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1F5F9"/>
                    </a:solidFill>
                    <a:latin typeface="Lato"/>
                    <a:ea typeface="Lato"/>
                    <a:cs typeface="Lato"/>
                    <a:sym typeface="Lato"/>
                  </a:rPr>
                  <a:t>Ollama Peak TPS</a:t>
                </a:r>
                <a:endParaRPr b="1" sz="1200">
                  <a:solidFill>
                    <a:srgbClr val="F1F5F9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53" name="Google Shape;153;p17"/>
          <p:cNvSpPr txBox="1"/>
          <p:nvPr/>
        </p:nvSpPr>
        <p:spPr>
          <a:xfrm>
            <a:off x="1143000" y="3810000"/>
            <a:ext cx="10001400" cy="66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speed</a:t>
            </a:r>
            <a:r>
              <a:rPr b="1" lang="en-US" sz="180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Lưu lượng cực cao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Xử lý đồng thời hàng trăm yêu cầu mà không bị nghẽn.</a:t>
            </a:r>
            <a:endParaRPr b="0" sz="14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1143000" y="4762500"/>
            <a:ext cx="10001400" cy="66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timer</a:t>
            </a:r>
            <a:r>
              <a:rPr b="1" lang="en-US" sz="180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TTFT thấp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Thời gian phản hồi token đầu tiên ổn định ngay cả khi tải nặng.</a:t>
            </a:r>
            <a:endParaRPr b="0" sz="14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1143000" y="5715000"/>
            <a:ext cx="10001400" cy="66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verified</a:t>
            </a:r>
            <a:r>
              <a:rPr b="1" lang="en-US" sz="180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Độ ổn định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Tương thích hoàn hảo với các mô hình trên Hugging Face.</a:t>
            </a:r>
            <a:endParaRPr b="0" sz="14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vLLM: Sức mạnh về Throughput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571500"/>
            <a:ext cx="76200" cy="619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1490662"/>
            <a:ext cx="52006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Ollama: Cánh cửa Local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31099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Ollama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ưu tiên Trải nghiệm Nhà phát triển (Developer Experience), giúp chạy LLM cục bộ đơn giản nhất có thể.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571500" y="38623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Quy trình "One-command setup" cho phép cài đặt và chạy mô hình chỉ trong vài phút trên máy tính cá nhân.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46148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Lý tưởng cho: Prototyping, chạy mô hình cá nhân trên Laptop hoặc thiết bị Edge.</a:t>
            </a:r>
            <a:endParaRPr/>
          </a:p>
        </p:txBody>
      </p:sp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9687" y="2024062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6334125" y="23526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Sức mạnh từ C++</a:t>
            </a:r>
            <a:endParaRPr/>
          </a:p>
        </p:txBody>
      </p:sp>
      <p:pic>
        <p:nvPicPr>
          <p:cNvPr descr="image.png" id="175" name="Google Shape;17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7787" y="2062162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6762750" y="296227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Backend llama.cpp: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Viết bằng C++ tối ưu hiệu suất đa nền tảng từ CPU đến Apple Silicon.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762750" y="381000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Định dạng GGUF: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Chuẩn nén mô hình hiệu quả giúp nạp dữ liệu nhanh và tiết kiệm bộ nhớ.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762750" y="465772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Layer Offloading: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Linh hoạt đẩy từng lớp mô hình vào GPU để tăng tốc.</a:t>
            </a:r>
            <a:endParaRPr/>
          </a:p>
        </p:txBody>
      </p:sp>
      <p:pic>
        <p:nvPicPr>
          <p:cNvPr descr="image.png" id="179" name="Google Shape;17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00037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8481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46958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Kiến trúc của Ollama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2519957" y="2909887"/>
            <a:ext cx="758070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Cài đặt không cấu hình: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Không yêu cầu kiến thức sâu về CUDA hay quản lý Docker phức tạp.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2519957" y="3452812"/>
            <a:ext cx="758070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Đa nền tảng: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Chạy tốt trên Windows, macOS, Linux và cả Raspberry Pi.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2519957" y="3995737"/>
            <a:ext cx="75807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Quản lý mô hình kiểu Docker: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Chỉ cần lệnh ollama run llama3 để tự động tải và cấu hình.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2519957" y="4557712"/>
            <a:ext cx="758070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Hoạt động Offline: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Quyền riêng tư tuyệt đối, không cần kết nối internet sau khi tải mô hình.</a:t>
            </a:r>
            <a:endParaRPr/>
          </a:p>
        </p:txBody>
      </p:sp>
      <p:pic>
        <p:nvPicPr>
          <p:cNvPr descr="image.png" id="193" name="Google Shape;19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91332" y="294798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91332" y="34909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91332" y="4033837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Sự đơn giản và Tính di động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938712"/>
            <a:ext cx="110490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14562"/>
            <a:ext cx="5286375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214562"/>
            <a:ext cx="5286375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771525" y="5138737"/>
            <a:ext cx="10648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Kết luận:</a:t>
            </a:r>
            <a:r>
              <a:rPr b="0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 vLLM chiến thắng tuyệt đối trong kịch bản phục vụ cộng đồng và API sản xuất.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962025" y="260508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vLLM: Multi-user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962025" y="3205162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Thiết kế cho đa người dùng. Hiệu suất tăng tỉ lệ thuận với số lượng yêu cầu (concurrency) cho đến khi bão hòa GPU hoàn toàn.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724650" y="260508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Ollama: Single-user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724650" y="3205162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Tối ưu cho người dùng đơn. Khi có nhiều yêu cầu cùng lúc, Ollama xử lý tuần tự (queue), dẫn đến hiện tượng trễ nhịp (latency spikes).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Khả năng đáp ứng đồng thời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09862"/>
            <a:ext cx="5286375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09862"/>
            <a:ext cx="5286375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962025" y="310038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vLLM Requirements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962025" y="3700462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Yêu cầu GPU NVIDIA có VRAM lớn (&gt;16GB) và hỗ trợ CUDA mạnh mẽ. Quản lý bộ nhớ động thông qua PagedAttention cực kỳ hiệu quả.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6724650" y="310038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Ollama Requirements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724650" y="3700462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Linh hoạt nhất. Chạy trên máy CPU/RAM văn phòng, Apple Silicon hoặc GPU tầm trung. Quản lý KV Cache tĩnh đơn giản hơn.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Tài nguyên phần cứng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571500" y="2628900"/>
            <a:ext cx="528637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99%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571500" y="3962400"/>
            <a:ext cx="52863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Khả năng Monitoring (vLLM)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6334125" y="28194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Chi tiết vs. Đơn giản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6334125" y="34194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vLLM: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Cung cấp các chỉ số chuyên sâu (Prometheus/Grafana) về bộ nhớ và hàng đợi, nhưng đòi hỏi cấu hình Docker/K8s phức tạp.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6334125" y="44767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Ollama: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Một tệp thực thi duy nhất, tự động hóa driver và bộ nhớ. Monitoring ở mức cơ bản, tập trung vào tính khả dụng.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DevOps và Vận hành</a:t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3" name="Google Shape;243;p24"/>
          <p:cNvGraphicFramePr/>
          <p:nvPr/>
        </p:nvGraphicFramePr>
        <p:xfrm>
          <a:off x="571500" y="19335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{B4731D50-50D8-4998-AAC8-C9E808932C61}</a:tableStyleId>
              </a:tblPr>
              <a:tblGrid>
                <a:gridCol w="2994275"/>
                <a:gridCol w="4659075"/>
                <a:gridCol w="3395650"/>
              </a:tblGrid>
              <a:tr h="66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B82F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Tiêu chí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B82F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vLLM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B82F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Ollama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6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Mục tiêu chính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Sản xuất (High Throughput)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Thử nghiệm (Ease of use)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6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Công nghệ lõi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PagedAttention, Continuous Batching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llama.cpp, GGUF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6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Tốc độ đa người dùng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Rất cao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Thấp (Xử lý tuần tự)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6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Độ trễ TTFT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Thấp nhất (~80ms peak)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Trung bình (~670ms peak)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65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Độ khó triển khai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Trung bình - Cao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Rất thấp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44" name="Google Shape;244;p24"/>
          <p:cNvSpPr/>
          <p:nvPr/>
        </p:nvSpPr>
        <p:spPr>
          <a:xfrm>
            <a:off x="571500" y="2609850"/>
            <a:ext cx="2994273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3565773" y="2609850"/>
            <a:ext cx="4659064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8224837" y="2609850"/>
            <a:ext cx="3395662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571500" y="3281362"/>
            <a:ext cx="299427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3565773" y="3281362"/>
            <a:ext cx="465906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8224837" y="3281362"/>
            <a:ext cx="339566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571500" y="3938587"/>
            <a:ext cx="299427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3565773" y="3938587"/>
            <a:ext cx="465906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8224837" y="3938587"/>
            <a:ext cx="339566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571500" y="4595812"/>
            <a:ext cx="299427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3565773" y="4595812"/>
            <a:ext cx="465906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8224837" y="4595812"/>
            <a:ext cx="339566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571500" y="5253037"/>
            <a:ext cx="299427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3565773" y="5253037"/>
            <a:ext cx="465906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8224837" y="5253037"/>
            <a:ext cx="339566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571500" y="5910262"/>
            <a:ext cx="299427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3565773" y="5910262"/>
            <a:ext cx="465906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8224837" y="5910262"/>
            <a:ext cx="339566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Bảng so sánh tổng hợp</a:t>
            </a: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66962"/>
            <a:ext cx="34925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66962"/>
            <a:ext cx="34925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66962"/>
            <a:ext cx="3492549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914400" y="3490912"/>
            <a:ext cx="2947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Tối ưu hệ thống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914400" y="4090987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Khi mục tiêu báo cáo là chứng minh khả năng tối ưu hóa tài nguyên GPU cho doanh nghiệp.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4692699" y="3490912"/>
            <a:ext cx="2947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API backend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4692699" y="4090987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Khi cần phục vụ API cho một ứng dụng Web có lượng truy cập ổn định và nhiều người dùng.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8470999" y="3490912"/>
            <a:ext cx="2947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Benchmarking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8470999" y="4090987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Khi muốn thực hiện các phép đo định lượng chuyên sâu về hiệu suất phục vụ của mô hình.</a:t>
            </a:r>
            <a:endParaRPr/>
          </a:p>
        </p:txBody>
      </p:sp>
      <p:pic>
        <p:nvPicPr>
          <p:cNvPr descr="image.png" id="278" name="Google Shape;27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7574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27574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0999" y="27574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Khi nào chọn vLLM cho Nghiên cứu?</a:t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38362"/>
            <a:ext cx="3492549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38362"/>
            <a:ext cx="3492549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38362"/>
            <a:ext cx="3492549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6"/>
          <p:cNvSpPr txBox="1"/>
          <p:nvPr/>
        </p:nvSpPr>
        <p:spPr>
          <a:xfrm>
            <a:off x="914400" y="3262312"/>
            <a:ext cx="29470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Rapid Prototyping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914400" y="4319587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Cần triển khai nhanh một bản Demo trên Laptop để trình bày ý tưởng ngay lập tức.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4692699" y="3262312"/>
            <a:ext cx="29470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Tài nguyên hạn chế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4692699" y="4319587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Khi không có GPU mạnh mẽ, chỉ chạy trên CPU hoặc chip M-series của Apple.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8470999" y="3262312"/>
            <a:ext cx="2947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Logic tập trung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8470999" y="3862387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Khi muốn tập trung vào Prompt Engineering hoặc Logic ứng dụng thay vì hạ tầng.</a:t>
            </a:r>
            <a:endParaRPr/>
          </a:p>
        </p:txBody>
      </p:sp>
      <p:pic>
        <p:nvPicPr>
          <p:cNvPr descr="image.png" id="297" name="Google Shape;297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5288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25288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0999" y="25288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6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Khi nào chọn Ollama cho Nghiên cứu?</a:t>
            </a:r>
            <a:endParaRPr/>
          </a:p>
        </p:txBody>
      </p:sp>
      <p:sp>
        <p:nvSpPr>
          <p:cNvPr id="301" name="Google Shape;301;p2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7" name="Google Shape;307;p27"/>
          <p:cNvGrpSpPr/>
          <p:nvPr/>
        </p:nvGrpSpPr>
        <p:grpSpPr>
          <a:xfrm>
            <a:off x="571500" y="1524000"/>
            <a:ext cx="3552900" cy="4572000"/>
            <a:chOff x="571500" y="1524000"/>
            <a:chExt cx="3552900" cy="4572000"/>
          </a:xfrm>
        </p:grpSpPr>
        <p:sp>
          <p:nvSpPr>
            <p:cNvPr id="308" name="Google Shape;308;p27"/>
            <p:cNvSpPr/>
            <p:nvPr/>
          </p:nvSpPr>
          <p:spPr>
            <a:xfrm>
              <a:off x="571500" y="1524000"/>
              <a:ext cx="3552900" cy="4572000"/>
            </a:xfrm>
            <a:prstGeom prst="roundRect">
              <a:avLst>
                <a:gd fmla="val 4289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high-tech, abstract visualization of a cloud computing framework with glowing green nodes and data streams, representing Hugging Face TGI." id="309" name="Google Shape;309;p27"/>
            <p:cNvPicPr preferRelativeResize="0"/>
            <p:nvPr/>
          </p:nvPicPr>
          <p:blipFill rotWithShape="1">
            <a:blip r:embed="rId5">
              <a:alphaModFix/>
            </a:blip>
            <a:srcRect b="0" l="6286" r="6294" t="0"/>
            <a:stretch/>
          </p:blipFill>
          <p:spPr>
            <a:xfrm>
              <a:off x="571500" y="1524000"/>
              <a:ext cx="3552900" cy="22860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310" name="Google Shape;310;p27"/>
            <p:cNvSpPr/>
            <p:nvPr/>
          </p:nvSpPr>
          <p:spPr>
            <a:xfrm>
              <a:off x="571500" y="3619500"/>
              <a:ext cx="3552900" cy="1905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27"/>
          <p:cNvGrpSpPr/>
          <p:nvPr/>
        </p:nvGrpSpPr>
        <p:grpSpPr>
          <a:xfrm>
            <a:off x="4314825" y="1524000"/>
            <a:ext cx="3552900" cy="4572000"/>
            <a:chOff x="4314825" y="1524000"/>
            <a:chExt cx="3552900" cy="4572000"/>
          </a:xfrm>
        </p:grpSpPr>
        <p:sp>
          <p:nvSpPr>
            <p:cNvPr id="312" name="Google Shape;312;p27"/>
            <p:cNvSpPr/>
            <p:nvPr/>
          </p:nvSpPr>
          <p:spPr>
            <a:xfrm>
              <a:off x="4314825" y="1524000"/>
              <a:ext cx="3552900" cy="4572000"/>
            </a:xfrm>
            <a:prstGeom prst="roundRect">
              <a:avLst>
                <a:gd fmla="val 4289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powerful hardware-focused graphic showing high-performance GPU cores and intricate circuit patterns with green lighting, representing NVIDIA TensorRT-LLM." id="313" name="Google Shape;313;p27"/>
            <p:cNvPicPr preferRelativeResize="0"/>
            <p:nvPr/>
          </p:nvPicPr>
          <p:blipFill rotWithShape="1">
            <a:blip r:embed="rId6">
              <a:alphaModFix/>
            </a:blip>
            <a:srcRect b="0" l="6286" r="6294" t="0"/>
            <a:stretch/>
          </p:blipFill>
          <p:spPr>
            <a:xfrm>
              <a:off x="4314825" y="1524000"/>
              <a:ext cx="3552900" cy="22860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314" name="Google Shape;314;p27"/>
            <p:cNvSpPr/>
            <p:nvPr/>
          </p:nvSpPr>
          <p:spPr>
            <a:xfrm>
              <a:off x="4314825" y="3619500"/>
              <a:ext cx="3552900" cy="1905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5" name="Google Shape;315;p27"/>
          <p:cNvGrpSpPr/>
          <p:nvPr/>
        </p:nvGrpSpPr>
        <p:grpSpPr>
          <a:xfrm>
            <a:off x="8058150" y="1524000"/>
            <a:ext cx="3552900" cy="4572000"/>
            <a:chOff x="8058150" y="1524000"/>
            <a:chExt cx="3552900" cy="4572000"/>
          </a:xfrm>
        </p:grpSpPr>
        <p:sp>
          <p:nvSpPr>
            <p:cNvPr id="316" name="Google Shape;316;p27"/>
            <p:cNvSpPr/>
            <p:nvPr/>
          </p:nvSpPr>
          <p:spPr>
            <a:xfrm>
              <a:off x="8058150" y="1524000"/>
              <a:ext cx="3552900" cy="4572000"/>
            </a:xfrm>
            <a:prstGeom prst="roundRect">
              <a:avLst>
                <a:gd fmla="val 4289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balanced infographic representation of speed and flexibility, showing multiple interconnected model icons in a clean, modern tech style for LMDeploy." id="317" name="Google Shape;317;p27"/>
            <p:cNvPicPr preferRelativeResize="0"/>
            <p:nvPr/>
          </p:nvPicPr>
          <p:blipFill rotWithShape="1">
            <a:blip r:embed="rId7">
              <a:alphaModFix/>
            </a:blip>
            <a:srcRect b="0" l="6286" r="6294" t="0"/>
            <a:stretch/>
          </p:blipFill>
          <p:spPr>
            <a:xfrm>
              <a:off x="8058150" y="1524000"/>
              <a:ext cx="3552900" cy="22860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318" name="Google Shape;318;p27"/>
            <p:cNvSpPr/>
            <p:nvPr/>
          </p:nvSpPr>
          <p:spPr>
            <a:xfrm>
              <a:off x="8058150" y="3619500"/>
              <a:ext cx="3552900" cy="1905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9" name="Google Shape;319;p27"/>
          <p:cNvSpPr txBox="1"/>
          <p:nvPr/>
        </p:nvSpPr>
        <p:spPr>
          <a:xfrm>
            <a:off x="762000" y="4000500"/>
            <a:ext cx="31719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TGI</a:t>
            </a:r>
            <a:endParaRPr b="1" sz="2400">
              <a:solidFill>
                <a:srgbClr val="10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0" name="Google Shape;320;p27"/>
          <p:cNvSpPr txBox="1"/>
          <p:nvPr/>
        </p:nvSpPr>
        <p:spPr>
          <a:xfrm>
            <a:off x="762000" y="4524375"/>
            <a:ext cx="31719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Framework từ Hugging Face, mạnh về giám sát (observability) và prompt dài.</a:t>
            </a:r>
            <a:endParaRPr b="0"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1" name="Google Shape;321;p27"/>
          <p:cNvSpPr txBox="1"/>
          <p:nvPr/>
        </p:nvSpPr>
        <p:spPr>
          <a:xfrm>
            <a:off x="4505325" y="4000500"/>
            <a:ext cx="31719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TensorRT-LLM</a:t>
            </a:r>
            <a:endParaRPr b="1" sz="2400">
              <a:solidFill>
                <a:srgbClr val="10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2" name="Google Shape;322;p27"/>
          <p:cNvSpPr txBox="1"/>
          <p:nvPr/>
        </p:nvSpPr>
        <p:spPr>
          <a:xfrm>
            <a:off x="4505325" y="4524375"/>
            <a:ext cx="3171900" cy="69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Đỉnh cao hiệu năng từ NVIDIA, nhưng yêu cầu chuyển đổi định dạng mô hình phức tạp.</a:t>
            </a:r>
            <a:endParaRPr b="0"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3" name="Google Shape;323;p27"/>
          <p:cNvSpPr txBox="1"/>
          <p:nvPr/>
        </p:nvSpPr>
        <p:spPr>
          <a:xfrm>
            <a:off x="8248650" y="4000500"/>
            <a:ext cx="31719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LMDeploy</a:t>
            </a:r>
            <a:endParaRPr b="1" sz="2400">
              <a:solidFill>
                <a:srgbClr val="10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4" name="Google Shape;324;p27"/>
          <p:cNvSpPr txBox="1"/>
          <p:nvPr/>
        </p:nvSpPr>
        <p:spPr>
          <a:xfrm>
            <a:off x="8248650" y="4524375"/>
            <a:ext cx="31719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Lựa chọn cân bằng tốt giữa tốc độ và khả năng hỗ trợ đa dạng mô hình.</a:t>
            </a:r>
            <a:endParaRPr b="0"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5" name="Google Shape;325;p27"/>
          <p:cNvSpPr txBox="1"/>
          <p:nvPr/>
        </p:nvSpPr>
        <p:spPr>
          <a:xfrm>
            <a:off x="809625" y="571500"/>
            <a:ext cx="1135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Các lựa chọn thay thế khác</a:t>
            </a:r>
            <a:endParaRPr/>
          </a:p>
        </p:txBody>
      </p:sp>
      <p:sp>
        <p:nvSpPr>
          <p:cNvPr id="326" name="Google Shape;326;p27"/>
          <p:cNvSpPr/>
          <p:nvPr/>
        </p:nvSpPr>
        <p:spPr>
          <a:xfrm>
            <a:off x="571500" y="571500"/>
            <a:ext cx="76200" cy="619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