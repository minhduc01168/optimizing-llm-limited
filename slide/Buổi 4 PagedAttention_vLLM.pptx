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0D4FF"/>
          </a:solidFill>
          <a:ln w="12700">
            <a:solidFill>
              <a:srgbClr val="00D4FF"/>
            </a:solidFill>
            <a:prstDash val="solid"/>
          </a:ln>
        </p:spPr>
      </p:sp>
      <p:sp>
        <p:nvSpPr>
          <p:cNvPr id="3" name="Shape 1"/>
          <p:cNvSpPr/>
          <p:nvPr/>
        </p:nvSpPr>
        <p:spPr>
          <a:xfrm>
            <a:off x="0" y="0"/>
            <a:ext cx="9144000" cy="54864"/>
          </a:xfrm>
          <a:prstGeom prst="rect">
            <a:avLst/>
          </a:prstGeom>
          <a:solidFill>
            <a:srgbClr val="00D4FF"/>
          </a:solidFill>
          <a:ln w="12700">
            <a:solidFill>
              <a:srgbClr val="00D4FF"/>
            </a:solidFill>
            <a:prstDash val="solid"/>
          </a:ln>
        </p:spPr>
      </p:sp>
      <p:sp>
        <p:nvSpPr>
          <p:cNvPr id="4" name="Text 2"/>
          <p:cNvSpPr/>
          <p:nvPr/>
        </p:nvSpPr>
        <p:spPr>
          <a:xfrm>
            <a:off x="457200" y="731520"/>
            <a:ext cx="8229600" cy="1097280"/>
          </a:xfrm>
          <a:prstGeom prst="rect">
            <a:avLst/>
          </a:prstGeom>
          <a:noFill/>
          <a:ln/>
        </p:spPr>
        <p:txBody>
          <a:bodyPr wrap="square" lIns="0" tIns="0" rIns="0" bIns="0" rtlCol="0" anchor="ctr"/>
          <a:lstStyle/>
          <a:p>
            <a:pPr algn="l" indent="0" marL="0">
              <a:buNone/>
            </a:pPr>
            <a:r>
              <a:rPr lang="en-US" sz="4400" b="1" dirty="0">
                <a:solidFill>
                  <a:srgbClr val="F0F6FF"/>
                </a:solidFill>
                <a:latin typeface="Calibri" pitchFamily="34" charset="0"/>
                <a:ea typeface="Calibri" pitchFamily="34" charset="-122"/>
                <a:cs typeface="Calibri" pitchFamily="34" charset="-120"/>
              </a:rPr>
              <a:t>PagedAttention &amp; vLLM</a:t>
            </a:r>
            <a:endParaRPr lang="en-US" sz="4400" dirty="0"/>
          </a:p>
        </p:txBody>
      </p:sp>
      <p:sp>
        <p:nvSpPr>
          <p:cNvPr id="5" name="Text 3"/>
          <p:cNvSpPr/>
          <p:nvPr/>
        </p:nvSpPr>
        <p:spPr>
          <a:xfrm>
            <a:off x="457200" y="1828800"/>
            <a:ext cx="8229600" cy="548640"/>
          </a:xfrm>
          <a:prstGeom prst="rect">
            <a:avLst/>
          </a:prstGeom>
          <a:noFill/>
          <a:ln/>
        </p:spPr>
        <p:txBody>
          <a:bodyPr wrap="square" lIns="0" tIns="0" rIns="0" bIns="0" rtlCol="0" anchor="ctr"/>
          <a:lstStyle/>
          <a:p>
            <a:pPr algn="l" indent="0" marL="0">
              <a:buNone/>
            </a:pPr>
            <a:r>
              <a:rPr lang="en-US" sz="2200" dirty="0">
                <a:solidFill>
                  <a:srgbClr val="00D4FF"/>
                </a:solidFill>
                <a:latin typeface="Calibri" pitchFamily="34" charset="0"/>
                <a:ea typeface="Calibri" pitchFamily="34" charset="-122"/>
                <a:cs typeface="Calibri" pitchFamily="34" charset="-120"/>
              </a:rPr>
              <a:t>Cuộc Cách Mạng Quản Lý Bộ Nhớ GPU</a:t>
            </a:r>
            <a:endParaRPr lang="en-US" sz="2200" dirty="0"/>
          </a:p>
        </p:txBody>
      </p:sp>
      <p:sp>
        <p:nvSpPr>
          <p:cNvPr id="6" name="Text 4"/>
          <p:cNvSpPr/>
          <p:nvPr/>
        </p:nvSpPr>
        <p:spPr>
          <a:xfrm>
            <a:off x="457200" y="2423160"/>
            <a:ext cx="7315200" cy="457200"/>
          </a:xfrm>
          <a:prstGeom prst="rect">
            <a:avLst/>
          </a:prstGeom>
          <a:noFill/>
          <a:ln/>
        </p:spPr>
        <p:txBody>
          <a:bodyPr wrap="square" lIns="0" tIns="0" rIns="0" bIns="0" rtlCol="0" anchor="ctr"/>
          <a:lstStyle/>
          <a:p>
            <a:pPr algn="l" indent="0" marL="0">
              <a:buNone/>
            </a:pPr>
            <a:r>
              <a:rPr lang="en-US" sz="1500" dirty="0">
                <a:solidFill>
                  <a:srgbClr val="94A3B8"/>
                </a:solidFill>
                <a:latin typeface="Calibri" pitchFamily="34" charset="0"/>
                <a:ea typeface="Calibri" pitchFamily="34" charset="-122"/>
                <a:cs typeface="Calibri" pitchFamily="34" charset="-120"/>
              </a:rPr>
              <a:t>Giải quyết bài toán lãng phí KV Cache trong hệ thống phục vụ LLM</a:t>
            </a:r>
            <a:endParaRPr lang="en-US" sz="1500" dirty="0"/>
          </a:p>
        </p:txBody>
      </p:sp>
      <p:sp>
        <p:nvSpPr>
          <p:cNvPr id="7" name="Shape 5"/>
          <p:cNvSpPr/>
          <p:nvPr/>
        </p:nvSpPr>
        <p:spPr>
          <a:xfrm>
            <a:off x="457200" y="3108960"/>
            <a:ext cx="2651760" cy="1371600"/>
          </a:xfrm>
          <a:prstGeom prst="rect">
            <a:avLst/>
          </a:prstGeom>
          <a:solidFill>
            <a:srgbClr val="1E2F47"/>
          </a:solidFill>
          <a:ln w="12700">
            <a:solidFill>
              <a:srgbClr val="7C3AED"/>
            </a:solidFill>
            <a:prstDash val="solid"/>
          </a:ln>
          <a:effectLst>
            <a:outerShdw sx="100000" sy="100000" kx="0" ky="0" algn="bl" rotWithShape="0" blurRad="101600" dist="38100" dir="8100000">
              <a:srgbClr val="000000">
                <a:alpha val="25000"/>
              </a:srgbClr>
            </a:outerShdw>
          </a:effectLst>
        </p:spPr>
      </p:sp>
      <p:sp>
        <p:nvSpPr>
          <p:cNvPr id="8" name="Text 6"/>
          <p:cNvSpPr/>
          <p:nvPr/>
        </p:nvSpPr>
        <p:spPr>
          <a:xfrm>
            <a:off x="457200" y="3154680"/>
            <a:ext cx="457200" cy="365760"/>
          </a:xfrm>
          <a:prstGeom prst="rect">
            <a:avLst/>
          </a:prstGeom>
          <a:noFill/>
          <a:ln/>
        </p:spPr>
        <p:txBody>
          <a:bodyPr wrap="square" lIns="63500" tIns="63500" rIns="63500" bIns="63500" rtlCol="0" anchor="ctr"/>
          <a:lstStyle/>
          <a:p>
            <a:pPr indent="0" marL="0">
              <a:buNone/>
            </a:pPr>
            <a:r>
              <a:rPr lang="en-US" sz="1400" b="1" dirty="0">
                <a:solidFill>
                  <a:srgbClr val="7C3AED"/>
                </a:solidFill>
              </a:rPr>
              <a:t>01</a:t>
            </a:r>
            <a:endParaRPr lang="en-US" sz="1400" dirty="0"/>
          </a:p>
        </p:txBody>
      </p:sp>
      <p:sp>
        <p:nvSpPr>
          <p:cNvPr id="9" name="Text 7"/>
          <p:cNvSpPr/>
          <p:nvPr/>
        </p:nvSpPr>
        <p:spPr>
          <a:xfrm>
            <a:off x="502920" y="3520440"/>
            <a:ext cx="2560320" cy="320040"/>
          </a:xfrm>
          <a:prstGeom prst="rect">
            <a:avLst/>
          </a:prstGeom>
          <a:noFill/>
          <a:ln/>
        </p:spPr>
        <p:txBody>
          <a:bodyPr wrap="square" lIns="63500" tIns="63500" rIns="63500" bIns="63500" rtlCol="0" anchor="ctr"/>
          <a:lstStyle/>
          <a:p>
            <a:pPr indent="0" marL="0">
              <a:buNone/>
            </a:pPr>
            <a:r>
              <a:rPr lang="en-US" sz="1300" b="1" dirty="0">
                <a:solidFill>
                  <a:srgbClr val="F0F6FF"/>
                </a:solidFill>
              </a:rPr>
              <a:t>Hiểu vấn đề</a:t>
            </a:r>
            <a:endParaRPr lang="en-US" sz="1300" dirty="0"/>
          </a:p>
        </p:txBody>
      </p:sp>
      <p:sp>
        <p:nvSpPr>
          <p:cNvPr id="10" name="Text 8"/>
          <p:cNvSpPr/>
          <p:nvPr/>
        </p:nvSpPr>
        <p:spPr>
          <a:xfrm>
            <a:off x="502920" y="3840480"/>
            <a:ext cx="2560320" cy="548640"/>
          </a:xfrm>
          <a:prstGeom prst="rect">
            <a:avLst/>
          </a:prstGeom>
          <a:noFill/>
          <a:ln/>
        </p:spPr>
        <p:txBody>
          <a:bodyPr wrap="square" lIns="63500" tIns="63500" rIns="63500" bIns="63500" rtlCol="0" anchor="ctr"/>
          <a:lstStyle/>
          <a:p>
            <a:pPr indent="0" marL="0">
              <a:buNone/>
            </a:pPr>
            <a:r>
              <a:rPr lang="en-US" sz="1100" dirty="0">
                <a:solidFill>
                  <a:srgbClr val="94A3B8"/>
                </a:solidFill>
              </a:rPr>
              <a:t>Phân mảnh bộ nhớ KV Cache truyền thống</a:t>
            </a:r>
            <a:endParaRPr lang="en-US" sz="1100" dirty="0"/>
          </a:p>
        </p:txBody>
      </p:sp>
      <p:sp>
        <p:nvSpPr>
          <p:cNvPr id="11" name="Shape 9"/>
          <p:cNvSpPr/>
          <p:nvPr/>
        </p:nvSpPr>
        <p:spPr>
          <a:xfrm>
            <a:off x="3291840" y="3108960"/>
            <a:ext cx="2651760" cy="1371600"/>
          </a:xfrm>
          <a:prstGeom prst="rect">
            <a:avLst/>
          </a:prstGeom>
          <a:solidFill>
            <a:srgbClr val="1E2F47"/>
          </a:solidFill>
          <a:ln w="12700">
            <a:solidFill>
              <a:srgbClr val="7C3AED"/>
            </a:solidFill>
            <a:prstDash val="solid"/>
          </a:ln>
          <a:effectLst>
            <a:outerShdw sx="100000" sy="100000" kx="0" ky="0" algn="bl" rotWithShape="0" blurRad="101600" dist="38100" dir="8100000">
              <a:srgbClr val="000000">
                <a:alpha val="25000"/>
              </a:srgbClr>
            </a:outerShdw>
          </a:effectLst>
        </p:spPr>
      </p:sp>
      <p:sp>
        <p:nvSpPr>
          <p:cNvPr id="12" name="Text 10"/>
          <p:cNvSpPr/>
          <p:nvPr/>
        </p:nvSpPr>
        <p:spPr>
          <a:xfrm>
            <a:off x="3291840" y="3154680"/>
            <a:ext cx="457200" cy="365760"/>
          </a:xfrm>
          <a:prstGeom prst="rect">
            <a:avLst/>
          </a:prstGeom>
          <a:noFill/>
          <a:ln/>
        </p:spPr>
        <p:txBody>
          <a:bodyPr wrap="square" lIns="63500" tIns="63500" rIns="63500" bIns="63500" rtlCol="0" anchor="ctr"/>
          <a:lstStyle/>
          <a:p>
            <a:pPr indent="0" marL="0">
              <a:buNone/>
            </a:pPr>
            <a:r>
              <a:rPr lang="en-US" sz="1400" b="1" dirty="0">
                <a:solidFill>
                  <a:srgbClr val="7C3AED"/>
                </a:solidFill>
              </a:rPr>
              <a:t>02</a:t>
            </a:r>
            <a:endParaRPr lang="en-US" sz="1400" dirty="0"/>
          </a:p>
        </p:txBody>
      </p:sp>
      <p:sp>
        <p:nvSpPr>
          <p:cNvPr id="13" name="Text 11"/>
          <p:cNvSpPr/>
          <p:nvPr/>
        </p:nvSpPr>
        <p:spPr>
          <a:xfrm>
            <a:off x="3337560" y="3520440"/>
            <a:ext cx="2560320" cy="320040"/>
          </a:xfrm>
          <a:prstGeom prst="rect">
            <a:avLst/>
          </a:prstGeom>
          <a:noFill/>
          <a:ln/>
        </p:spPr>
        <p:txBody>
          <a:bodyPr wrap="square" lIns="63500" tIns="63500" rIns="63500" bIns="63500" rtlCol="0" anchor="ctr"/>
          <a:lstStyle/>
          <a:p>
            <a:pPr indent="0" marL="0">
              <a:buNone/>
            </a:pPr>
            <a:r>
              <a:rPr lang="en-US" sz="1300" b="1" dirty="0">
                <a:solidFill>
                  <a:srgbClr val="F0F6FF"/>
                </a:solidFill>
              </a:rPr>
              <a:t>Cơ chế PagedAttention</a:t>
            </a:r>
            <a:endParaRPr lang="en-US" sz="1300" dirty="0"/>
          </a:p>
        </p:txBody>
      </p:sp>
      <p:sp>
        <p:nvSpPr>
          <p:cNvPr id="14" name="Text 12"/>
          <p:cNvSpPr/>
          <p:nvPr/>
        </p:nvSpPr>
        <p:spPr>
          <a:xfrm>
            <a:off x="3337560" y="3840480"/>
            <a:ext cx="2560320" cy="548640"/>
          </a:xfrm>
          <a:prstGeom prst="rect">
            <a:avLst/>
          </a:prstGeom>
          <a:noFill/>
          <a:ln/>
        </p:spPr>
        <p:txBody>
          <a:bodyPr wrap="square" lIns="63500" tIns="63500" rIns="63500" bIns="63500" rtlCol="0" anchor="ctr"/>
          <a:lstStyle/>
          <a:p>
            <a:pPr indent="0" marL="0">
              <a:buNone/>
            </a:pPr>
            <a:r>
              <a:rPr lang="en-US" sz="1100" dirty="0">
                <a:solidFill>
                  <a:srgbClr val="94A3B8"/>
                </a:solidFill>
              </a:rPr>
              <a:t>Bộ nhớ ảo áp dụng cho LLM</a:t>
            </a:r>
            <a:endParaRPr lang="en-US" sz="1100" dirty="0"/>
          </a:p>
        </p:txBody>
      </p:sp>
      <p:sp>
        <p:nvSpPr>
          <p:cNvPr id="15" name="Shape 13"/>
          <p:cNvSpPr/>
          <p:nvPr/>
        </p:nvSpPr>
        <p:spPr>
          <a:xfrm>
            <a:off x="6126480" y="3108960"/>
            <a:ext cx="2651760" cy="1371600"/>
          </a:xfrm>
          <a:prstGeom prst="rect">
            <a:avLst/>
          </a:prstGeom>
          <a:solidFill>
            <a:srgbClr val="1E2F47"/>
          </a:solidFill>
          <a:ln w="12700">
            <a:solidFill>
              <a:srgbClr val="7C3AED"/>
            </a:solidFill>
            <a:prstDash val="solid"/>
          </a:ln>
          <a:effectLst>
            <a:outerShdw sx="100000" sy="100000" kx="0" ky="0" algn="bl" rotWithShape="0" blurRad="101600" dist="38100" dir="8100000">
              <a:srgbClr val="000000">
                <a:alpha val="25000"/>
              </a:srgbClr>
            </a:outerShdw>
          </a:effectLst>
        </p:spPr>
      </p:sp>
      <p:sp>
        <p:nvSpPr>
          <p:cNvPr id="16" name="Text 14"/>
          <p:cNvSpPr/>
          <p:nvPr/>
        </p:nvSpPr>
        <p:spPr>
          <a:xfrm>
            <a:off x="6126480" y="3154680"/>
            <a:ext cx="457200" cy="365760"/>
          </a:xfrm>
          <a:prstGeom prst="rect">
            <a:avLst/>
          </a:prstGeom>
          <a:noFill/>
          <a:ln/>
        </p:spPr>
        <p:txBody>
          <a:bodyPr wrap="square" lIns="63500" tIns="63500" rIns="63500" bIns="63500" rtlCol="0" anchor="ctr"/>
          <a:lstStyle/>
          <a:p>
            <a:pPr indent="0" marL="0">
              <a:buNone/>
            </a:pPr>
            <a:r>
              <a:rPr lang="en-US" sz="1400" b="1" dirty="0">
                <a:solidFill>
                  <a:srgbClr val="7C3AED"/>
                </a:solidFill>
              </a:rPr>
              <a:t>03</a:t>
            </a:r>
            <a:endParaRPr lang="en-US" sz="1400" dirty="0"/>
          </a:p>
        </p:txBody>
      </p:sp>
      <p:sp>
        <p:nvSpPr>
          <p:cNvPr id="17" name="Text 15"/>
          <p:cNvSpPr/>
          <p:nvPr/>
        </p:nvSpPr>
        <p:spPr>
          <a:xfrm>
            <a:off x="6172200" y="3520440"/>
            <a:ext cx="2560320" cy="320040"/>
          </a:xfrm>
          <a:prstGeom prst="rect">
            <a:avLst/>
          </a:prstGeom>
          <a:noFill/>
          <a:ln/>
        </p:spPr>
        <p:txBody>
          <a:bodyPr wrap="square" lIns="63500" tIns="63500" rIns="63500" bIns="63500" rtlCol="0" anchor="ctr"/>
          <a:lstStyle/>
          <a:p>
            <a:pPr indent="0" marL="0">
              <a:buNone/>
            </a:pPr>
            <a:r>
              <a:rPr lang="en-US" sz="1300" b="1" dirty="0">
                <a:solidFill>
                  <a:srgbClr val="F0F6FF"/>
                </a:solidFill>
              </a:rPr>
              <a:t>vLLM trong thực tế</a:t>
            </a:r>
            <a:endParaRPr lang="en-US" sz="1300" dirty="0"/>
          </a:p>
        </p:txBody>
      </p:sp>
      <p:sp>
        <p:nvSpPr>
          <p:cNvPr id="18" name="Text 16"/>
          <p:cNvSpPr/>
          <p:nvPr/>
        </p:nvSpPr>
        <p:spPr>
          <a:xfrm>
            <a:off x="6172200" y="3840480"/>
            <a:ext cx="2560320" cy="548640"/>
          </a:xfrm>
          <a:prstGeom prst="rect">
            <a:avLst/>
          </a:prstGeom>
          <a:noFill/>
          <a:ln/>
        </p:spPr>
        <p:txBody>
          <a:bodyPr wrap="square" lIns="63500" tIns="63500" rIns="63500" bIns="63500" rtlCol="0" anchor="ctr"/>
          <a:lstStyle/>
          <a:p>
            <a:pPr indent="0" marL="0">
              <a:buNone/>
            </a:pPr>
            <a:r>
              <a:rPr lang="en-US" sz="1100" dirty="0">
                <a:solidFill>
                  <a:srgbClr val="94A3B8"/>
                </a:solidFill>
              </a:rPr>
              <a:t>Cấu hình, giám sát &amp; triển khai</a:t>
            </a:r>
            <a:endParaRPr lang="en-US" sz="1100" dirty="0"/>
          </a:p>
        </p:txBody>
      </p:sp>
      <p:sp>
        <p:nvSpPr>
          <p:cNvPr id="19" name="Shape 17"/>
          <p:cNvSpPr/>
          <p:nvPr/>
        </p:nvSpPr>
        <p:spPr>
          <a:xfrm>
            <a:off x="7132320" y="4663440"/>
            <a:ext cx="1645920" cy="320040"/>
          </a:xfrm>
          <a:prstGeom prst="rect">
            <a:avLst/>
          </a:prstGeom>
          <a:solidFill>
            <a:srgbClr val="00D4FF"/>
          </a:solidFill>
          <a:ln w="12700">
            <a:solidFill>
              <a:srgbClr val="00D4FF"/>
            </a:solidFill>
            <a:prstDash val="solid"/>
          </a:ln>
        </p:spPr>
      </p:sp>
      <p:sp>
        <p:nvSpPr>
          <p:cNvPr id="20" name="Text 18"/>
          <p:cNvSpPr/>
          <p:nvPr/>
        </p:nvSpPr>
        <p:spPr>
          <a:xfrm>
            <a:off x="7132320" y="4663440"/>
            <a:ext cx="1645920" cy="320040"/>
          </a:xfrm>
          <a:prstGeom prst="rect">
            <a:avLst/>
          </a:prstGeom>
          <a:noFill/>
          <a:ln/>
        </p:spPr>
        <p:txBody>
          <a:bodyPr wrap="square" lIns="0" tIns="0" rIns="0" bIns="0" rtlCol="0" anchor="ctr"/>
          <a:lstStyle/>
          <a:p>
            <a:pPr algn="ctr" indent="0" marL="0">
              <a:buNone/>
            </a:pPr>
            <a:r>
              <a:rPr lang="en-US" sz="1200" b="1" dirty="0">
                <a:solidFill>
                  <a:srgbClr val="0F1B2D"/>
                </a:solidFill>
              </a:rPr>
              <a:t>Buổi 4 / 10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F4444"/>
          </a:solidFill>
          <a:ln w="12700">
            <a:solidFill>
              <a:srgbClr val="EF4444"/>
            </a:solidFill>
            <a:prstDash val="solid"/>
          </a:ln>
        </p:spPr>
      </p:sp>
      <p:sp>
        <p:nvSpPr>
          <p:cNvPr id="3" name="Text 1"/>
          <p:cNvSpPr/>
          <p:nvPr/>
        </p:nvSpPr>
        <p:spPr>
          <a:xfrm>
            <a:off x="365760" y="137160"/>
            <a:ext cx="8412480" cy="548640"/>
          </a:xfrm>
          <a:prstGeom prst="rect">
            <a:avLst/>
          </a:prstGeom>
          <a:noFill/>
          <a:ln/>
        </p:spPr>
        <p:txBody>
          <a:bodyPr wrap="square" lIns="0" tIns="0" rIns="0" bIns="0" rtlCol="0" anchor="ctr"/>
          <a:lstStyle/>
          <a:p>
            <a:pPr algn="l" indent="0" marL="0">
              <a:buNone/>
            </a:pPr>
            <a:r>
              <a:rPr lang="en-US" sz="2800" b="1" dirty="0">
                <a:solidFill>
                  <a:srgbClr val="F0F6FF"/>
                </a:solidFill>
                <a:latin typeface="Calibri" pitchFamily="34" charset="0"/>
                <a:ea typeface="Calibri" pitchFamily="34" charset="-122"/>
                <a:cs typeface="Calibri" pitchFamily="34" charset="-120"/>
              </a:rPr>
              <a:t>🚨 Cuộc Khủng Hoảng Lãng Phí Bộ Nhớ</a:t>
            </a:r>
            <a:endParaRPr lang="en-US" sz="2800" dirty="0"/>
          </a:p>
        </p:txBody>
      </p:sp>
      <p:sp>
        <p:nvSpPr>
          <p:cNvPr id="4" name="Shape 2"/>
          <p:cNvSpPr/>
          <p:nvPr/>
        </p:nvSpPr>
        <p:spPr>
          <a:xfrm>
            <a:off x="365760" y="822960"/>
            <a:ext cx="2560320" cy="2560320"/>
          </a:xfrm>
          <a:prstGeom prst="rect">
            <a:avLst/>
          </a:prstGeom>
          <a:solidFill>
            <a:srgbClr val="EF4444">
              <a:alpha val="85000"/>
            </a:srgbClr>
          </a:solidFill>
          <a:ln w="12700">
            <a:solidFill>
              <a:srgbClr val="EF4444"/>
            </a:solidFill>
            <a:prstDash val="solid"/>
          </a:ln>
          <a:effectLst>
            <a:outerShdw sx="100000" sy="100000" kx="0" ky="0" algn="bl" rotWithShape="0" blurRad="101600" dist="38100" dir="8100000">
              <a:srgbClr val="000000">
                <a:alpha val="25000"/>
              </a:srgbClr>
            </a:outerShdw>
          </a:effectLst>
        </p:spPr>
      </p:sp>
      <p:sp>
        <p:nvSpPr>
          <p:cNvPr id="5" name="Text 3"/>
          <p:cNvSpPr/>
          <p:nvPr/>
        </p:nvSpPr>
        <p:spPr>
          <a:xfrm>
            <a:off x="365760" y="1097280"/>
            <a:ext cx="2560320" cy="914400"/>
          </a:xfrm>
          <a:prstGeom prst="rect">
            <a:avLst/>
          </a:prstGeom>
          <a:noFill/>
          <a:ln/>
        </p:spPr>
        <p:txBody>
          <a:bodyPr wrap="square" lIns="0" tIns="0" rIns="0" bIns="0" rtlCol="0" anchor="ctr"/>
          <a:lstStyle/>
          <a:p>
            <a:pPr algn="ctr" indent="0" marL="0">
              <a:buNone/>
            </a:pPr>
            <a:r>
              <a:rPr lang="en-US" sz="4600" b="1" dirty="0">
                <a:solidFill>
                  <a:srgbClr val="FFFFFF"/>
                </a:solidFill>
              </a:rPr>
              <a:t>60–80%</a:t>
            </a:r>
            <a:endParaRPr lang="en-US" sz="4600" dirty="0"/>
          </a:p>
        </p:txBody>
      </p:sp>
      <p:sp>
        <p:nvSpPr>
          <p:cNvPr id="6" name="Text 4"/>
          <p:cNvSpPr/>
          <p:nvPr/>
        </p:nvSpPr>
        <p:spPr>
          <a:xfrm>
            <a:off x="365760" y="2011680"/>
            <a:ext cx="2560320" cy="914400"/>
          </a:xfrm>
          <a:prstGeom prst="rect">
            <a:avLst/>
          </a:prstGeom>
          <a:noFill/>
          <a:ln/>
        </p:spPr>
        <p:txBody>
          <a:bodyPr wrap="square" lIns="101600" tIns="101600" rIns="101600" bIns="101600" rtlCol="0" anchor="ctr"/>
          <a:lstStyle/>
          <a:p>
            <a:pPr algn="ctr" indent="0" marL="0">
              <a:buNone/>
            </a:pPr>
            <a:r>
              <a:rPr lang="en-US" sz="1200" dirty="0">
                <a:solidFill>
                  <a:srgbClr val="F0F6FF"/>
                </a:solidFill>
              </a:rPr>
              <a:t>bộ nhớ KV Cache bị</a:t>
            </a:r>
            <a:endParaRPr lang="en-US" sz="1200" dirty="0"/>
          </a:p>
          <a:p>
            <a:pPr algn="ctr" indent="0" marL="0">
              <a:buNone/>
            </a:pPr>
            <a:r>
              <a:rPr lang="en-US" sz="1200" dirty="0">
                <a:solidFill>
                  <a:srgbClr val="F0F6FF"/>
                </a:solidFill>
              </a:rPr>
              <a:t>lãng phí trong hệ thống truyền thống</a:t>
            </a:r>
            <a:endParaRPr lang="en-US" sz="1200" dirty="0"/>
          </a:p>
        </p:txBody>
      </p:sp>
      <p:sp>
        <p:nvSpPr>
          <p:cNvPr id="7" name="Shape 5"/>
          <p:cNvSpPr/>
          <p:nvPr/>
        </p:nvSpPr>
        <p:spPr>
          <a:xfrm>
            <a:off x="3200400" y="822960"/>
            <a:ext cx="5577840" cy="1188720"/>
          </a:xfrm>
          <a:prstGeom prst="rect">
            <a:avLst/>
          </a:prstGeom>
          <a:solidFill>
            <a:srgbClr val="1E2F47"/>
          </a:solidFill>
          <a:ln w="12700">
            <a:solidFill>
              <a:srgbClr val="F59E0B"/>
            </a:solidFill>
            <a:prstDash val="solid"/>
          </a:ln>
          <a:effectLst>
            <a:outerShdw sx="100000" sy="100000" kx="0" ky="0" algn="bl" rotWithShape="0" blurRad="101600" dist="38100" dir="8100000">
              <a:srgbClr val="000000">
                <a:alpha val="25000"/>
              </a:srgbClr>
            </a:outerShdw>
          </a:effectLst>
        </p:spPr>
      </p:sp>
      <p:sp>
        <p:nvSpPr>
          <p:cNvPr id="8" name="Text 6"/>
          <p:cNvSpPr/>
          <p:nvPr/>
        </p:nvSpPr>
        <p:spPr>
          <a:xfrm>
            <a:off x="3291840" y="868680"/>
            <a:ext cx="5394960" cy="365760"/>
          </a:xfrm>
          <a:prstGeom prst="rect">
            <a:avLst/>
          </a:prstGeom>
          <a:noFill/>
          <a:ln/>
        </p:spPr>
        <p:txBody>
          <a:bodyPr wrap="square" lIns="63500" tIns="63500" rIns="63500" bIns="63500" rtlCol="0" anchor="ctr"/>
          <a:lstStyle/>
          <a:p>
            <a:pPr indent="0" marL="0">
              <a:buNone/>
            </a:pPr>
            <a:r>
              <a:rPr lang="en-US" sz="1400" b="1" dirty="0">
                <a:solidFill>
                  <a:srgbClr val="F59E0B"/>
                </a:solidFill>
              </a:rPr>
              <a:t>⚠️  Nguyên nhân cốt lõi</a:t>
            </a:r>
            <a:endParaRPr lang="en-US" sz="1400" dirty="0"/>
          </a:p>
        </p:txBody>
      </p:sp>
      <p:sp>
        <p:nvSpPr>
          <p:cNvPr id="9" name="Text 7"/>
          <p:cNvSpPr/>
          <p:nvPr/>
        </p:nvSpPr>
        <p:spPr>
          <a:xfrm>
            <a:off x="3291840" y="1234440"/>
            <a:ext cx="5394960" cy="685800"/>
          </a:xfrm>
          <a:prstGeom prst="rect">
            <a:avLst/>
          </a:prstGeom>
          <a:noFill/>
          <a:ln/>
        </p:spPr>
        <p:txBody>
          <a:bodyPr wrap="square" lIns="63500" tIns="63500" rIns="63500" bIns="63500" rtlCol="0" anchor="ctr"/>
          <a:lstStyle/>
          <a:p>
            <a:pPr indent="0" marL="0">
              <a:buNone/>
            </a:pPr>
            <a:r>
              <a:rPr lang="en-US" sz="1200" dirty="0">
                <a:solidFill>
                  <a:srgbClr val="F0F6FF"/>
                </a:solidFill>
              </a:rPr>
              <a:t>Cấp phát tĩnh các khối bộ nhớ liên tục cho toàn bộ chiều dài ngữ cảnh tối đa (max_sequence_length), ngay cả khi yêu cầu thực tế chỉ dùng một phần nhỏ.</a:t>
            </a:r>
            <a:endParaRPr lang="en-US" sz="1200" dirty="0"/>
          </a:p>
        </p:txBody>
      </p:sp>
      <p:sp>
        <p:nvSpPr>
          <p:cNvPr id="10" name="Shape 8"/>
          <p:cNvSpPr/>
          <p:nvPr/>
        </p:nvSpPr>
        <p:spPr>
          <a:xfrm>
            <a:off x="365760" y="2194560"/>
            <a:ext cx="8412480" cy="749808"/>
          </a:xfrm>
          <a:prstGeom prst="rect">
            <a:avLst/>
          </a:prstGeom>
          <a:solidFill>
            <a:srgbClr val="1E2F47"/>
          </a:solidFill>
          <a:ln w="12700">
            <a:solidFill>
              <a:srgbClr val="162236"/>
            </a:solidFill>
            <a:prstDash val="solid"/>
          </a:ln>
        </p:spPr>
      </p:sp>
      <p:sp>
        <p:nvSpPr>
          <p:cNvPr id="11" name="Shape 9"/>
          <p:cNvSpPr/>
          <p:nvPr/>
        </p:nvSpPr>
        <p:spPr>
          <a:xfrm>
            <a:off x="2743200" y="2304288"/>
            <a:ext cx="0" cy="530352"/>
          </a:xfrm>
          <a:prstGeom prst="line">
            <a:avLst/>
          </a:prstGeom>
          <a:noFill/>
          <a:ln w="12700">
            <a:solidFill>
              <a:srgbClr val="7C3AED"/>
            </a:solidFill>
            <a:prstDash val="solid"/>
          </a:ln>
        </p:spPr>
      </p:sp>
      <p:sp>
        <p:nvSpPr>
          <p:cNvPr id="12" name="Text 10"/>
          <p:cNvSpPr/>
          <p:nvPr/>
        </p:nvSpPr>
        <p:spPr>
          <a:xfrm>
            <a:off x="502920" y="2249424"/>
            <a:ext cx="2194560" cy="594360"/>
          </a:xfrm>
          <a:prstGeom prst="rect">
            <a:avLst/>
          </a:prstGeom>
          <a:noFill/>
          <a:ln/>
        </p:spPr>
        <p:txBody>
          <a:bodyPr wrap="square" lIns="0" tIns="0" rIns="0" bIns="0" rtlCol="0" anchor="ctr"/>
          <a:lstStyle/>
          <a:p>
            <a:pPr indent="0" marL="0">
              <a:buNone/>
            </a:pPr>
            <a:r>
              <a:rPr lang="en-US" sz="1300" b="1" dirty="0">
                <a:solidFill>
                  <a:srgbClr val="F0F6FF"/>
                </a:solidFill>
              </a:rPr>
              <a:t>❌ Giới hạn batch size</a:t>
            </a:r>
            <a:endParaRPr lang="en-US" sz="1300" dirty="0"/>
          </a:p>
        </p:txBody>
      </p:sp>
      <p:sp>
        <p:nvSpPr>
          <p:cNvPr id="13" name="Text 11"/>
          <p:cNvSpPr/>
          <p:nvPr/>
        </p:nvSpPr>
        <p:spPr>
          <a:xfrm>
            <a:off x="2880360" y="2249424"/>
            <a:ext cx="5760720" cy="594360"/>
          </a:xfrm>
          <a:prstGeom prst="rect">
            <a:avLst/>
          </a:prstGeom>
          <a:noFill/>
          <a:ln/>
        </p:spPr>
        <p:txBody>
          <a:bodyPr wrap="square" lIns="0" tIns="0" rIns="0" bIns="0" rtlCol="0" anchor="ctr"/>
          <a:lstStyle/>
          <a:p>
            <a:pPr indent="0" marL="0">
              <a:buNone/>
            </a:pPr>
            <a:r>
              <a:rPr lang="en-US" sz="1200" dirty="0">
                <a:solidFill>
                  <a:srgbClr val="94A3B8"/>
                </a:solidFill>
              </a:rPr>
              <a:t>Không thể chạy nhiều yêu cầu đồng thời dù GPU còn bộ nhớ thực tế</a:t>
            </a:r>
            <a:endParaRPr lang="en-US" sz="1200" dirty="0"/>
          </a:p>
        </p:txBody>
      </p:sp>
      <p:sp>
        <p:nvSpPr>
          <p:cNvPr id="14" name="Shape 12"/>
          <p:cNvSpPr/>
          <p:nvPr/>
        </p:nvSpPr>
        <p:spPr>
          <a:xfrm>
            <a:off x="365760" y="3063240"/>
            <a:ext cx="8412480" cy="749808"/>
          </a:xfrm>
          <a:prstGeom prst="rect">
            <a:avLst/>
          </a:prstGeom>
          <a:solidFill>
            <a:srgbClr val="1E2F47"/>
          </a:solidFill>
          <a:ln w="12700">
            <a:solidFill>
              <a:srgbClr val="162236"/>
            </a:solidFill>
            <a:prstDash val="solid"/>
          </a:ln>
        </p:spPr>
      </p:sp>
      <p:sp>
        <p:nvSpPr>
          <p:cNvPr id="15" name="Shape 13"/>
          <p:cNvSpPr/>
          <p:nvPr/>
        </p:nvSpPr>
        <p:spPr>
          <a:xfrm>
            <a:off x="2743200" y="3172968"/>
            <a:ext cx="0" cy="530352"/>
          </a:xfrm>
          <a:prstGeom prst="line">
            <a:avLst/>
          </a:prstGeom>
          <a:noFill/>
          <a:ln w="12700">
            <a:solidFill>
              <a:srgbClr val="7C3AED"/>
            </a:solidFill>
            <a:prstDash val="solid"/>
          </a:ln>
        </p:spPr>
      </p:sp>
      <p:sp>
        <p:nvSpPr>
          <p:cNvPr id="16" name="Text 14"/>
          <p:cNvSpPr/>
          <p:nvPr/>
        </p:nvSpPr>
        <p:spPr>
          <a:xfrm>
            <a:off x="502920" y="3118104"/>
            <a:ext cx="2194560" cy="594360"/>
          </a:xfrm>
          <a:prstGeom prst="rect">
            <a:avLst/>
          </a:prstGeom>
          <a:noFill/>
          <a:ln/>
        </p:spPr>
        <p:txBody>
          <a:bodyPr wrap="square" lIns="0" tIns="0" rIns="0" bIns="0" rtlCol="0" anchor="ctr"/>
          <a:lstStyle/>
          <a:p>
            <a:pPr indent="0" marL="0">
              <a:buNone/>
            </a:pPr>
            <a:r>
              <a:rPr lang="en-US" sz="1300" b="1" dirty="0">
                <a:solidFill>
                  <a:srgbClr val="F0F6FF"/>
                </a:solidFill>
              </a:rPr>
              <a:t>💸 Tăng chi phí vận hành</a:t>
            </a:r>
            <a:endParaRPr lang="en-US" sz="1300" dirty="0"/>
          </a:p>
        </p:txBody>
      </p:sp>
      <p:sp>
        <p:nvSpPr>
          <p:cNvPr id="17" name="Text 15"/>
          <p:cNvSpPr/>
          <p:nvPr/>
        </p:nvSpPr>
        <p:spPr>
          <a:xfrm>
            <a:off x="2880360" y="3118104"/>
            <a:ext cx="5760720" cy="594360"/>
          </a:xfrm>
          <a:prstGeom prst="rect">
            <a:avLst/>
          </a:prstGeom>
          <a:noFill/>
          <a:ln/>
        </p:spPr>
        <p:txBody>
          <a:bodyPr wrap="square" lIns="0" tIns="0" rIns="0" bIns="0" rtlCol="0" anchor="ctr"/>
          <a:lstStyle/>
          <a:p>
            <a:pPr indent="0" marL="0">
              <a:buNone/>
            </a:pPr>
            <a:r>
              <a:rPr lang="en-US" sz="1200" dirty="0">
                <a:solidFill>
                  <a:srgbClr val="94A3B8"/>
                </a:solidFill>
              </a:rPr>
              <a:t>Cần nhiều GPU hơn → tăng chi phí thuê hạ tầng đám mây</a:t>
            </a:r>
            <a:endParaRPr lang="en-US" sz="1200" dirty="0"/>
          </a:p>
        </p:txBody>
      </p:sp>
      <p:sp>
        <p:nvSpPr>
          <p:cNvPr id="18" name="Shape 16"/>
          <p:cNvSpPr/>
          <p:nvPr/>
        </p:nvSpPr>
        <p:spPr>
          <a:xfrm>
            <a:off x="365760" y="3931920"/>
            <a:ext cx="8412480" cy="749808"/>
          </a:xfrm>
          <a:prstGeom prst="rect">
            <a:avLst/>
          </a:prstGeom>
          <a:solidFill>
            <a:srgbClr val="1E2F47"/>
          </a:solidFill>
          <a:ln w="12700">
            <a:solidFill>
              <a:srgbClr val="162236"/>
            </a:solidFill>
            <a:prstDash val="solid"/>
          </a:ln>
        </p:spPr>
      </p:sp>
      <p:sp>
        <p:nvSpPr>
          <p:cNvPr id="19" name="Shape 17"/>
          <p:cNvSpPr/>
          <p:nvPr/>
        </p:nvSpPr>
        <p:spPr>
          <a:xfrm>
            <a:off x="2743200" y="4041648"/>
            <a:ext cx="0" cy="530352"/>
          </a:xfrm>
          <a:prstGeom prst="line">
            <a:avLst/>
          </a:prstGeom>
          <a:noFill/>
          <a:ln w="12700">
            <a:solidFill>
              <a:srgbClr val="7C3AED"/>
            </a:solidFill>
            <a:prstDash val="solid"/>
          </a:ln>
        </p:spPr>
      </p:sp>
      <p:sp>
        <p:nvSpPr>
          <p:cNvPr id="20" name="Text 18"/>
          <p:cNvSpPr/>
          <p:nvPr/>
        </p:nvSpPr>
        <p:spPr>
          <a:xfrm>
            <a:off x="502920" y="3986784"/>
            <a:ext cx="2194560" cy="594360"/>
          </a:xfrm>
          <a:prstGeom prst="rect">
            <a:avLst/>
          </a:prstGeom>
          <a:noFill/>
          <a:ln/>
        </p:spPr>
        <p:txBody>
          <a:bodyPr wrap="square" lIns="0" tIns="0" rIns="0" bIns="0" rtlCol="0" anchor="ctr"/>
          <a:lstStyle/>
          <a:p>
            <a:pPr indent="0" marL="0">
              <a:buNone/>
            </a:pPr>
            <a:r>
              <a:rPr lang="en-US" sz="1300" b="1" dirty="0">
                <a:solidFill>
                  <a:srgbClr val="F0F6FF"/>
                </a:solidFill>
              </a:rPr>
              <a:t>⏳ Giảm throughput</a:t>
            </a:r>
            <a:endParaRPr lang="en-US" sz="1300" dirty="0"/>
          </a:p>
        </p:txBody>
      </p:sp>
      <p:sp>
        <p:nvSpPr>
          <p:cNvPr id="21" name="Text 19"/>
          <p:cNvSpPr/>
          <p:nvPr/>
        </p:nvSpPr>
        <p:spPr>
          <a:xfrm>
            <a:off x="2880360" y="3986784"/>
            <a:ext cx="5760720" cy="594360"/>
          </a:xfrm>
          <a:prstGeom prst="rect">
            <a:avLst/>
          </a:prstGeom>
          <a:noFill/>
          <a:ln/>
        </p:spPr>
        <p:txBody>
          <a:bodyPr wrap="square" lIns="0" tIns="0" rIns="0" bIns="0" rtlCol="0" anchor="ctr"/>
          <a:lstStyle/>
          <a:p>
            <a:pPr indent="0" marL="0">
              <a:buNone/>
            </a:pPr>
            <a:r>
              <a:rPr lang="en-US" sz="1200" dirty="0">
                <a:solidFill>
                  <a:srgbClr val="94A3B8"/>
                </a:solidFill>
              </a:rPr>
              <a:t>Tài nguyên dành cho bộ nhớ nhàn rỗi không được tận dụng để xử lý thêm token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59E0B"/>
          </a:solidFill>
          <a:ln w="12700">
            <a:solidFill>
              <a:srgbClr val="F59E0B"/>
            </a:solidFill>
            <a:prstDash val="solid"/>
          </a:ln>
        </p:spPr>
      </p:sp>
      <p:sp>
        <p:nvSpPr>
          <p:cNvPr id="3" name="Text 1"/>
          <p:cNvSpPr/>
          <p:nvPr/>
        </p:nvSpPr>
        <p:spPr>
          <a:xfrm>
            <a:off x="365760" y="137160"/>
            <a:ext cx="8412480" cy="548640"/>
          </a:xfrm>
          <a:prstGeom prst="rect">
            <a:avLst/>
          </a:prstGeom>
          <a:noFill/>
          <a:ln/>
        </p:spPr>
        <p:txBody>
          <a:bodyPr wrap="square" lIns="0" tIns="0" rIns="0" bIns="0" rtlCol="0" anchor="ctr"/>
          <a:lstStyle/>
          <a:p>
            <a:pPr indent="0" marL="0">
              <a:buNone/>
            </a:pPr>
            <a:r>
              <a:rPr lang="en-US" sz="2600" b="1" dirty="0">
                <a:solidFill>
                  <a:srgbClr val="F0F6FF"/>
                </a:solidFill>
                <a:latin typeface="Calibri" pitchFamily="34" charset="0"/>
                <a:ea typeface="Calibri" pitchFamily="34" charset="-122"/>
                <a:cs typeface="Calibri" pitchFamily="34" charset="-120"/>
              </a:rPr>
              <a:t>💾 Tại Sao KV Cache Là "Kẻ Ngốn VRAM"?</a:t>
            </a:r>
            <a:endParaRPr lang="en-US" sz="2600" dirty="0"/>
          </a:p>
        </p:txBody>
      </p:sp>
      <p:sp>
        <p:nvSpPr>
          <p:cNvPr id="4" name="Shape 2"/>
          <p:cNvSpPr/>
          <p:nvPr/>
        </p:nvSpPr>
        <p:spPr>
          <a:xfrm>
            <a:off x="365760" y="822960"/>
            <a:ext cx="4023360" cy="2011680"/>
          </a:xfrm>
          <a:prstGeom prst="rect">
            <a:avLst/>
          </a:prstGeom>
          <a:solidFill>
            <a:srgbClr val="1E2F47"/>
          </a:solidFill>
          <a:ln w="12700">
            <a:solidFill>
              <a:srgbClr val="10B981"/>
            </a:solidFill>
            <a:prstDash val="solid"/>
          </a:ln>
          <a:effectLst>
            <a:outerShdw sx="100000" sy="100000" kx="0" ky="0" algn="bl" rotWithShape="0" blurRad="101600" dist="38100" dir="8100000">
              <a:srgbClr val="000000">
                <a:alpha val="25000"/>
              </a:srgbClr>
            </a:outerShdw>
          </a:effectLst>
        </p:spPr>
      </p:sp>
      <p:sp>
        <p:nvSpPr>
          <p:cNvPr id="5" name="Text 3"/>
          <p:cNvSpPr/>
          <p:nvPr/>
        </p:nvSpPr>
        <p:spPr>
          <a:xfrm>
            <a:off x="502920" y="868680"/>
            <a:ext cx="3749040" cy="365760"/>
          </a:xfrm>
          <a:prstGeom prst="rect">
            <a:avLst/>
          </a:prstGeom>
          <a:noFill/>
          <a:ln/>
        </p:spPr>
        <p:txBody>
          <a:bodyPr wrap="square" lIns="63500" tIns="63500" rIns="63500" bIns="63500" rtlCol="0" anchor="ctr"/>
          <a:lstStyle/>
          <a:p>
            <a:pPr indent="0" marL="0">
              <a:buNone/>
            </a:pPr>
            <a:r>
              <a:rPr lang="en-US" sz="1400" b="1" dirty="0">
                <a:solidFill>
                  <a:srgbClr val="10B981"/>
                </a:solidFill>
              </a:rPr>
              <a:t>Tại sao KV Cache tồn tại?</a:t>
            </a:r>
            <a:endParaRPr lang="en-US" sz="1400" dirty="0"/>
          </a:p>
        </p:txBody>
      </p:sp>
      <p:sp>
        <p:nvSpPr>
          <p:cNvPr id="6" name="Text 4"/>
          <p:cNvSpPr/>
          <p:nvPr/>
        </p:nvSpPr>
        <p:spPr>
          <a:xfrm>
            <a:off x="502920" y="1280160"/>
            <a:ext cx="3749040" cy="1371600"/>
          </a:xfrm>
          <a:prstGeom prst="rect">
            <a:avLst/>
          </a:prstGeom>
          <a:noFill/>
          <a:ln/>
        </p:spPr>
        <p:txBody>
          <a:bodyPr wrap="square" lIns="63500" tIns="63500" rIns="63500" bIns="63500" rtlCol="0" anchor="ctr"/>
          <a:lstStyle/>
          <a:p>
            <a:pPr indent="0" marL="0">
              <a:buNone/>
            </a:pPr>
            <a:r>
              <a:rPr lang="en-US" sz="1200" b="1" dirty="0">
                <a:solidFill>
                  <a:srgbClr val="F0F6FF"/>
                </a:solidFill>
              </a:rPr>
              <a:t>Mỗi token mới sinh ra</a:t>
            </a:r>
            <a:endParaRPr lang="en-US" sz="1200" dirty="0"/>
          </a:p>
          <a:p>
            <a:pPr indent="0" marL="0">
              <a:buNone/>
            </a:pPr>
            <a:r>
              <a:rPr lang="en-US" sz="1200" dirty="0">
                <a:solidFill>
                  <a:srgbClr val="F0F6FF"/>
                </a:solidFill>
              </a:rPr>
              <a:t>cần đọc lại Key &amp; Value của mọi token trước đó để tính Attention.
</a:t>
            </a:r>
            <a:endParaRPr lang="en-US" sz="1200" dirty="0"/>
          </a:p>
          <a:p>
            <a:pPr indent="0" marL="0">
              <a:buNone/>
            </a:pPr>
            <a:r>
              <a:rPr lang="en-US" sz="1200" b="1" dirty="0">
                <a:solidFill>
                  <a:srgbClr val="F0F6FF"/>
                </a:solidFill>
              </a:rPr>
              <a:t>KV Cache </a:t>
            </a:r>
            <a:pPr indent="0" marL="0">
              <a:buNone/>
            </a:pPr>
            <a:r>
              <a:rPr lang="en-US" sz="1200" dirty="0">
                <a:solidFill>
                  <a:srgbClr val="F0F6FF"/>
                </a:solidFill>
              </a:rPr>
              <a:t>lưu sẵn các vector này → tránh tính toán lại → tăng tốc độ sinh token.</a:t>
            </a:r>
            <a:endParaRPr lang="en-US" sz="1200" dirty="0"/>
          </a:p>
        </p:txBody>
      </p:sp>
      <p:sp>
        <p:nvSpPr>
          <p:cNvPr id="7" name="Shape 5"/>
          <p:cNvSpPr/>
          <p:nvPr/>
        </p:nvSpPr>
        <p:spPr>
          <a:xfrm>
            <a:off x="4663440" y="822960"/>
            <a:ext cx="4114800" cy="2011680"/>
          </a:xfrm>
          <a:prstGeom prst="rect">
            <a:avLst/>
          </a:prstGeom>
          <a:solidFill>
            <a:srgbClr val="1E2F47"/>
          </a:solidFill>
          <a:ln w="12700">
            <a:solidFill>
              <a:srgbClr val="F59E0B"/>
            </a:solidFill>
            <a:prstDash val="solid"/>
          </a:ln>
          <a:effectLst>
            <a:outerShdw sx="100000" sy="100000" kx="0" ky="0" algn="bl" rotWithShape="0" blurRad="101600" dist="38100" dir="8100000">
              <a:srgbClr val="000000">
                <a:alpha val="25000"/>
              </a:srgbClr>
            </a:outerShdw>
          </a:effectLst>
        </p:spPr>
      </p:sp>
      <p:sp>
        <p:nvSpPr>
          <p:cNvPr id="8" name="Text 6"/>
          <p:cNvSpPr/>
          <p:nvPr/>
        </p:nvSpPr>
        <p:spPr>
          <a:xfrm>
            <a:off x="4800600" y="868680"/>
            <a:ext cx="3840480" cy="365760"/>
          </a:xfrm>
          <a:prstGeom prst="rect">
            <a:avLst/>
          </a:prstGeom>
          <a:noFill/>
          <a:ln/>
        </p:spPr>
        <p:txBody>
          <a:bodyPr wrap="square" lIns="63500" tIns="63500" rIns="63500" bIns="63500" rtlCol="0" anchor="ctr"/>
          <a:lstStyle/>
          <a:p>
            <a:pPr indent="0" marL="0">
              <a:buNone/>
            </a:pPr>
            <a:r>
              <a:rPr lang="en-US" sz="1400" b="1" dirty="0">
                <a:solidFill>
                  <a:srgbClr val="F59E0B"/>
                </a:solidFill>
              </a:rPr>
              <a:t>Công thức tăng trưởng bộ nhớ</a:t>
            </a:r>
            <a:endParaRPr lang="en-US" sz="1400" dirty="0"/>
          </a:p>
        </p:txBody>
      </p:sp>
      <p:sp>
        <p:nvSpPr>
          <p:cNvPr id="9" name="Shape 7"/>
          <p:cNvSpPr/>
          <p:nvPr/>
        </p:nvSpPr>
        <p:spPr>
          <a:xfrm>
            <a:off x="4846320" y="1325880"/>
            <a:ext cx="3749040" cy="548640"/>
          </a:xfrm>
          <a:prstGeom prst="rect">
            <a:avLst/>
          </a:prstGeom>
          <a:solidFill>
            <a:srgbClr val="0D1B2D"/>
          </a:solidFill>
          <a:ln w="12700">
            <a:solidFill>
              <a:srgbClr val="F59E0B"/>
            </a:solidFill>
            <a:prstDash val="solid"/>
          </a:ln>
        </p:spPr>
      </p:sp>
      <p:sp>
        <p:nvSpPr>
          <p:cNvPr id="10" name="Text 8"/>
          <p:cNvSpPr/>
          <p:nvPr/>
        </p:nvSpPr>
        <p:spPr>
          <a:xfrm>
            <a:off x="4846320" y="1344168"/>
            <a:ext cx="3749040" cy="512064"/>
          </a:xfrm>
          <a:prstGeom prst="rect">
            <a:avLst/>
          </a:prstGeom>
          <a:noFill/>
          <a:ln/>
        </p:spPr>
        <p:txBody>
          <a:bodyPr wrap="square" lIns="0" tIns="0" rIns="0" bIns="0" rtlCol="0" anchor="ctr"/>
          <a:lstStyle/>
          <a:p>
            <a:pPr algn="ctr" indent="0" marL="0">
              <a:buNone/>
            </a:pPr>
            <a:r>
              <a:rPr lang="en-US" sz="1200" b="1" dirty="0">
                <a:solidFill>
                  <a:srgbClr val="F59E0B"/>
                </a:solidFill>
                <a:latin typeface="Consolas" pitchFamily="34" charset="0"/>
                <a:ea typeface="Consolas" pitchFamily="34" charset="-122"/>
                <a:cs typeface="Consolas" pitchFamily="34" charset="-120"/>
              </a:rPr>
              <a:t>KV Size ∝ Seq_Len × Num_Layers × Batch_Size</a:t>
            </a:r>
            <a:endParaRPr lang="en-US" sz="1200" dirty="0"/>
          </a:p>
        </p:txBody>
      </p:sp>
      <p:sp>
        <p:nvSpPr>
          <p:cNvPr id="11" name="Text 9"/>
          <p:cNvSpPr/>
          <p:nvPr/>
        </p:nvSpPr>
        <p:spPr>
          <a:xfrm>
            <a:off x="4800600" y="1965960"/>
            <a:ext cx="3840480" cy="685800"/>
          </a:xfrm>
          <a:prstGeom prst="rect">
            <a:avLst/>
          </a:prstGeom>
          <a:noFill/>
          <a:ln/>
        </p:spPr>
        <p:txBody>
          <a:bodyPr wrap="square" lIns="63500" tIns="63500" rIns="63500" bIns="63500" rtlCol="0" anchor="ctr"/>
          <a:lstStyle/>
          <a:p>
            <a:pPr indent="0" marL="0">
              <a:buNone/>
            </a:pPr>
            <a:r>
              <a:rPr lang="en-US" sz="1200" dirty="0">
                <a:solidFill>
                  <a:srgbClr val="94A3B8"/>
                </a:solidFill>
              </a:rPr>
              <a:t>Tăng tuyến tính theo cả 3 chiều → rất khó kiểm soát</a:t>
            </a:r>
            <a:endParaRPr lang="en-US" sz="1200" dirty="0"/>
          </a:p>
        </p:txBody>
      </p:sp>
      <p:sp>
        <p:nvSpPr>
          <p:cNvPr id="12" name="Shape 10"/>
          <p:cNvSpPr/>
          <p:nvPr/>
        </p:nvSpPr>
        <p:spPr>
          <a:xfrm>
            <a:off x="365760" y="2971800"/>
            <a:ext cx="8412480" cy="1417320"/>
          </a:xfrm>
          <a:prstGeom prst="rect">
            <a:avLst/>
          </a:prstGeom>
          <a:solidFill>
            <a:srgbClr val="1A0A00"/>
          </a:solidFill>
          <a:ln w="12700">
            <a:solidFill>
              <a:srgbClr val="F59E0B"/>
            </a:solidFill>
            <a:prstDash val="solid"/>
          </a:ln>
          <a:effectLst>
            <a:outerShdw sx="100000" sy="100000" kx="0" ky="0" algn="bl" rotWithShape="0" blurRad="101600" dist="38100" dir="8100000">
              <a:srgbClr val="000000">
                <a:alpha val="25000"/>
              </a:srgbClr>
            </a:outerShdw>
          </a:effectLst>
        </p:spPr>
      </p:sp>
      <p:sp>
        <p:nvSpPr>
          <p:cNvPr id="13" name="Text 11"/>
          <p:cNvSpPr/>
          <p:nvPr/>
        </p:nvSpPr>
        <p:spPr>
          <a:xfrm>
            <a:off x="548640" y="3017520"/>
            <a:ext cx="8046720" cy="365760"/>
          </a:xfrm>
          <a:prstGeom prst="rect">
            <a:avLst/>
          </a:prstGeom>
          <a:noFill/>
          <a:ln/>
        </p:spPr>
        <p:txBody>
          <a:bodyPr wrap="square" lIns="0" tIns="0" rIns="0" bIns="0" rtlCol="0" anchor="ctr"/>
          <a:lstStyle/>
          <a:p>
            <a:pPr indent="0" marL="0">
              <a:buNone/>
            </a:pPr>
            <a:r>
              <a:rPr lang="en-US" sz="1400" b="1" dirty="0">
                <a:solidFill>
                  <a:srgbClr val="F59E0B"/>
                </a:solidFill>
              </a:rPr>
              <a:t>📊 Ví dụ thực tế: Mô hình 70B Parameters</a:t>
            </a:r>
            <a:endParaRPr lang="en-US" sz="1400" dirty="0"/>
          </a:p>
        </p:txBody>
      </p:sp>
      <p:sp>
        <p:nvSpPr>
          <p:cNvPr id="14" name="Text 12"/>
          <p:cNvSpPr/>
          <p:nvPr/>
        </p:nvSpPr>
        <p:spPr>
          <a:xfrm>
            <a:off x="640080" y="3429000"/>
            <a:ext cx="1920240" cy="228600"/>
          </a:xfrm>
          <a:prstGeom prst="rect">
            <a:avLst/>
          </a:prstGeom>
          <a:noFill/>
          <a:ln/>
        </p:spPr>
        <p:txBody>
          <a:bodyPr wrap="square" lIns="0" tIns="0" rIns="0" bIns="0" rtlCol="0" anchor="ctr"/>
          <a:lstStyle/>
          <a:p>
            <a:pPr algn="ctr" indent="0" marL="0">
              <a:buNone/>
            </a:pPr>
            <a:r>
              <a:rPr lang="en-US" sz="1100" dirty="0">
                <a:solidFill>
                  <a:srgbClr val="94A3B8"/>
                </a:solidFill>
              </a:rPr>
              <a:t>Ngữ cảnh</a:t>
            </a:r>
            <a:endParaRPr lang="en-US" sz="1100" dirty="0"/>
          </a:p>
        </p:txBody>
      </p:sp>
      <p:sp>
        <p:nvSpPr>
          <p:cNvPr id="15" name="Text 13"/>
          <p:cNvSpPr/>
          <p:nvPr/>
        </p:nvSpPr>
        <p:spPr>
          <a:xfrm>
            <a:off x="640080" y="3657600"/>
            <a:ext cx="1920240" cy="502920"/>
          </a:xfrm>
          <a:prstGeom prst="rect">
            <a:avLst/>
          </a:prstGeom>
          <a:noFill/>
          <a:ln/>
        </p:spPr>
        <p:txBody>
          <a:bodyPr wrap="square" lIns="0" tIns="0" rIns="0" bIns="0" rtlCol="0" anchor="ctr"/>
          <a:lstStyle/>
          <a:p>
            <a:pPr algn="ctr" indent="0" marL="0">
              <a:buNone/>
            </a:pPr>
            <a:r>
              <a:rPr lang="en-US" sz="1600" b="1" dirty="0">
                <a:solidFill>
                  <a:srgbClr val="F0F6FF"/>
                </a:solidFill>
              </a:rPr>
              <a:t>8K tokens</a:t>
            </a:r>
            <a:endParaRPr lang="en-US" sz="1600" dirty="0"/>
          </a:p>
        </p:txBody>
      </p:sp>
      <p:sp>
        <p:nvSpPr>
          <p:cNvPr id="16" name="Text 14"/>
          <p:cNvSpPr/>
          <p:nvPr/>
        </p:nvSpPr>
        <p:spPr>
          <a:xfrm>
            <a:off x="2697480" y="3429000"/>
            <a:ext cx="1920240" cy="228600"/>
          </a:xfrm>
          <a:prstGeom prst="rect">
            <a:avLst/>
          </a:prstGeom>
          <a:noFill/>
          <a:ln/>
        </p:spPr>
        <p:txBody>
          <a:bodyPr wrap="square" lIns="0" tIns="0" rIns="0" bIns="0" rtlCol="0" anchor="ctr"/>
          <a:lstStyle/>
          <a:p>
            <a:pPr algn="ctr" indent="0" marL="0">
              <a:buNone/>
            </a:pPr>
            <a:r>
              <a:rPr lang="en-US" sz="1100" dirty="0">
                <a:solidFill>
                  <a:srgbClr val="94A3B8"/>
                </a:solidFill>
              </a:rPr>
              <a:t>Batch size</a:t>
            </a:r>
            <a:endParaRPr lang="en-US" sz="1100" dirty="0"/>
          </a:p>
        </p:txBody>
      </p:sp>
      <p:sp>
        <p:nvSpPr>
          <p:cNvPr id="17" name="Text 15"/>
          <p:cNvSpPr/>
          <p:nvPr/>
        </p:nvSpPr>
        <p:spPr>
          <a:xfrm>
            <a:off x="2697480" y="3657600"/>
            <a:ext cx="1920240" cy="502920"/>
          </a:xfrm>
          <a:prstGeom prst="rect">
            <a:avLst/>
          </a:prstGeom>
          <a:noFill/>
          <a:ln/>
        </p:spPr>
        <p:txBody>
          <a:bodyPr wrap="square" lIns="0" tIns="0" rIns="0" bIns="0" rtlCol="0" anchor="ctr"/>
          <a:lstStyle/>
          <a:p>
            <a:pPr algn="ctr" indent="0" marL="0">
              <a:buNone/>
            </a:pPr>
            <a:r>
              <a:rPr lang="en-US" sz="1600" b="1" dirty="0">
                <a:solidFill>
                  <a:srgbClr val="F0F6FF"/>
                </a:solidFill>
              </a:rPr>
              <a:t>32 request</a:t>
            </a:r>
            <a:endParaRPr lang="en-US" sz="1600" dirty="0"/>
          </a:p>
        </p:txBody>
      </p:sp>
      <p:sp>
        <p:nvSpPr>
          <p:cNvPr id="18" name="Text 16"/>
          <p:cNvSpPr/>
          <p:nvPr/>
        </p:nvSpPr>
        <p:spPr>
          <a:xfrm>
            <a:off x="4754880" y="3429000"/>
            <a:ext cx="1920240" cy="228600"/>
          </a:xfrm>
          <a:prstGeom prst="rect">
            <a:avLst/>
          </a:prstGeom>
          <a:noFill/>
          <a:ln/>
        </p:spPr>
        <p:txBody>
          <a:bodyPr wrap="square" lIns="0" tIns="0" rIns="0" bIns="0" rtlCol="0" anchor="ctr"/>
          <a:lstStyle/>
          <a:p>
            <a:pPr algn="ctr" indent="0" marL="0">
              <a:buNone/>
            </a:pPr>
            <a:r>
              <a:rPr lang="en-US" sz="1100" dirty="0">
                <a:solidFill>
                  <a:srgbClr val="94A3B8"/>
                </a:solidFill>
              </a:rPr>
              <a:t>KV Cache cần</a:t>
            </a:r>
            <a:endParaRPr lang="en-US" sz="1100" dirty="0"/>
          </a:p>
        </p:txBody>
      </p:sp>
      <p:sp>
        <p:nvSpPr>
          <p:cNvPr id="19" name="Text 17"/>
          <p:cNvSpPr/>
          <p:nvPr/>
        </p:nvSpPr>
        <p:spPr>
          <a:xfrm>
            <a:off x="4754880" y="3657600"/>
            <a:ext cx="1920240" cy="502920"/>
          </a:xfrm>
          <a:prstGeom prst="rect">
            <a:avLst/>
          </a:prstGeom>
          <a:noFill/>
          <a:ln/>
        </p:spPr>
        <p:txBody>
          <a:bodyPr wrap="square" lIns="0" tIns="0" rIns="0" bIns="0" rtlCol="0" anchor="ctr"/>
          <a:lstStyle/>
          <a:p>
            <a:pPr algn="ctr" indent="0" marL="0">
              <a:buNone/>
            </a:pPr>
            <a:r>
              <a:rPr lang="en-US" sz="2000" b="1" dirty="0">
                <a:solidFill>
                  <a:srgbClr val="EF4444"/>
                </a:solidFill>
              </a:rPr>
              <a:t>~640 GB</a:t>
            </a:r>
            <a:endParaRPr lang="en-US" sz="2000" dirty="0"/>
          </a:p>
        </p:txBody>
      </p:sp>
      <p:sp>
        <p:nvSpPr>
          <p:cNvPr id="20" name="Text 18"/>
          <p:cNvSpPr/>
          <p:nvPr/>
        </p:nvSpPr>
        <p:spPr>
          <a:xfrm>
            <a:off x="6812280" y="3429000"/>
            <a:ext cx="1920240" cy="228600"/>
          </a:xfrm>
          <a:prstGeom prst="rect">
            <a:avLst/>
          </a:prstGeom>
          <a:noFill/>
          <a:ln/>
        </p:spPr>
        <p:txBody>
          <a:bodyPr wrap="square" lIns="0" tIns="0" rIns="0" bIns="0" rtlCol="0" anchor="ctr"/>
          <a:lstStyle/>
          <a:p>
            <a:pPr algn="ctr" indent="0" marL="0">
              <a:buNone/>
            </a:pPr>
            <a:r>
              <a:rPr lang="en-US" sz="1100" dirty="0">
                <a:solidFill>
                  <a:srgbClr val="94A3B8"/>
                </a:solidFill>
              </a:rPr>
              <a:t>Trọng số mô hình</a:t>
            </a:r>
            <a:endParaRPr lang="en-US" sz="1100" dirty="0"/>
          </a:p>
        </p:txBody>
      </p:sp>
      <p:sp>
        <p:nvSpPr>
          <p:cNvPr id="21" name="Text 19"/>
          <p:cNvSpPr/>
          <p:nvPr/>
        </p:nvSpPr>
        <p:spPr>
          <a:xfrm>
            <a:off x="6812280" y="3657600"/>
            <a:ext cx="1920240" cy="502920"/>
          </a:xfrm>
          <a:prstGeom prst="rect">
            <a:avLst/>
          </a:prstGeom>
          <a:noFill/>
          <a:ln/>
        </p:spPr>
        <p:txBody>
          <a:bodyPr wrap="square" lIns="0" tIns="0" rIns="0" bIns="0" rtlCol="0" anchor="ctr"/>
          <a:lstStyle/>
          <a:p>
            <a:pPr algn="ctr" indent="0" marL="0">
              <a:buNone/>
            </a:pPr>
            <a:r>
              <a:rPr lang="en-US" sz="1600" b="1" dirty="0">
                <a:solidFill>
                  <a:srgbClr val="F0F6FF"/>
                </a:solidFill>
              </a:rPr>
              <a:t>~140 GB</a:t>
            </a:r>
            <a:endParaRPr lang="en-US" sz="1600" dirty="0"/>
          </a:p>
        </p:txBody>
      </p:sp>
      <p:sp>
        <p:nvSpPr>
          <p:cNvPr id="22" name="Text 20"/>
          <p:cNvSpPr/>
          <p:nvPr/>
        </p:nvSpPr>
        <p:spPr>
          <a:xfrm>
            <a:off x="548640" y="4206240"/>
            <a:ext cx="8046720" cy="365760"/>
          </a:xfrm>
          <a:prstGeom prst="rect">
            <a:avLst/>
          </a:prstGeom>
          <a:noFill/>
          <a:ln/>
        </p:spPr>
        <p:txBody>
          <a:bodyPr wrap="square" lIns="0" tIns="0" rIns="0" bIns="0" rtlCol="0" anchor="ctr"/>
          <a:lstStyle/>
          <a:p>
            <a:pPr algn="ctr" indent="0" marL="0">
              <a:buNone/>
            </a:pPr>
            <a:r>
              <a:rPr lang="en-US" sz="1200" b="1" dirty="0">
                <a:solidFill>
                  <a:srgbClr val="EF4444"/>
                </a:solidFill>
              </a:rPr>
              <a:t>⚠️  KV Cache chiếm gấp ~4.5× trọng số mô hình!</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w="12700">
            <a:solidFill>
              <a:srgbClr val="00D4FF"/>
            </a:solidFill>
            <a:prstDash val="solid"/>
          </a:ln>
        </p:spPr>
      </p:sp>
      <p:sp>
        <p:nvSpPr>
          <p:cNvPr id="3" name="Text 1"/>
          <p:cNvSpPr/>
          <p:nvPr/>
        </p:nvSpPr>
        <p:spPr>
          <a:xfrm>
            <a:off x="365760" y="137160"/>
            <a:ext cx="8412480" cy="548640"/>
          </a:xfrm>
          <a:prstGeom prst="rect">
            <a:avLst/>
          </a:prstGeom>
          <a:noFill/>
          <a:ln/>
        </p:spPr>
        <p:txBody>
          <a:bodyPr wrap="square" lIns="0" tIns="0" rIns="0" bIns="0" rtlCol="0" anchor="ctr"/>
          <a:lstStyle/>
          <a:p>
            <a:pPr indent="0" marL="0">
              <a:buNone/>
            </a:pPr>
            <a:r>
              <a:rPr lang="en-US" sz="2600" b="1" dirty="0">
                <a:solidFill>
                  <a:srgbClr val="F0F6FF"/>
                </a:solidFill>
                <a:latin typeface="Calibri" pitchFamily="34" charset="0"/>
                <a:ea typeface="Calibri" pitchFamily="34" charset="-122"/>
                <a:cs typeface="Calibri" pitchFamily="34" charset="-120"/>
              </a:rPr>
              <a:t>💡 PagedAttention — Ý Tưởng Từ Hệ Điều Hành</a:t>
            </a:r>
            <a:endParaRPr lang="en-US" sz="2600" dirty="0"/>
          </a:p>
        </p:txBody>
      </p:sp>
      <p:sp>
        <p:nvSpPr>
          <p:cNvPr id="4" name="Shape 2"/>
          <p:cNvSpPr/>
          <p:nvPr/>
        </p:nvSpPr>
        <p:spPr>
          <a:xfrm>
            <a:off x="365760" y="822960"/>
            <a:ext cx="8412480" cy="777240"/>
          </a:xfrm>
          <a:prstGeom prst="rect">
            <a:avLst/>
          </a:prstGeom>
          <a:solidFill>
            <a:srgbClr val="1E2F47"/>
          </a:solidFill>
          <a:ln w="12700">
            <a:solidFill>
              <a:srgbClr val="00D4FF"/>
            </a:solidFill>
            <a:prstDash val="solid"/>
          </a:ln>
        </p:spPr>
      </p:sp>
      <p:sp>
        <p:nvSpPr>
          <p:cNvPr id="5" name="Text 3"/>
          <p:cNvSpPr/>
          <p:nvPr/>
        </p:nvSpPr>
        <p:spPr>
          <a:xfrm>
            <a:off x="502920" y="886968"/>
            <a:ext cx="1371600" cy="365760"/>
          </a:xfrm>
          <a:prstGeom prst="rect">
            <a:avLst/>
          </a:prstGeom>
          <a:noFill/>
          <a:ln/>
        </p:spPr>
        <p:txBody>
          <a:bodyPr wrap="square" lIns="0" tIns="0" rIns="0" bIns="0" rtlCol="0" anchor="ctr"/>
          <a:lstStyle/>
          <a:p>
            <a:pPr indent="0" marL="0">
              <a:buNone/>
            </a:pPr>
            <a:r>
              <a:rPr lang="en-US" sz="1300" b="1" dirty="0">
                <a:solidFill>
                  <a:srgbClr val="00D4FF"/>
                </a:solidFill>
              </a:rPr>
              <a:t>🧠 Cảm hứng: </a:t>
            </a:r>
            <a:endParaRPr lang="en-US" sz="1300" dirty="0"/>
          </a:p>
        </p:txBody>
      </p:sp>
      <p:sp>
        <p:nvSpPr>
          <p:cNvPr id="6" name="Text 4"/>
          <p:cNvSpPr/>
          <p:nvPr/>
        </p:nvSpPr>
        <p:spPr>
          <a:xfrm>
            <a:off x="1645920" y="886968"/>
            <a:ext cx="6949440" cy="594360"/>
          </a:xfrm>
          <a:prstGeom prst="rect">
            <a:avLst/>
          </a:prstGeom>
          <a:noFill/>
          <a:ln/>
        </p:spPr>
        <p:txBody>
          <a:bodyPr wrap="square" lIns="0" tIns="0" rIns="0" bIns="0" rtlCol="0" anchor="ctr"/>
          <a:lstStyle/>
          <a:p>
            <a:pPr indent="0" marL="0">
              <a:buNone/>
            </a:pPr>
            <a:r>
              <a:rPr lang="en-US" sz="1200" dirty="0">
                <a:solidFill>
                  <a:srgbClr val="F0F6FF"/>
                </a:solidFill>
              </a:rPr>
              <a:t>Hệ điều hành hiện đại không cấp phát RAM liên tục cho mỗi tiến trình. Thay vào đó, chúng dùng bộ nhớ ảo (Virtual Memory) với các trang (pages) rời rạc → PagedAttention áp dụng triết lý này cho KV Cache của LLM.</a:t>
            </a:r>
            <a:endParaRPr lang="en-US" sz="1200" dirty="0"/>
          </a:p>
        </p:txBody>
      </p:sp>
      <p:sp>
        <p:nvSpPr>
          <p:cNvPr id="7" name="Text 5"/>
          <p:cNvSpPr/>
          <p:nvPr/>
        </p:nvSpPr>
        <p:spPr>
          <a:xfrm>
            <a:off x="365760" y="1783080"/>
            <a:ext cx="3931920" cy="320040"/>
          </a:xfrm>
          <a:prstGeom prst="rect">
            <a:avLst/>
          </a:prstGeom>
          <a:noFill/>
          <a:ln/>
        </p:spPr>
        <p:txBody>
          <a:bodyPr wrap="square" lIns="0" tIns="0" rIns="0" bIns="0" rtlCol="0" anchor="ctr"/>
          <a:lstStyle/>
          <a:p>
            <a:pPr algn="ctr" indent="0" marL="0">
              <a:buNone/>
            </a:pPr>
            <a:r>
              <a:rPr lang="en-US" sz="1300" b="1" dirty="0">
                <a:solidFill>
                  <a:srgbClr val="EF4444"/>
                </a:solidFill>
              </a:rPr>
              <a:t>TRƯỚC (Cấp phát tĩnh)</a:t>
            </a:r>
            <a:endParaRPr lang="en-US" sz="1300" dirty="0"/>
          </a:p>
        </p:txBody>
      </p:sp>
      <p:sp>
        <p:nvSpPr>
          <p:cNvPr id="8" name="Text 6"/>
          <p:cNvSpPr/>
          <p:nvPr/>
        </p:nvSpPr>
        <p:spPr>
          <a:xfrm>
            <a:off x="4846320" y="1783080"/>
            <a:ext cx="3931920" cy="320040"/>
          </a:xfrm>
          <a:prstGeom prst="rect">
            <a:avLst/>
          </a:prstGeom>
          <a:noFill/>
          <a:ln/>
        </p:spPr>
        <p:txBody>
          <a:bodyPr wrap="square" lIns="0" tIns="0" rIns="0" bIns="0" rtlCol="0" anchor="ctr"/>
          <a:lstStyle/>
          <a:p>
            <a:pPr algn="ctr" indent="0" marL="0">
              <a:buNone/>
            </a:pPr>
            <a:r>
              <a:rPr lang="en-US" sz="1300" b="1" dirty="0">
                <a:solidFill>
                  <a:srgbClr val="10B981"/>
                </a:solidFill>
              </a:rPr>
              <a:t>SAU (PagedAttention)</a:t>
            </a:r>
            <a:endParaRPr lang="en-US" sz="1300" dirty="0"/>
          </a:p>
        </p:txBody>
      </p:sp>
      <p:sp>
        <p:nvSpPr>
          <p:cNvPr id="9" name="Shape 7"/>
          <p:cNvSpPr/>
          <p:nvPr/>
        </p:nvSpPr>
        <p:spPr>
          <a:xfrm>
            <a:off x="365760" y="2194560"/>
            <a:ext cx="3931920" cy="1828800"/>
          </a:xfrm>
          <a:prstGeom prst="rect">
            <a:avLst/>
          </a:prstGeom>
          <a:solidFill>
            <a:srgbClr val="1E2F47"/>
          </a:solidFill>
          <a:ln w="12700">
            <a:solidFill>
              <a:srgbClr val="EF4444"/>
            </a:solidFill>
            <a:prstDash val="solid"/>
          </a:ln>
        </p:spPr>
      </p:sp>
      <p:sp>
        <p:nvSpPr>
          <p:cNvPr id="10" name="Shape 8"/>
          <p:cNvSpPr/>
          <p:nvPr/>
        </p:nvSpPr>
        <p:spPr>
          <a:xfrm>
            <a:off x="502920" y="2331720"/>
            <a:ext cx="804672" cy="685800"/>
          </a:xfrm>
          <a:prstGeom prst="rect">
            <a:avLst/>
          </a:prstGeom>
          <a:solidFill>
            <a:srgbClr val="7C3AED"/>
          </a:solidFill>
          <a:ln w="12700">
            <a:solidFill>
              <a:srgbClr val="0F1B2D"/>
            </a:solidFill>
            <a:prstDash val="solid"/>
          </a:ln>
        </p:spPr>
      </p:sp>
      <p:sp>
        <p:nvSpPr>
          <p:cNvPr id="11" name="Text 9"/>
          <p:cNvSpPr/>
          <p:nvPr/>
        </p:nvSpPr>
        <p:spPr>
          <a:xfrm>
            <a:off x="502920" y="2377440"/>
            <a:ext cx="804672" cy="594360"/>
          </a:xfrm>
          <a:prstGeom prst="rect">
            <a:avLst/>
          </a:prstGeom>
          <a:noFill/>
          <a:ln/>
        </p:spPr>
        <p:txBody>
          <a:bodyPr wrap="square" lIns="0" tIns="0" rIns="0" bIns="0" rtlCol="0" anchor="ctr"/>
          <a:lstStyle/>
          <a:p>
            <a:pPr algn="ctr" indent="0" marL="0">
              <a:buNone/>
            </a:pPr>
            <a:r>
              <a:rPr lang="en-US" sz="1000" dirty="0">
                <a:solidFill>
                  <a:srgbClr val="FFFFFF"/>
                </a:solidFill>
              </a:rPr>
              <a:t>Req A</a:t>
            </a:r>
            <a:endParaRPr lang="en-US" sz="1000" dirty="0"/>
          </a:p>
        </p:txBody>
      </p:sp>
      <p:sp>
        <p:nvSpPr>
          <p:cNvPr id="12" name="Shape 10"/>
          <p:cNvSpPr/>
          <p:nvPr/>
        </p:nvSpPr>
        <p:spPr>
          <a:xfrm>
            <a:off x="1417320" y="2331720"/>
            <a:ext cx="804672" cy="685800"/>
          </a:xfrm>
          <a:prstGeom prst="rect">
            <a:avLst/>
          </a:prstGeom>
          <a:solidFill>
            <a:srgbClr val="7C3AED"/>
          </a:solidFill>
          <a:ln w="12700">
            <a:solidFill>
              <a:srgbClr val="0F1B2D"/>
            </a:solidFill>
            <a:prstDash val="solid"/>
          </a:ln>
        </p:spPr>
      </p:sp>
      <p:sp>
        <p:nvSpPr>
          <p:cNvPr id="13" name="Text 11"/>
          <p:cNvSpPr/>
          <p:nvPr/>
        </p:nvSpPr>
        <p:spPr>
          <a:xfrm>
            <a:off x="1417320" y="2377440"/>
            <a:ext cx="804672" cy="594360"/>
          </a:xfrm>
          <a:prstGeom prst="rect">
            <a:avLst/>
          </a:prstGeom>
          <a:noFill/>
          <a:ln/>
        </p:spPr>
        <p:txBody>
          <a:bodyPr wrap="square" lIns="0" tIns="0" rIns="0" bIns="0" rtlCol="0" anchor="ctr"/>
          <a:lstStyle/>
          <a:p>
            <a:pPr algn="ctr" indent="0" marL="0">
              <a:buNone/>
            </a:pPr>
            <a:r>
              <a:rPr lang="en-US" sz="1000" dirty="0">
                <a:solidFill>
                  <a:srgbClr val="FFFFFF"/>
                </a:solidFill>
              </a:rPr>
              <a:t>Req B</a:t>
            </a:r>
            <a:endParaRPr lang="en-US" sz="1000" dirty="0"/>
          </a:p>
        </p:txBody>
      </p:sp>
      <p:sp>
        <p:nvSpPr>
          <p:cNvPr id="14" name="Shape 12"/>
          <p:cNvSpPr/>
          <p:nvPr/>
        </p:nvSpPr>
        <p:spPr>
          <a:xfrm>
            <a:off x="2331720" y="2331720"/>
            <a:ext cx="804672" cy="685800"/>
          </a:xfrm>
          <a:prstGeom prst="rect">
            <a:avLst/>
          </a:prstGeom>
          <a:solidFill>
            <a:srgbClr val="2D4A6E"/>
          </a:solidFill>
          <a:ln w="12700">
            <a:solidFill>
              <a:srgbClr val="0F1B2D"/>
            </a:solidFill>
            <a:prstDash val="solid"/>
          </a:ln>
        </p:spPr>
      </p:sp>
      <p:sp>
        <p:nvSpPr>
          <p:cNvPr id="15" name="Text 13"/>
          <p:cNvSpPr/>
          <p:nvPr/>
        </p:nvSpPr>
        <p:spPr>
          <a:xfrm>
            <a:off x="2331720" y="2377440"/>
            <a:ext cx="804672" cy="594360"/>
          </a:xfrm>
          <a:prstGeom prst="rect">
            <a:avLst/>
          </a:prstGeom>
          <a:noFill/>
          <a:ln/>
        </p:spPr>
        <p:txBody>
          <a:bodyPr wrap="square" lIns="0" tIns="0" rIns="0" bIns="0" rtlCol="0" anchor="ctr"/>
          <a:lstStyle/>
          <a:p>
            <a:pPr algn="ctr" indent="0" marL="0">
              <a:buNone/>
            </a:pPr>
            <a:r>
              <a:rPr lang="en-US" sz="1000" dirty="0">
                <a:solidFill>
                  <a:srgbClr val="FFFFFF"/>
                </a:solidFill>
              </a:rPr>
              <a:t>Dự trữ</a:t>
            </a:r>
            <a:endParaRPr lang="en-US" sz="1000" dirty="0"/>
          </a:p>
          <a:p>
            <a:pPr algn="ctr" indent="0" marL="0">
              <a:buNone/>
            </a:pPr>
            <a:r>
              <a:rPr lang="en-US" sz="1000" dirty="0">
                <a:solidFill>
                  <a:srgbClr val="FFFFFF"/>
                </a:solidFill>
              </a:rPr>
              <a:t>rỗng</a:t>
            </a:r>
            <a:endParaRPr lang="en-US" sz="1000" dirty="0"/>
          </a:p>
        </p:txBody>
      </p:sp>
      <p:sp>
        <p:nvSpPr>
          <p:cNvPr id="16" name="Shape 14"/>
          <p:cNvSpPr/>
          <p:nvPr/>
        </p:nvSpPr>
        <p:spPr>
          <a:xfrm>
            <a:off x="3246120" y="2331720"/>
            <a:ext cx="804672" cy="685800"/>
          </a:xfrm>
          <a:prstGeom prst="rect">
            <a:avLst/>
          </a:prstGeom>
          <a:solidFill>
            <a:srgbClr val="2D4A6E"/>
          </a:solidFill>
          <a:ln w="12700">
            <a:solidFill>
              <a:srgbClr val="0F1B2D"/>
            </a:solidFill>
            <a:prstDash val="solid"/>
          </a:ln>
        </p:spPr>
      </p:sp>
      <p:sp>
        <p:nvSpPr>
          <p:cNvPr id="17" name="Text 15"/>
          <p:cNvSpPr/>
          <p:nvPr/>
        </p:nvSpPr>
        <p:spPr>
          <a:xfrm>
            <a:off x="3246120" y="2377440"/>
            <a:ext cx="804672" cy="594360"/>
          </a:xfrm>
          <a:prstGeom prst="rect">
            <a:avLst/>
          </a:prstGeom>
          <a:noFill/>
          <a:ln/>
        </p:spPr>
        <p:txBody>
          <a:bodyPr wrap="square" lIns="0" tIns="0" rIns="0" bIns="0" rtlCol="0" anchor="ctr"/>
          <a:lstStyle/>
          <a:p>
            <a:pPr algn="ctr" indent="0" marL="0">
              <a:buNone/>
            </a:pPr>
            <a:r>
              <a:rPr lang="en-US" sz="1000" dirty="0">
                <a:solidFill>
                  <a:srgbClr val="FFFFFF"/>
                </a:solidFill>
              </a:rPr>
              <a:t>Rỗng</a:t>
            </a:r>
            <a:endParaRPr lang="en-US" sz="1000" dirty="0"/>
          </a:p>
        </p:txBody>
      </p:sp>
      <p:sp>
        <p:nvSpPr>
          <p:cNvPr id="18" name="Shape 16"/>
          <p:cNvSpPr/>
          <p:nvPr/>
        </p:nvSpPr>
        <p:spPr>
          <a:xfrm>
            <a:off x="502920" y="3154680"/>
            <a:ext cx="804672" cy="685800"/>
          </a:xfrm>
          <a:prstGeom prst="rect">
            <a:avLst/>
          </a:prstGeom>
          <a:solidFill>
            <a:srgbClr val="2D4A6E"/>
          </a:solidFill>
          <a:ln w="12700">
            <a:solidFill>
              <a:srgbClr val="0F1B2D"/>
            </a:solidFill>
            <a:prstDash val="solid"/>
          </a:ln>
        </p:spPr>
      </p:sp>
      <p:sp>
        <p:nvSpPr>
          <p:cNvPr id="19" name="Text 17"/>
          <p:cNvSpPr/>
          <p:nvPr/>
        </p:nvSpPr>
        <p:spPr>
          <a:xfrm>
            <a:off x="502920" y="3200400"/>
            <a:ext cx="804672" cy="594360"/>
          </a:xfrm>
          <a:prstGeom prst="rect">
            <a:avLst/>
          </a:prstGeom>
          <a:noFill/>
          <a:ln/>
        </p:spPr>
        <p:txBody>
          <a:bodyPr wrap="square" lIns="0" tIns="0" rIns="0" bIns="0" rtlCol="0" anchor="ctr"/>
          <a:lstStyle/>
          <a:p>
            <a:pPr algn="ctr" indent="0" marL="0">
              <a:buNone/>
            </a:pPr>
            <a:r>
              <a:rPr lang="en-US" sz="1000" dirty="0">
                <a:solidFill>
                  <a:srgbClr val="FFFFFF"/>
                </a:solidFill>
              </a:rPr>
              <a:t>Rỗng</a:t>
            </a:r>
            <a:endParaRPr lang="en-US" sz="1000" dirty="0"/>
          </a:p>
        </p:txBody>
      </p:sp>
      <p:sp>
        <p:nvSpPr>
          <p:cNvPr id="20" name="Shape 18"/>
          <p:cNvSpPr/>
          <p:nvPr/>
        </p:nvSpPr>
        <p:spPr>
          <a:xfrm>
            <a:off x="1417320" y="3154680"/>
            <a:ext cx="804672" cy="685800"/>
          </a:xfrm>
          <a:prstGeom prst="rect">
            <a:avLst/>
          </a:prstGeom>
          <a:solidFill>
            <a:srgbClr val="2D4A6E"/>
          </a:solidFill>
          <a:ln w="12700">
            <a:solidFill>
              <a:srgbClr val="0F1B2D"/>
            </a:solidFill>
            <a:prstDash val="solid"/>
          </a:ln>
        </p:spPr>
      </p:sp>
      <p:sp>
        <p:nvSpPr>
          <p:cNvPr id="21" name="Text 19"/>
          <p:cNvSpPr/>
          <p:nvPr/>
        </p:nvSpPr>
        <p:spPr>
          <a:xfrm>
            <a:off x="1417320" y="3200400"/>
            <a:ext cx="804672" cy="594360"/>
          </a:xfrm>
          <a:prstGeom prst="rect">
            <a:avLst/>
          </a:prstGeom>
          <a:noFill/>
          <a:ln/>
        </p:spPr>
        <p:txBody>
          <a:bodyPr wrap="square" lIns="0" tIns="0" rIns="0" bIns="0" rtlCol="0" anchor="ctr"/>
          <a:lstStyle/>
          <a:p>
            <a:pPr algn="ctr" indent="0" marL="0">
              <a:buNone/>
            </a:pPr>
            <a:r>
              <a:rPr lang="en-US" sz="1000" dirty="0">
                <a:solidFill>
                  <a:srgbClr val="FFFFFF"/>
                </a:solidFill>
              </a:rPr>
              <a:t>Rỗng</a:t>
            </a:r>
            <a:endParaRPr lang="en-US" sz="1000" dirty="0"/>
          </a:p>
        </p:txBody>
      </p:sp>
      <p:sp>
        <p:nvSpPr>
          <p:cNvPr id="22" name="Shape 20"/>
          <p:cNvSpPr/>
          <p:nvPr/>
        </p:nvSpPr>
        <p:spPr>
          <a:xfrm>
            <a:off x="2331720" y="3154680"/>
            <a:ext cx="804672" cy="685800"/>
          </a:xfrm>
          <a:prstGeom prst="rect">
            <a:avLst/>
          </a:prstGeom>
          <a:solidFill>
            <a:srgbClr val="2D4A6E"/>
          </a:solidFill>
          <a:ln w="12700">
            <a:solidFill>
              <a:srgbClr val="0F1B2D"/>
            </a:solidFill>
            <a:prstDash val="solid"/>
          </a:ln>
        </p:spPr>
      </p:sp>
      <p:sp>
        <p:nvSpPr>
          <p:cNvPr id="23" name="Text 21"/>
          <p:cNvSpPr/>
          <p:nvPr/>
        </p:nvSpPr>
        <p:spPr>
          <a:xfrm>
            <a:off x="2331720" y="3200400"/>
            <a:ext cx="804672" cy="594360"/>
          </a:xfrm>
          <a:prstGeom prst="rect">
            <a:avLst/>
          </a:prstGeom>
          <a:noFill/>
          <a:ln/>
        </p:spPr>
        <p:txBody>
          <a:bodyPr wrap="square" lIns="0" tIns="0" rIns="0" bIns="0" rtlCol="0" anchor="ctr"/>
          <a:lstStyle/>
          <a:p>
            <a:pPr algn="ctr" indent="0" marL="0">
              <a:buNone/>
            </a:pPr>
            <a:r>
              <a:rPr lang="en-US" sz="1000" dirty="0">
                <a:solidFill>
                  <a:srgbClr val="FFFFFF"/>
                </a:solidFill>
              </a:rPr>
              <a:t>Rỗng</a:t>
            </a:r>
            <a:endParaRPr lang="en-US" sz="1000" dirty="0"/>
          </a:p>
        </p:txBody>
      </p:sp>
      <p:sp>
        <p:nvSpPr>
          <p:cNvPr id="24" name="Shape 22"/>
          <p:cNvSpPr/>
          <p:nvPr/>
        </p:nvSpPr>
        <p:spPr>
          <a:xfrm>
            <a:off x="3246120" y="3154680"/>
            <a:ext cx="804672" cy="685800"/>
          </a:xfrm>
          <a:prstGeom prst="rect">
            <a:avLst/>
          </a:prstGeom>
          <a:solidFill>
            <a:srgbClr val="2D4A6E"/>
          </a:solidFill>
          <a:ln w="12700">
            <a:solidFill>
              <a:srgbClr val="0F1B2D"/>
            </a:solidFill>
            <a:prstDash val="solid"/>
          </a:ln>
        </p:spPr>
      </p:sp>
      <p:sp>
        <p:nvSpPr>
          <p:cNvPr id="25" name="Text 23"/>
          <p:cNvSpPr/>
          <p:nvPr/>
        </p:nvSpPr>
        <p:spPr>
          <a:xfrm>
            <a:off x="3246120" y="3200400"/>
            <a:ext cx="804672" cy="594360"/>
          </a:xfrm>
          <a:prstGeom prst="rect">
            <a:avLst/>
          </a:prstGeom>
          <a:noFill/>
          <a:ln/>
        </p:spPr>
        <p:txBody>
          <a:bodyPr wrap="square" lIns="0" tIns="0" rIns="0" bIns="0" rtlCol="0" anchor="ctr"/>
          <a:lstStyle/>
          <a:p>
            <a:pPr algn="ctr" indent="0" marL="0">
              <a:buNone/>
            </a:pPr>
            <a:r>
              <a:rPr lang="en-US" sz="1000" dirty="0">
                <a:solidFill>
                  <a:srgbClr val="FFFFFF"/>
                </a:solidFill>
              </a:rPr>
              <a:t>Rỗng</a:t>
            </a:r>
            <a:endParaRPr lang="en-US" sz="1000" dirty="0"/>
          </a:p>
        </p:txBody>
      </p:sp>
      <p:sp>
        <p:nvSpPr>
          <p:cNvPr id="26" name="Shape 24"/>
          <p:cNvSpPr/>
          <p:nvPr/>
        </p:nvSpPr>
        <p:spPr>
          <a:xfrm>
            <a:off x="4846320" y="2194560"/>
            <a:ext cx="3931920" cy="1828800"/>
          </a:xfrm>
          <a:prstGeom prst="rect">
            <a:avLst/>
          </a:prstGeom>
          <a:solidFill>
            <a:srgbClr val="1E2F47"/>
          </a:solidFill>
          <a:ln w="12700">
            <a:solidFill>
              <a:srgbClr val="10B981"/>
            </a:solidFill>
            <a:prstDash val="solid"/>
          </a:ln>
        </p:spPr>
      </p:sp>
      <p:sp>
        <p:nvSpPr>
          <p:cNvPr id="27" name="Shape 25"/>
          <p:cNvSpPr/>
          <p:nvPr/>
        </p:nvSpPr>
        <p:spPr>
          <a:xfrm>
            <a:off x="4983480" y="2331720"/>
            <a:ext cx="804672" cy="685800"/>
          </a:xfrm>
          <a:prstGeom prst="rect">
            <a:avLst/>
          </a:prstGeom>
          <a:solidFill>
            <a:srgbClr val="7C3AED"/>
          </a:solidFill>
          <a:ln w="12700">
            <a:solidFill>
              <a:srgbClr val="0F1B2D"/>
            </a:solidFill>
            <a:prstDash val="solid"/>
          </a:ln>
        </p:spPr>
      </p:sp>
      <p:sp>
        <p:nvSpPr>
          <p:cNvPr id="28" name="Text 26"/>
          <p:cNvSpPr/>
          <p:nvPr/>
        </p:nvSpPr>
        <p:spPr>
          <a:xfrm>
            <a:off x="4983480" y="2423160"/>
            <a:ext cx="804672" cy="502920"/>
          </a:xfrm>
          <a:prstGeom prst="rect">
            <a:avLst/>
          </a:prstGeom>
          <a:noFill/>
          <a:ln/>
        </p:spPr>
        <p:txBody>
          <a:bodyPr wrap="square" lIns="0" tIns="0" rIns="0" bIns="0" rtlCol="0" anchor="ctr"/>
          <a:lstStyle/>
          <a:p>
            <a:pPr algn="ctr" indent="0" marL="0">
              <a:buNone/>
            </a:pPr>
            <a:r>
              <a:rPr lang="en-US" sz="1100" b="1" dirty="0">
                <a:solidFill>
                  <a:srgbClr val="FFFFFF"/>
                </a:solidFill>
              </a:rPr>
              <a:t>A/p1</a:t>
            </a:r>
            <a:endParaRPr lang="en-US" sz="1100" dirty="0"/>
          </a:p>
        </p:txBody>
      </p:sp>
      <p:sp>
        <p:nvSpPr>
          <p:cNvPr id="29" name="Shape 27"/>
          <p:cNvSpPr/>
          <p:nvPr/>
        </p:nvSpPr>
        <p:spPr>
          <a:xfrm>
            <a:off x="5897880" y="2331720"/>
            <a:ext cx="804672" cy="685800"/>
          </a:xfrm>
          <a:prstGeom prst="rect">
            <a:avLst/>
          </a:prstGeom>
          <a:solidFill>
            <a:srgbClr val="F59E0B"/>
          </a:solidFill>
          <a:ln w="12700">
            <a:solidFill>
              <a:srgbClr val="0F1B2D"/>
            </a:solidFill>
            <a:prstDash val="solid"/>
          </a:ln>
        </p:spPr>
      </p:sp>
      <p:sp>
        <p:nvSpPr>
          <p:cNvPr id="30" name="Text 28"/>
          <p:cNvSpPr/>
          <p:nvPr/>
        </p:nvSpPr>
        <p:spPr>
          <a:xfrm>
            <a:off x="5897880" y="2423160"/>
            <a:ext cx="804672" cy="502920"/>
          </a:xfrm>
          <a:prstGeom prst="rect">
            <a:avLst/>
          </a:prstGeom>
          <a:noFill/>
          <a:ln/>
        </p:spPr>
        <p:txBody>
          <a:bodyPr wrap="square" lIns="0" tIns="0" rIns="0" bIns="0" rtlCol="0" anchor="ctr"/>
          <a:lstStyle/>
          <a:p>
            <a:pPr algn="ctr" indent="0" marL="0">
              <a:buNone/>
            </a:pPr>
            <a:r>
              <a:rPr lang="en-US" sz="1100" b="1" dirty="0">
                <a:solidFill>
                  <a:srgbClr val="FFFFFF"/>
                </a:solidFill>
              </a:rPr>
              <a:t>B/p1</a:t>
            </a:r>
            <a:endParaRPr lang="en-US" sz="1100" dirty="0"/>
          </a:p>
        </p:txBody>
      </p:sp>
      <p:sp>
        <p:nvSpPr>
          <p:cNvPr id="31" name="Shape 29"/>
          <p:cNvSpPr/>
          <p:nvPr/>
        </p:nvSpPr>
        <p:spPr>
          <a:xfrm>
            <a:off x="6812280" y="2331720"/>
            <a:ext cx="804672" cy="685800"/>
          </a:xfrm>
          <a:prstGeom prst="rect">
            <a:avLst/>
          </a:prstGeom>
          <a:solidFill>
            <a:srgbClr val="7C3AED"/>
          </a:solidFill>
          <a:ln w="12700">
            <a:solidFill>
              <a:srgbClr val="0F1B2D"/>
            </a:solidFill>
            <a:prstDash val="solid"/>
          </a:ln>
        </p:spPr>
      </p:sp>
      <p:sp>
        <p:nvSpPr>
          <p:cNvPr id="32" name="Text 30"/>
          <p:cNvSpPr/>
          <p:nvPr/>
        </p:nvSpPr>
        <p:spPr>
          <a:xfrm>
            <a:off x="6812280" y="2423160"/>
            <a:ext cx="804672" cy="502920"/>
          </a:xfrm>
          <a:prstGeom prst="rect">
            <a:avLst/>
          </a:prstGeom>
          <a:noFill/>
          <a:ln/>
        </p:spPr>
        <p:txBody>
          <a:bodyPr wrap="square" lIns="0" tIns="0" rIns="0" bIns="0" rtlCol="0" anchor="ctr"/>
          <a:lstStyle/>
          <a:p>
            <a:pPr algn="ctr" indent="0" marL="0">
              <a:buNone/>
            </a:pPr>
            <a:r>
              <a:rPr lang="en-US" sz="1100" b="1" dirty="0">
                <a:solidFill>
                  <a:srgbClr val="FFFFFF"/>
                </a:solidFill>
              </a:rPr>
              <a:t>A/p2</a:t>
            </a:r>
            <a:endParaRPr lang="en-US" sz="1100" dirty="0"/>
          </a:p>
        </p:txBody>
      </p:sp>
      <p:sp>
        <p:nvSpPr>
          <p:cNvPr id="33" name="Shape 31"/>
          <p:cNvSpPr/>
          <p:nvPr/>
        </p:nvSpPr>
        <p:spPr>
          <a:xfrm>
            <a:off x="7726680" y="2331720"/>
            <a:ext cx="804672" cy="685800"/>
          </a:xfrm>
          <a:prstGeom prst="rect">
            <a:avLst/>
          </a:prstGeom>
          <a:solidFill>
            <a:srgbClr val="10B981"/>
          </a:solidFill>
          <a:ln w="12700">
            <a:solidFill>
              <a:srgbClr val="0F1B2D"/>
            </a:solidFill>
            <a:prstDash val="solid"/>
          </a:ln>
        </p:spPr>
      </p:sp>
      <p:sp>
        <p:nvSpPr>
          <p:cNvPr id="34" name="Text 32"/>
          <p:cNvSpPr/>
          <p:nvPr/>
        </p:nvSpPr>
        <p:spPr>
          <a:xfrm>
            <a:off x="7726680" y="2423160"/>
            <a:ext cx="804672" cy="502920"/>
          </a:xfrm>
          <a:prstGeom prst="rect">
            <a:avLst/>
          </a:prstGeom>
          <a:noFill/>
          <a:ln/>
        </p:spPr>
        <p:txBody>
          <a:bodyPr wrap="square" lIns="0" tIns="0" rIns="0" bIns="0" rtlCol="0" anchor="ctr"/>
          <a:lstStyle/>
          <a:p>
            <a:pPr algn="ctr" indent="0" marL="0">
              <a:buNone/>
            </a:pPr>
            <a:r>
              <a:rPr lang="en-US" sz="1100" b="1" dirty="0">
                <a:solidFill>
                  <a:srgbClr val="FFFFFF"/>
                </a:solidFill>
              </a:rPr>
              <a:t>C/p1</a:t>
            </a:r>
            <a:endParaRPr lang="en-US" sz="1100" dirty="0"/>
          </a:p>
        </p:txBody>
      </p:sp>
      <p:sp>
        <p:nvSpPr>
          <p:cNvPr id="35" name="Shape 33"/>
          <p:cNvSpPr/>
          <p:nvPr/>
        </p:nvSpPr>
        <p:spPr>
          <a:xfrm>
            <a:off x="4983480" y="3154680"/>
            <a:ext cx="804672" cy="685800"/>
          </a:xfrm>
          <a:prstGeom prst="rect">
            <a:avLst/>
          </a:prstGeom>
          <a:solidFill>
            <a:srgbClr val="F59E0B"/>
          </a:solidFill>
          <a:ln w="12700">
            <a:solidFill>
              <a:srgbClr val="0F1B2D"/>
            </a:solidFill>
            <a:prstDash val="solid"/>
          </a:ln>
        </p:spPr>
      </p:sp>
      <p:sp>
        <p:nvSpPr>
          <p:cNvPr id="36" name="Text 34"/>
          <p:cNvSpPr/>
          <p:nvPr/>
        </p:nvSpPr>
        <p:spPr>
          <a:xfrm>
            <a:off x="4983480" y="3246120"/>
            <a:ext cx="804672" cy="502920"/>
          </a:xfrm>
          <a:prstGeom prst="rect">
            <a:avLst/>
          </a:prstGeom>
          <a:noFill/>
          <a:ln/>
        </p:spPr>
        <p:txBody>
          <a:bodyPr wrap="square" lIns="0" tIns="0" rIns="0" bIns="0" rtlCol="0" anchor="ctr"/>
          <a:lstStyle/>
          <a:p>
            <a:pPr algn="ctr" indent="0" marL="0">
              <a:buNone/>
            </a:pPr>
            <a:r>
              <a:rPr lang="en-US" sz="1100" b="1" dirty="0">
                <a:solidFill>
                  <a:srgbClr val="FFFFFF"/>
                </a:solidFill>
              </a:rPr>
              <a:t>B/p2</a:t>
            </a:r>
            <a:endParaRPr lang="en-US" sz="1100" dirty="0"/>
          </a:p>
        </p:txBody>
      </p:sp>
      <p:sp>
        <p:nvSpPr>
          <p:cNvPr id="37" name="Shape 35"/>
          <p:cNvSpPr/>
          <p:nvPr/>
        </p:nvSpPr>
        <p:spPr>
          <a:xfrm>
            <a:off x="5897880" y="3154680"/>
            <a:ext cx="804672" cy="685800"/>
          </a:xfrm>
          <a:prstGeom prst="rect">
            <a:avLst/>
          </a:prstGeom>
          <a:solidFill>
            <a:srgbClr val="10B981"/>
          </a:solidFill>
          <a:ln w="12700">
            <a:solidFill>
              <a:srgbClr val="0F1B2D"/>
            </a:solidFill>
            <a:prstDash val="solid"/>
          </a:ln>
        </p:spPr>
      </p:sp>
      <p:sp>
        <p:nvSpPr>
          <p:cNvPr id="38" name="Text 36"/>
          <p:cNvSpPr/>
          <p:nvPr/>
        </p:nvSpPr>
        <p:spPr>
          <a:xfrm>
            <a:off x="5897880" y="3246120"/>
            <a:ext cx="804672" cy="502920"/>
          </a:xfrm>
          <a:prstGeom prst="rect">
            <a:avLst/>
          </a:prstGeom>
          <a:noFill/>
          <a:ln/>
        </p:spPr>
        <p:txBody>
          <a:bodyPr wrap="square" lIns="0" tIns="0" rIns="0" bIns="0" rtlCol="0" anchor="ctr"/>
          <a:lstStyle/>
          <a:p>
            <a:pPr algn="ctr" indent="0" marL="0">
              <a:buNone/>
            </a:pPr>
            <a:r>
              <a:rPr lang="en-US" sz="1100" b="1" dirty="0">
                <a:solidFill>
                  <a:srgbClr val="FFFFFF"/>
                </a:solidFill>
              </a:rPr>
              <a:t>C/p2</a:t>
            </a:r>
            <a:endParaRPr lang="en-US" sz="1100" dirty="0"/>
          </a:p>
        </p:txBody>
      </p:sp>
      <p:sp>
        <p:nvSpPr>
          <p:cNvPr id="39" name="Shape 37"/>
          <p:cNvSpPr/>
          <p:nvPr/>
        </p:nvSpPr>
        <p:spPr>
          <a:xfrm>
            <a:off x="6812280" y="3154680"/>
            <a:ext cx="804672" cy="685800"/>
          </a:xfrm>
          <a:prstGeom prst="rect">
            <a:avLst/>
          </a:prstGeom>
          <a:solidFill>
            <a:srgbClr val="7C3AED"/>
          </a:solidFill>
          <a:ln w="12700">
            <a:solidFill>
              <a:srgbClr val="0F1B2D"/>
            </a:solidFill>
            <a:prstDash val="solid"/>
          </a:ln>
        </p:spPr>
      </p:sp>
      <p:sp>
        <p:nvSpPr>
          <p:cNvPr id="40" name="Text 38"/>
          <p:cNvSpPr/>
          <p:nvPr/>
        </p:nvSpPr>
        <p:spPr>
          <a:xfrm>
            <a:off x="6812280" y="3246120"/>
            <a:ext cx="804672" cy="502920"/>
          </a:xfrm>
          <a:prstGeom prst="rect">
            <a:avLst/>
          </a:prstGeom>
          <a:noFill/>
          <a:ln/>
        </p:spPr>
        <p:txBody>
          <a:bodyPr wrap="square" lIns="0" tIns="0" rIns="0" bIns="0" rtlCol="0" anchor="ctr"/>
          <a:lstStyle/>
          <a:p>
            <a:pPr algn="ctr" indent="0" marL="0">
              <a:buNone/>
            </a:pPr>
            <a:r>
              <a:rPr lang="en-US" sz="1100" b="1" dirty="0">
                <a:solidFill>
                  <a:srgbClr val="FFFFFF"/>
                </a:solidFill>
              </a:rPr>
              <a:t>A/p3</a:t>
            </a:r>
            <a:endParaRPr lang="en-US" sz="1100" dirty="0"/>
          </a:p>
        </p:txBody>
      </p:sp>
      <p:sp>
        <p:nvSpPr>
          <p:cNvPr id="41" name="Shape 39"/>
          <p:cNvSpPr/>
          <p:nvPr/>
        </p:nvSpPr>
        <p:spPr>
          <a:xfrm>
            <a:off x="7726680" y="3154680"/>
            <a:ext cx="804672" cy="685800"/>
          </a:xfrm>
          <a:prstGeom prst="rect">
            <a:avLst/>
          </a:prstGeom>
          <a:solidFill>
            <a:srgbClr val="10B981"/>
          </a:solidFill>
          <a:ln w="12700">
            <a:solidFill>
              <a:srgbClr val="0F1B2D"/>
            </a:solidFill>
            <a:prstDash val="solid"/>
          </a:ln>
        </p:spPr>
      </p:sp>
      <p:sp>
        <p:nvSpPr>
          <p:cNvPr id="42" name="Text 40"/>
          <p:cNvSpPr/>
          <p:nvPr/>
        </p:nvSpPr>
        <p:spPr>
          <a:xfrm>
            <a:off x="7726680" y="3246120"/>
            <a:ext cx="804672" cy="502920"/>
          </a:xfrm>
          <a:prstGeom prst="rect">
            <a:avLst/>
          </a:prstGeom>
          <a:noFill/>
          <a:ln/>
        </p:spPr>
        <p:txBody>
          <a:bodyPr wrap="square" lIns="0" tIns="0" rIns="0" bIns="0" rtlCol="0" anchor="ctr"/>
          <a:lstStyle/>
          <a:p>
            <a:pPr algn="ctr" indent="0" marL="0">
              <a:buNone/>
            </a:pPr>
            <a:r>
              <a:rPr lang="en-US" sz="1100" b="1" dirty="0">
                <a:solidFill>
                  <a:srgbClr val="FFFFFF"/>
                </a:solidFill>
              </a:rPr>
              <a:t>C/p3</a:t>
            </a:r>
            <a:endParaRPr lang="en-US" sz="1100" dirty="0"/>
          </a:p>
        </p:txBody>
      </p:sp>
      <p:sp>
        <p:nvSpPr>
          <p:cNvPr id="43" name="Shape 41"/>
          <p:cNvSpPr/>
          <p:nvPr/>
        </p:nvSpPr>
        <p:spPr>
          <a:xfrm>
            <a:off x="4352544" y="2194560"/>
            <a:ext cx="438912" cy="1828800"/>
          </a:xfrm>
          <a:prstGeom prst="rect">
            <a:avLst/>
          </a:prstGeom>
          <a:solidFill>
            <a:srgbClr val="162236"/>
          </a:solidFill>
          <a:ln w="12700">
            <a:solidFill>
              <a:srgbClr val="162236"/>
            </a:solidFill>
            <a:prstDash val="solid"/>
          </a:ln>
        </p:spPr>
      </p:sp>
      <p:sp>
        <p:nvSpPr>
          <p:cNvPr id="44" name="Text 42"/>
          <p:cNvSpPr/>
          <p:nvPr/>
        </p:nvSpPr>
        <p:spPr>
          <a:xfrm>
            <a:off x="4352544" y="2926080"/>
            <a:ext cx="438912" cy="365760"/>
          </a:xfrm>
          <a:prstGeom prst="rect">
            <a:avLst/>
          </a:prstGeom>
          <a:noFill/>
          <a:ln/>
        </p:spPr>
        <p:txBody>
          <a:bodyPr wrap="square" lIns="0" tIns="0" rIns="0" bIns="0" rtlCol="0" anchor="ctr"/>
          <a:lstStyle/>
          <a:p>
            <a:pPr algn="ctr" indent="0" marL="0">
              <a:buNone/>
            </a:pPr>
            <a:r>
              <a:rPr lang="en-US" sz="1400" b="1" dirty="0">
                <a:solidFill>
                  <a:srgbClr val="94A3B8"/>
                </a:solidFill>
              </a:rPr>
              <a:t>VS</a:t>
            </a:r>
            <a:endParaRPr lang="en-US" sz="1400" dirty="0"/>
          </a:p>
        </p:txBody>
      </p:sp>
      <p:sp>
        <p:nvSpPr>
          <p:cNvPr id="45" name="Text 43"/>
          <p:cNvSpPr/>
          <p:nvPr/>
        </p:nvSpPr>
        <p:spPr>
          <a:xfrm>
            <a:off x="365760" y="4096512"/>
            <a:ext cx="3931920" cy="274320"/>
          </a:xfrm>
          <a:prstGeom prst="rect">
            <a:avLst/>
          </a:prstGeom>
          <a:noFill/>
          <a:ln/>
        </p:spPr>
        <p:txBody>
          <a:bodyPr wrap="square" lIns="0" tIns="0" rIns="0" bIns="0" rtlCol="0" anchor="ctr"/>
          <a:lstStyle/>
          <a:p>
            <a:pPr algn="ctr" indent="0" marL="0">
              <a:buNone/>
            </a:pPr>
            <a:r>
              <a:rPr lang="en-US" sz="1100" dirty="0">
                <a:solidFill>
                  <a:srgbClr val="EF4444"/>
                </a:solidFill>
              </a:rPr>
              <a:t>75% bộ nhớ lãng phí 🔴</a:t>
            </a:r>
            <a:endParaRPr lang="en-US" sz="1100" dirty="0"/>
          </a:p>
        </p:txBody>
      </p:sp>
      <p:sp>
        <p:nvSpPr>
          <p:cNvPr id="46" name="Text 44"/>
          <p:cNvSpPr/>
          <p:nvPr/>
        </p:nvSpPr>
        <p:spPr>
          <a:xfrm>
            <a:off x="4846320" y="4096512"/>
            <a:ext cx="3931920" cy="274320"/>
          </a:xfrm>
          <a:prstGeom prst="rect">
            <a:avLst/>
          </a:prstGeom>
          <a:noFill/>
          <a:ln/>
        </p:spPr>
        <p:txBody>
          <a:bodyPr wrap="square" lIns="0" tIns="0" rIns="0" bIns="0" rtlCol="0" anchor="ctr"/>
          <a:lstStyle/>
          <a:p>
            <a:pPr algn="ctr" indent="0" marL="0">
              <a:buNone/>
            </a:pPr>
            <a:r>
              <a:rPr lang="en-US" sz="1100" dirty="0">
                <a:solidFill>
                  <a:srgbClr val="10B981"/>
                </a:solidFill>
              </a:rPr>
              <a:t>Không lãng phí, xen kẽ linh hoạt ✅</a:t>
            </a:r>
            <a:endParaRPr lang="en-US" sz="1100" dirty="0"/>
          </a:p>
        </p:txBody>
      </p:sp>
      <p:sp>
        <p:nvSpPr>
          <p:cNvPr id="47" name="Text 45"/>
          <p:cNvSpPr/>
          <p:nvPr/>
        </p:nvSpPr>
        <p:spPr>
          <a:xfrm>
            <a:off x="4846320" y="4434840"/>
            <a:ext cx="3931920" cy="274320"/>
          </a:xfrm>
          <a:prstGeom prst="rect">
            <a:avLst/>
          </a:prstGeom>
          <a:noFill/>
          <a:ln/>
        </p:spPr>
        <p:txBody>
          <a:bodyPr wrap="square" lIns="0" tIns="0" rIns="0" bIns="0" rtlCol="0" anchor="ctr"/>
          <a:lstStyle/>
          <a:p>
            <a:pPr algn="ctr" indent="0" marL="0">
              <a:buNone/>
            </a:pPr>
            <a:r>
              <a:rPr lang="en-US" sz="1000" dirty="0">
                <a:solidFill>
                  <a:srgbClr val="94A3B8"/>
                </a:solidFill>
              </a:rPr>
              <a:t>🔵 Req A   🟡 Req B   🟢 Req C</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w="12700">
            <a:solidFill>
              <a:srgbClr val="10B981"/>
            </a:solidFill>
            <a:prstDash val="solid"/>
          </a:ln>
        </p:spPr>
      </p:sp>
      <p:sp>
        <p:nvSpPr>
          <p:cNvPr id="3" name="Text 1"/>
          <p:cNvSpPr/>
          <p:nvPr/>
        </p:nvSpPr>
        <p:spPr>
          <a:xfrm>
            <a:off x="365760" y="137160"/>
            <a:ext cx="8412480" cy="548640"/>
          </a:xfrm>
          <a:prstGeom prst="rect">
            <a:avLst/>
          </a:prstGeom>
          <a:noFill/>
          <a:ln/>
        </p:spPr>
        <p:txBody>
          <a:bodyPr wrap="square" lIns="0" tIns="0" rIns="0" bIns="0" rtlCol="0" anchor="ctr"/>
          <a:lstStyle/>
          <a:p>
            <a:pPr indent="0" marL="0">
              <a:buNone/>
            </a:pPr>
            <a:r>
              <a:rPr lang="en-US" sz="2600" b="1" dirty="0">
                <a:solidFill>
                  <a:srgbClr val="F0F6FF"/>
                </a:solidFill>
                <a:latin typeface="Calibri" pitchFamily="34" charset="0"/>
                <a:ea typeface="Calibri" pitchFamily="34" charset="-122"/>
                <a:cs typeface="Calibri" pitchFamily="34" charset="-120"/>
              </a:rPr>
              <a:t>⚙️  Cơ Chế 1: Chia Khối (Blocking)</a:t>
            </a:r>
            <a:endParaRPr lang="en-US" sz="2600" dirty="0"/>
          </a:p>
        </p:txBody>
      </p:sp>
      <p:sp>
        <p:nvSpPr>
          <p:cNvPr id="4" name="Shape 2"/>
          <p:cNvSpPr/>
          <p:nvPr/>
        </p:nvSpPr>
        <p:spPr>
          <a:xfrm>
            <a:off x="365760" y="868680"/>
            <a:ext cx="8412480" cy="1207008"/>
          </a:xfrm>
          <a:prstGeom prst="rect">
            <a:avLst/>
          </a:prstGeom>
          <a:solidFill>
            <a:srgbClr val="1E2F47"/>
          </a:solidFill>
          <a:ln w="12700">
            <a:solidFill>
              <a:srgbClr val="00D4FF"/>
            </a:solidFill>
            <a:prstDash val="solid"/>
          </a:ln>
          <a:effectLst>
            <a:outerShdw sx="100000" sy="100000" kx="0" ky="0" algn="bl" rotWithShape="0" blurRad="101600" dist="38100" dir="8100000">
              <a:srgbClr val="000000">
                <a:alpha val="25000"/>
              </a:srgbClr>
            </a:outerShdw>
          </a:effectLst>
        </p:spPr>
      </p:sp>
      <p:sp>
        <p:nvSpPr>
          <p:cNvPr id="5" name="Shape 3"/>
          <p:cNvSpPr/>
          <p:nvPr/>
        </p:nvSpPr>
        <p:spPr>
          <a:xfrm>
            <a:off x="457200" y="1097280"/>
            <a:ext cx="594360" cy="594360"/>
          </a:xfrm>
          <a:prstGeom prst="ellipse">
            <a:avLst/>
          </a:prstGeom>
          <a:solidFill>
            <a:srgbClr val="00D4FF"/>
          </a:solidFill>
          <a:ln w="12700">
            <a:solidFill>
              <a:srgbClr val="00D4FF"/>
            </a:solidFill>
            <a:prstDash val="solid"/>
          </a:ln>
        </p:spPr>
      </p:sp>
      <p:sp>
        <p:nvSpPr>
          <p:cNvPr id="6" name="Text 4"/>
          <p:cNvSpPr/>
          <p:nvPr/>
        </p:nvSpPr>
        <p:spPr>
          <a:xfrm>
            <a:off x="457200" y="1097280"/>
            <a:ext cx="594360" cy="594360"/>
          </a:xfrm>
          <a:prstGeom prst="rect">
            <a:avLst/>
          </a:prstGeom>
          <a:noFill/>
          <a:ln/>
        </p:spPr>
        <p:txBody>
          <a:bodyPr wrap="square" lIns="0" tIns="0" rIns="0" bIns="0" rtlCol="0" anchor="ctr"/>
          <a:lstStyle/>
          <a:p>
            <a:pPr algn="ctr" indent="0" marL="0">
              <a:buNone/>
            </a:pPr>
            <a:r>
              <a:rPr lang="en-US" sz="1800" b="1" dirty="0">
                <a:solidFill>
                  <a:srgbClr val="0F1B2D"/>
                </a:solidFill>
              </a:rPr>
              <a:t>1</a:t>
            </a:r>
            <a:endParaRPr lang="en-US" sz="1800" dirty="0"/>
          </a:p>
        </p:txBody>
      </p:sp>
      <p:sp>
        <p:nvSpPr>
          <p:cNvPr id="7" name="Text 5"/>
          <p:cNvSpPr/>
          <p:nvPr/>
        </p:nvSpPr>
        <p:spPr>
          <a:xfrm>
            <a:off x="1188720" y="941832"/>
            <a:ext cx="7223760" cy="347472"/>
          </a:xfrm>
          <a:prstGeom prst="rect">
            <a:avLst/>
          </a:prstGeom>
          <a:noFill/>
          <a:ln/>
        </p:spPr>
        <p:txBody>
          <a:bodyPr wrap="square" lIns="0" tIns="0" rIns="0" bIns="0" rtlCol="0" anchor="ctr"/>
          <a:lstStyle/>
          <a:p>
            <a:pPr indent="0" marL="0">
              <a:buNone/>
            </a:pPr>
            <a:r>
              <a:rPr lang="en-US" sz="1400" b="1" dirty="0">
                <a:solidFill>
                  <a:srgbClr val="00D4FF"/>
                </a:solidFill>
              </a:rPr>
              <a:t>Yêu cầu mới đến</a:t>
            </a:r>
            <a:endParaRPr lang="en-US" sz="1400" dirty="0"/>
          </a:p>
        </p:txBody>
      </p:sp>
      <p:sp>
        <p:nvSpPr>
          <p:cNvPr id="8" name="Text 6"/>
          <p:cNvSpPr/>
          <p:nvPr/>
        </p:nvSpPr>
        <p:spPr>
          <a:xfrm>
            <a:off x="1188720" y="1280160"/>
            <a:ext cx="5029200" cy="594360"/>
          </a:xfrm>
          <a:prstGeom prst="rect">
            <a:avLst/>
          </a:prstGeom>
          <a:noFill/>
          <a:ln/>
        </p:spPr>
        <p:txBody>
          <a:bodyPr wrap="square" lIns="0" tIns="0" rIns="0" bIns="0" rtlCol="0" anchor="ctr"/>
          <a:lstStyle/>
          <a:p>
            <a:pPr indent="0" marL="0">
              <a:buNone/>
            </a:pPr>
            <a:r>
              <a:rPr lang="en-US" sz="1200" dirty="0">
                <a:solidFill>
                  <a:srgbClr val="F0F6FF"/>
                </a:solidFill>
              </a:rPr>
              <a:t>Hệ thống nhận prompt ban đầu. Chỉ cấp phát đúng số lượng trang (blocks) cần thiết cho phần prompt đó. Không "đặt trước" bộ nhớ cho tương lai.</a:t>
            </a:r>
            <a:endParaRPr lang="en-US" sz="1200" dirty="0"/>
          </a:p>
        </p:txBody>
      </p:sp>
      <p:sp>
        <p:nvSpPr>
          <p:cNvPr id="9" name="Shape 7"/>
          <p:cNvSpPr/>
          <p:nvPr/>
        </p:nvSpPr>
        <p:spPr>
          <a:xfrm>
            <a:off x="6400800" y="1216152"/>
            <a:ext cx="2240280" cy="502920"/>
          </a:xfrm>
          <a:prstGeom prst="rect">
            <a:avLst/>
          </a:prstGeom>
          <a:solidFill>
            <a:srgbClr val="0D1B2D"/>
          </a:solidFill>
          <a:ln w="12700">
            <a:solidFill>
              <a:srgbClr val="00D4FF"/>
            </a:solidFill>
            <a:prstDash val="solid"/>
          </a:ln>
        </p:spPr>
      </p:sp>
      <p:sp>
        <p:nvSpPr>
          <p:cNvPr id="10" name="Text 8"/>
          <p:cNvSpPr/>
          <p:nvPr/>
        </p:nvSpPr>
        <p:spPr>
          <a:xfrm>
            <a:off x="6446520" y="1216152"/>
            <a:ext cx="2148840" cy="502920"/>
          </a:xfrm>
          <a:prstGeom prst="rect">
            <a:avLst/>
          </a:prstGeom>
          <a:noFill/>
          <a:ln/>
        </p:spPr>
        <p:txBody>
          <a:bodyPr wrap="square" lIns="63500" tIns="63500" rIns="63500" bIns="63500" rtlCol="0" anchor="ctr"/>
          <a:lstStyle/>
          <a:p>
            <a:pPr indent="0" marL="0">
              <a:buNone/>
            </a:pPr>
            <a:r>
              <a:rPr lang="en-US" sz="1000" dirty="0">
                <a:solidFill>
                  <a:srgbClr val="00D4FF"/>
                </a:solidFill>
              </a:rPr>
              <a:t>💡 Prompt 48 tokens → cấp 3 trang (16 token/trang)</a:t>
            </a:r>
            <a:endParaRPr lang="en-US" sz="1000" dirty="0"/>
          </a:p>
        </p:txBody>
      </p:sp>
      <p:sp>
        <p:nvSpPr>
          <p:cNvPr id="11" name="Shape 9"/>
          <p:cNvSpPr/>
          <p:nvPr/>
        </p:nvSpPr>
        <p:spPr>
          <a:xfrm>
            <a:off x="365760" y="2194560"/>
            <a:ext cx="8412480" cy="1207008"/>
          </a:xfrm>
          <a:prstGeom prst="rect">
            <a:avLst/>
          </a:prstGeom>
          <a:solidFill>
            <a:srgbClr val="1E2F47"/>
          </a:solidFill>
          <a:ln w="12700">
            <a:solidFill>
              <a:srgbClr val="10B981"/>
            </a:solidFill>
            <a:prstDash val="solid"/>
          </a:ln>
          <a:effectLst>
            <a:outerShdw sx="100000" sy="100000" kx="0" ky="0" algn="bl" rotWithShape="0" blurRad="101600" dist="38100" dir="8100000">
              <a:srgbClr val="000000">
                <a:alpha val="25000"/>
              </a:srgbClr>
            </a:outerShdw>
          </a:effectLst>
        </p:spPr>
      </p:sp>
      <p:sp>
        <p:nvSpPr>
          <p:cNvPr id="12" name="Shape 10"/>
          <p:cNvSpPr/>
          <p:nvPr/>
        </p:nvSpPr>
        <p:spPr>
          <a:xfrm>
            <a:off x="457200" y="2423160"/>
            <a:ext cx="594360" cy="594360"/>
          </a:xfrm>
          <a:prstGeom prst="ellipse">
            <a:avLst/>
          </a:prstGeom>
          <a:solidFill>
            <a:srgbClr val="10B981"/>
          </a:solidFill>
          <a:ln w="12700">
            <a:solidFill>
              <a:srgbClr val="10B981"/>
            </a:solidFill>
            <a:prstDash val="solid"/>
          </a:ln>
        </p:spPr>
      </p:sp>
      <p:sp>
        <p:nvSpPr>
          <p:cNvPr id="13" name="Text 11"/>
          <p:cNvSpPr/>
          <p:nvPr/>
        </p:nvSpPr>
        <p:spPr>
          <a:xfrm>
            <a:off x="457200" y="2423160"/>
            <a:ext cx="594360" cy="594360"/>
          </a:xfrm>
          <a:prstGeom prst="rect">
            <a:avLst/>
          </a:prstGeom>
          <a:noFill/>
          <a:ln/>
        </p:spPr>
        <p:txBody>
          <a:bodyPr wrap="square" lIns="0" tIns="0" rIns="0" bIns="0" rtlCol="0" anchor="ctr"/>
          <a:lstStyle/>
          <a:p>
            <a:pPr algn="ctr" indent="0" marL="0">
              <a:buNone/>
            </a:pPr>
            <a:r>
              <a:rPr lang="en-US" sz="1800" b="1" dirty="0">
                <a:solidFill>
                  <a:srgbClr val="0F1B2D"/>
                </a:solidFill>
              </a:rPr>
              <a:t>2</a:t>
            </a:r>
            <a:endParaRPr lang="en-US" sz="1800" dirty="0"/>
          </a:p>
        </p:txBody>
      </p:sp>
      <p:sp>
        <p:nvSpPr>
          <p:cNvPr id="14" name="Text 12"/>
          <p:cNvSpPr/>
          <p:nvPr/>
        </p:nvSpPr>
        <p:spPr>
          <a:xfrm>
            <a:off x="1188720" y="2267712"/>
            <a:ext cx="7223760" cy="347472"/>
          </a:xfrm>
          <a:prstGeom prst="rect">
            <a:avLst/>
          </a:prstGeom>
          <a:noFill/>
          <a:ln/>
        </p:spPr>
        <p:txBody>
          <a:bodyPr wrap="square" lIns="0" tIns="0" rIns="0" bIns="0" rtlCol="0" anchor="ctr"/>
          <a:lstStyle/>
          <a:p>
            <a:pPr indent="0" marL="0">
              <a:buNone/>
            </a:pPr>
            <a:r>
              <a:rPr lang="en-US" sz="1400" b="1" dirty="0">
                <a:solidFill>
                  <a:srgbClr val="10B981"/>
                </a:solidFill>
              </a:rPr>
              <a:t>Sinh token tiếp theo</a:t>
            </a:r>
            <a:endParaRPr lang="en-US" sz="1400" dirty="0"/>
          </a:p>
        </p:txBody>
      </p:sp>
      <p:sp>
        <p:nvSpPr>
          <p:cNvPr id="15" name="Text 13"/>
          <p:cNvSpPr/>
          <p:nvPr/>
        </p:nvSpPr>
        <p:spPr>
          <a:xfrm>
            <a:off x="1188720" y="2606040"/>
            <a:ext cx="5029200" cy="594360"/>
          </a:xfrm>
          <a:prstGeom prst="rect">
            <a:avLst/>
          </a:prstGeom>
          <a:noFill/>
          <a:ln/>
        </p:spPr>
        <p:txBody>
          <a:bodyPr wrap="square" lIns="0" tIns="0" rIns="0" bIns="0" rtlCol="0" anchor="ctr"/>
          <a:lstStyle/>
          <a:p>
            <a:pPr indent="0" marL="0">
              <a:buNone/>
            </a:pPr>
            <a:r>
              <a:rPr lang="en-US" sz="1200" dirty="0">
                <a:solidFill>
                  <a:srgbClr val="F0F6FF"/>
                </a:solidFill>
              </a:rPr>
              <a:t>Mỗi khi trang hiện tại đầy, hệ thống lấy thêm một trang mới từ pool bộ nhớ chung. Trang mới không nhất thiết phải liền kề về địa chỉ vật lý.</a:t>
            </a:r>
            <a:endParaRPr lang="en-US" sz="1200" dirty="0"/>
          </a:p>
        </p:txBody>
      </p:sp>
      <p:sp>
        <p:nvSpPr>
          <p:cNvPr id="16" name="Shape 14"/>
          <p:cNvSpPr/>
          <p:nvPr/>
        </p:nvSpPr>
        <p:spPr>
          <a:xfrm>
            <a:off x="6400800" y="2542032"/>
            <a:ext cx="2240280" cy="502920"/>
          </a:xfrm>
          <a:prstGeom prst="rect">
            <a:avLst/>
          </a:prstGeom>
          <a:solidFill>
            <a:srgbClr val="0D1B2D"/>
          </a:solidFill>
          <a:ln w="12700">
            <a:solidFill>
              <a:srgbClr val="10B981"/>
            </a:solidFill>
            <a:prstDash val="solid"/>
          </a:ln>
        </p:spPr>
      </p:sp>
      <p:sp>
        <p:nvSpPr>
          <p:cNvPr id="17" name="Text 15"/>
          <p:cNvSpPr/>
          <p:nvPr/>
        </p:nvSpPr>
        <p:spPr>
          <a:xfrm>
            <a:off x="6446520" y="2542032"/>
            <a:ext cx="2148840" cy="502920"/>
          </a:xfrm>
          <a:prstGeom prst="rect">
            <a:avLst/>
          </a:prstGeom>
          <a:noFill/>
          <a:ln/>
        </p:spPr>
        <p:txBody>
          <a:bodyPr wrap="square" lIns="63500" tIns="63500" rIns="63500" bIns="63500" rtlCol="0" anchor="ctr"/>
          <a:lstStyle/>
          <a:p>
            <a:pPr indent="0" marL="0">
              <a:buNone/>
            </a:pPr>
            <a:r>
              <a:rPr lang="en-US" sz="1000" dirty="0">
                <a:solidFill>
                  <a:srgbClr val="10B981"/>
                </a:solidFill>
              </a:rPr>
              <a:t>💡 Token 49 → cấp trang 4 từ bất kỳ vị trí nào còn trống</a:t>
            </a:r>
            <a:endParaRPr lang="en-US" sz="1000" dirty="0"/>
          </a:p>
        </p:txBody>
      </p:sp>
      <p:sp>
        <p:nvSpPr>
          <p:cNvPr id="18" name="Shape 16"/>
          <p:cNvSpPr/>
          <p:nvPr/>
        </p:nvSpPr>
        <p:spPr>
          <a:xfrm>
            <a:off x="365760" y="3520440"/>
            <a:ext cx="8412480" cy="1207008"/>
          </a:xfrm>
          <a:prstGeom prst="rect">
            <a:avLst/>
          </a:prstGeom>
          <a:solidFill>
            <a:srgbClr val="1E2F47"/>
          </a:solidFill>
          <a:ln w="12700">
            <a:solidFill>
              <a:srgbClr val="7C3AED"/>
            </a:solidFill>
            <a:prstDash val="solid"/>
          </a:ln>
          <a:effectLst>
            <a:outerShdw sx="100000" sy="100000" kx="0" ky="0" algn="bl" rotWithShape="0" blurRad="101600" dist="38100" dir="8100000">
              <a:srgbClr val="000000">
                <a:alpha val="25000"/>
              </a:srgbClr>
            </a:outerShdw>
          </a:effectLst>
        </p:spPr>
      </p:sp>
      <p:sp>
        <p:nvSpPr>
          <p:cNvPr id="19" name="Shape 17"/>
          <p:cNvSpPr/>
          <p:nvPr/>
        </p:nvSpPr>
        <p:spPr>
          <a:xfrm>
            <a:off x="457200" y="3749040"/>
            <a:ext cx="594360" cy="594360"/>
          </a:xfrm>
          <a:prstGeom prst="ellipse">
            <a:avLst/>
          </a:prstGeom>
          <a:solidFill>
            <a:srgbClr val="7C3AED"/>
          </a:solidFill>
          <a:ln w="12700">
            <a:solidFill>
              <a:srgbClr val="7C3AED"/>
            </a:solidFill>
            <a:prstDash val="solid"/>
          </a:ln>
        </p:spPr>
      </p:sp>
      <p:sp>
        <p:nvSpPr>
          <p:cNvPr id="20" name="Text 18"/>
          <p:cNvSpPr/>
          <p:nvPr/>
        </p:nvSpPr>
        <p:spPr>
          <a:xfrm>
            <a:off x="457200" y="3749040"/>
            <a:ext cx="594360" cy="594360"/>
          </a:xfrm>
          <a:prstGeom prst="rect">
            <a:avLst/>
          </a:prstGeom>
          <a:noFill/>
          <a:ln/>
        </p:spPr>
        <p:txBody>
          <a:bodyPr wrap="square" lIns="0" tIns="0" rIns="0" bIns="0" rtlCol="0" anchor="ctr"/>
          <a:lstStyle/>
          <a:p>
            <a:pPr algn="ctr" indent="0" marL="0">
              <a:buNone/>
            </a:pPr>
            <a:r>
              <a:rPr lang="en-US" sz="1800" b="1" dirty="0">
                <a:solidFill>
                  <a:srgbClr val="0F1B2D"/>
                </a:solidFill>
              </a:rPr>
              <a:t>3</a:t>
            </a:r>
            <a:endParaRPr lang="en-US" sz="1800" dirty="0"/>
          </a:p>
        </p:txBody>
      </p:sp>
      <p:sp>
        <p:nvSpPr>
          <p:cNvPr id="21" name="Text 19"/>
          <p:cNvSpPr/>
          <p:nvPr/>
        </p:nvSpPr>
        <p:spPr>
          <a:xfrm>
            <a:off x="1188720" y="3593592"/>
            <a:ext cx="7223760" cy="347472"/>
          </a:xfrm>
          <a:prstGeom prst="rect">
            <a:avLst/>
          </a:prstGeom>
          <a:noFill/>
          <a:ln/>
        </p:spPr>
        <p:txBody>
          <a:bodyPr wrap="square" lIns="0" tIns="0" rIns="0" bIns="0" rtlCol="0" anchor="ctr"/>
          <a:lstStyle/>
          <a:p>
            <a:pPr indent="0" marL="0">
              <a:buNone/>
            </a:pPr>
            <a:r>
              <a:rPr lang="en-US" sz="1400" b="1" dirty="0">
                <a:solidFill>
                  <a:srgbClr val="7C3AED"/>
                </a:solidFill>
              </a:rPr>
              <a:t>Yêu cầu hoàn tất</a:t>
            </a:r>
            <a:endParaRPr lang="en-US" sz="1400" dirty="0"/>
          </a:p>
        </p:txBody>
      </p:sp>
      <p:sp>
        <p:nvSpPr>
          <p:cNvPr id="22" name="Text 20"/>
          <p:cNvSpPr/>
          <p:nvPr/>
        </p:nvSpPr>
        <p:spPr>
          <a:xfrm>
            <a:off x="1188720" y="3931920"/>
            <a:ext cx="5029200" cy="594360"/>
          </a:xfrm>
          <a:prstGeom prst="rect">
            <a:avLst/>
          </a:prstGeom>
          <a:noFill/>
          <a:ln/>
        </p:spPr>
        <p:txBody>
          <a:bodyPr wrap="square" lIns="0" tIns="0" rIns="0" bIns="0" rtlCol="0" anchor="ctr"/>
          <a:lstStyle/>
          <a:p>
            <a:pPr indent="0" marL="0">
              <a:buNone/>
            </a:pPr>
            <a:r>
              <a:rPr lang="en-US" sz="1200" dirty="0">
                <a:solidFill>
                  <a:srgbClr val="F0F6FF"/>
                </a:solidFill>
              </a:rPr>
              <a:t>Khi yêu cầu hoàn thành, tất cả các trang được giải phóng trả về pool. Ngay lập tức có thể tái sử dụng cho yêu cầu mới.</a:t>
            </a:r>
            <a:endParaRPr lang="en-US" sz="1200" dirty="0"/>
          </a:p>
        </p:txBody>
      </p:sp>
      <p:sp>
        <p:nvSpPr>
          <p:cNvPr id="23" name="Shape 21"/>
          <p:cNvSpPr/>
          <p:nvPr/>
        </p:nvSpPr>
        <p:spPr>
          <a:xfrm>
            <a:off x="6400800" y="3867912"/>
            <a:ext cx="2240280" cy="502920"/>
          </a:xfrm>
          <a:prstGeom prst="rect">
            <a:avLst/>
          </a:prstGeom>
          <a:solidFill>
            <a:srgbClr val="0D1B2D"/>
          </a:solidFill>
          <a:ln w="12700">
            <a:solidFill>
              <a:srgbClr val="7C3AED"/>
            </a:solidFill>
            <a:prstDash val="solid"/>
          </a:ln>
        </p:spPr>
      </p:sp>
      <p:sp>
        <p:nvSpPr>
          <p:cNvPr id="24" name="Text 22"/>
          <p:cNvSpPr/>
          <p:nvPr/>
        </p:nvSpPr>
        <p:spPr>
          <a:xfrm>
            <a:off x="6446520" y="3867912"/>
            <a:ext cx="2148840" cy="502920"/>
          </a:xfrm>
          <a:prstGeom prst="rect">
            <a:avLst/>
          </a:prstGeom>
          <a:noFill/>
          <a:ln/>
        </p:spPr>
        <p:txBody>
          <a:bodyPr wrap="square" lIns="63500" tIns="63500" rIns="63500" bIns="63500" rtlCol="0" anchor="ctr"/>
          <a:lstStyle/>
          <a:p>
            <a:pPr indent="0" marL="0">
              <a:buNone/>
            </a:pPr>
            <a:r>
              <a:rPr lang="en-US" sz="1000" dirty="0">
                <a:solidFill>
                  <a:srgbClr val="7C3AED"/>
                </a:solidFill>
              </a:rPr>
              <a:t>💡 Pool nhận lại 5 trang → phục vụ tiếp request khác</a:t>
            </a:r>
            <a:endParaRPr lang="en-US" sz="1000" dirty="0"/>
          </a:p>
        </p:txBody>
      </p:sp>
      <p:sp>
        <p:nvSpPr>
          <p:cNvPr id="25" name="Shape 23"/>
          <p:cNvSpPr/>
          <p:nvPr/>
        </p:nvSpPr>
        <p:spPr>
          <a:xfrm>
            <a:off x="365760" y="4617720"/>
            <a:ext cx="8412480" cy="384048"/>
          </a:xfrm>
          <a:prstGeom prst="rect">
            <a:avLst/>
          </a:prstGeom>
          <a:solidFill>
            <a:srgbClr val="10B981">
              <a:alpha val="20000"/>
            </a:srgbClr>
          </a:solidFill>
          <a:ln w="12700">
            <a:solidFill>
              <a:srgbClr val="10B981"/>
            </a:solidFill>
            <a:prstDash val="solid"/>
          </a:ln>
        </p:spPr>
      </p:sp>
      <p:sp>
        <p:nvSpPr>
          <p:cNvPr id="26" name="Text 24"/>
          <p:cNvSpPr/>
          <p:nvPr/>
        </p:nvSpPr>
        <p:spPr>
          <a:xfrm>
            <a:off x="502920" y="4636008"/>
            <a:ext cx="8138160" cy="347472"/>
          </a:xfrm>
          <a:prstGeom prst="rect">
            <a:avLst/>
          </a:prstGeom>
          <a:noFill/>
          <a:ln/>
        </p:spPr>
        <p:txBody>
          <a:bodyPr wrap="square" lIns="0" tIns="0" rIns="0" bIns="0" rtlCol="0" anchor="ctr"/>
          <a:lstStyle/>
          <a:p>
            <a:pPr indent="0" marL="0">
              <a:buNone/>
            </a:pPr>
            <a:r>
              <a:rPr lang="en-US" sz="1200" dirty="0">
                <a:solidFill>
                  <a:srgbClr val="F0F6FF"/>
                </a:solidFill>
              </a:rPr>
              <a:t>✅  Lợi ích then chốt: Không bao giờ cần dự trữ bộ nhớ "phòng hờ" cho token chưa sinh ra → loại bỏ hoàn toàn internal fragmentation.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7C3AED"/>
          </a:solidFill>
          <a:ln w="12700">
            <a:solidFill>
              <a:srgbClr val="7C3AED"/>
            </a:solidFill>
            <a:prstDash val="solid"/>
          </a:ln>
        </p:spPr>
      </p:sp>
      <p:sp>
        <p:nvSpPr>
          <p:cNvPr id="3" name="Text 1"/>
          <p:cNvSpPr/>
          <p:nvPr/>
        </p:nvSpPr>
        <p:spPr>
          <a:xfrm>
            <a:off x="365760" y="137160"/>
            <a:ext cx="8412480" cy="548640"/>
          </a:xfrm>
          <a:prstGeom prst="rect">
            <a:avLst/>
          </a:prstGeom>
          <a:noFill/>
          <a:ln/>
        </p:spPr>
        <p:txBody>
          <a:bodyPr wrap="square" lIns="0" tIns="0" rIns="0" bIns="0" rtlCol="0" anchor="ctr"/>
          <a:lstStyle/>
          <a:p>
            <a:pPr indent="0" marL="0">
              <a:buNone/>
            </a:pPr>
            <a:r>
              <a:rPr lang="en-US" sz="2600" b="1" dirty="0">
                <a:solidFill>
                  <a:srgbClr val="F0F6FF"/>
                </a:solidFill>
                <a:latin typeface="Calibri" pitchFamily="34" charset="0"/>
                <a:ea typeface="Calibri" pitchFamily="34" charset="-122"/>
                <a:cs typeface="Calibri" pitchFamily="34" charset="-120"/>
              </a:rPr>
              <a:t>🗺️  Cơ Chế 2: Bảng Khối (Block Table)</a:t>
            </a:r>
            <a:endParaRPr lang="en-US" sz="2600" dirty="0"/>
          </a:p>
        </p:txBody>
      </p:sp>
      <p:sp>
        <p:nvSpPr>
          <p:cNvPr id="4" name="Text 2"/>
          <p:cNvSpPr/>
          <p:nvPr/>
        </p:nvSpPr>
        <p:spPr>
          <a:xfrm>
            <a:off x="365760" y="777240"/>
            <a:ext cx="8412480" cy="411480"/>
          </a:xfrm>
          <a:prstGeom prst="rect">
            <a:avLst/>
          </a:prstGeom>
          <a:noFill/>
          <a:ln/>
        </p:spPr>
        <p:txBody>
          <a:bodyPr wrap="square" lIns="0" tIns="0" rIns="0" bIns="0" rtlCol="0" anchor="ctr"/>
          <a:lstStyle/>
          <a:p>
            <a:pPr indent="0" marL="0">
              <a:buNone/>
            </a:pPr>
            <a:r>
              <a:rPr lang="en-US" sz="1300" dirty="0">
                <a:solidFill>
                  <a:srgbClr val="94A3B8"/>
                </a:solidFill>
              </a:rPr>
              <a:t>Block Table là cơ chế ánh xạ giữa vị trí logic (token số mấy) và địa chỉ vật lý thực trong VRAM — tương tự Page Table trong hệ điều hành.</a:t>
            </a:r>
            <a:endParaRPr lang="en-US" sz="1300" dirty="0"/>
          </a:p>
        </p:txBody>
      </p:sp>
      <p:sp>
        <p:nvSpPr>
          <p:cNvPr id="5" name="Shape 3"/>
          <p:cNvSpPr/>
          <p:nvPr/>
        </p:nvSpPr>
        <p:spPr>
          <a:xfrm>
            <a:off x="365760" y="1280160"/>
            <a:ext cx="3657600" cy="2926080"/>
          </a:xfrm>
          <a:prstGeom prst="rect">
            <a:avLst/>
          </a:prstGeom>
          <a:solidFill>
            <a:srgbClr val="1E2F47"/>
          </a:solidFill>
          <a:ln w="12700">
            <a:solidFill>
              <a:srgbClr val="7C3AED"/>
            </a:solidFill>
            <a:prstDash val="solid"/>
          </a:ln>
          <a:effectLst>
            <a:outerShdw sx="100000" sy="100000" kx="0" ky="0" algn="bl" rotWithShape="0" blurRad="101600" dist="38100" dir="8100000">
              <a:srgbClr val="000000">
                <a:alpha val="25000"/>
              </a:srgbClr>
            </a:outerShdw>
          </a:effectLst>
        </p:spPr>
      </p:sp>
      <p:sp>
        <p:nvSpPr>
          <p:cNvPr id="6" name="Text 4"/>
          <p:cNvSpPr/>
          <p:nvPr/>
        </p:nvSpPr>
        <p:spPr>
          <a:xfrm>
            <a:off x="457200" y="1325880"/>
            <a:ext cx="3474720" cy="320040"/>
          </a:xfrm>
          <a:prstGeom prst="rect">
            <a:avLst/>
          </a:prstGeom>
          <a:noFill/>
          <a:ln/>
        </p:spPr>
        <p:txBody>
          <a:bodyPr wrap="square" lIns="0" tIns="0" rIns="0" bIns="0" rtlCol="0" anchor="ctr"/>
          <a:lstStyle/>
          <a:p>
            <a:pPr algn="ctr" indent="0" marL="0">
              <a:buNone/>
            </a:pPr>
            <a:r>
              <a:rPr lang="en-US" sz="1200" b="1" dirty="0">
                <a:solidFill>
                  <a:srgbClr val="7C3AED"/>
                </a:solidFill>
              </a:rPr>
              <a:t>BLOCK TABLE (Request A)</a:t>
            </a:r>
            <a:endParaRPr lang="en-US" sz="1200" dirty="0"/>
          </a:p>
        </p:txBody>
      </p:sp>
      <p:sp>
        <p:nvSpPr>
          <p:cNvPr id="7" name="Shape 5"/>
          <p:cNvSpPr/>
          <p:nvPr/>
        </p:nvSpPr>
        <p:spPr>
          <a:xfrm>
            <a:off x="457200" y="1691640"/>
            <a:ext cx="1691640" cy="411480"/>
          </a:xfrm>
          <a:prstGeom prst="rect">
            <a:avLst/>
          </a:prstGeom>
          <a:solidFill>
            <a:srgbClr val="7C3AED"/>
          </a:solidFill>
          <a:ln w="12700">
            <a:solidFill>
              <a:srgbClr val="162236"/>
            </a:solidFill>
            <a:prstDash val="solid"/>
          </a:ln>
        </p:spPr>
      </p:sp>
      <p:sp>
        <p:nvSpPr>
          <p:cNvPr id="8" name="Shape 6"/>
          <p:cNvSpPr/>
          <p:nvPr/>
        </p:nvSpPr>
        <p:spPr>
          <a:xfrm>
            <a:off x="2194560" y="1691640"/>
            <a:ext cx="1691640" cy="411480"/>
          </a:xfrm>
          <a:prstGeom prst="rect">
            <a:avLst/>
          </a:prstGeom>
          <a:solidFill>
            <a:srgbClr val="7C3AED"/>
          </a:solidFill>
          <a:ln w="12700">
            <a:solidFill>
              <a:srgbClr val="162236"/>
            </a:solidFill>
            <a:prstDash val="solid"/>
          </a:ln>
        </p:spPr>
      </p:sp>
      <p:sp>
        <p:nvSpPr>
          <p:cNvPr id="9" name="Text 7"/>
          <p:cNvSpPr/>
          <p:nvPr/>
        </p:nvSpPr>
        <p:spPr>
          <a:xfrm>
            <a:off x="457200" y="1691640"/>
            <a:ext cx="1691640" cy="411480"/>
          </a:xfrm>
          <a:prstGeom prst="rect">
            <a:avLst/>
          </a:prstGeom>
          <a:noFill/>
          <a:ln/>
        </p:spPr>
        <p:txBody>
          <a:bodyPr wrap="square" lIns="0" tIns="0" rIns="0" bIns="0" rtlCol="0" anchor="ctr"/>
          <a:lstStyle/>
          <a:p>
            <a:pPr algn="ctr" indent="0" marL="0">
              <a:buNone/>
            </a:pPr>
            <a:r>
              <a:rPr lang="en-US" sz="1100" b="1" dirty="0">
                <a:solidFill>
                  <a:srgbClr val="0F1B2D"/>
                </a:solidFill>
              </a:rPr>
              <a:t>Trang Logic</a:t>
            </a:r>
            <a:endParaRPr lang="en-US" sz="1100" dirty="0"/>
          </a:p>
        </p:txBody>
      </p:sp>
      <p:sp>
        <p:nvSpPr>
          <p:cNvPr id="10" name="Text 8"/>
          <p:cNvSpPr/>
          <p:nvPr/>
        </p:nvSpPr>
        <p:spPr>
          <a:xfrm>
            <a:off x="2194560" y="1691640"/>
            <a:ext cx="1691640" cy="411480"/>
          </a:xfrm>
          <a:prstGeom prst="rect">
            <a:avLst/>
          </a:prstGeom>
          <a:noFill/>
          <a:ln/>
        </p:spPr>
        <p:txBody>
          <a:bodyPr wrap="square" lIns="0" tIns="0" rIns="0" bIns="0" rtlCol="0" anchor="ctr"/>
          <a:lstStyle/>
          <a:p>
            <a:pPr algn="ctr" indent="0" marL="0">
              <a:buNone/>
            </a:pPr>
            <a:r>
              <a:rPr lang="en-US" sz="1100" b="1" dirty="0">
                <a:solidFill>
                  <a:srgbClr val="0F1B2D"/>
                </a:solidFill>
              </a:rPr>
              <a:t>Trang Vật Lý</a:t>
            </a:r>
            <a:endParaRPr lang="en-US" sz="1100" dirty="0"/>
          </a:p>
        </p:txBody>
      </p:sp>
      <p:sp>
        <p:nvSpPr>
          <p:cNvPr id="11" name="Shape 9"/>
          <p:cNvSpPr/>
          <p:nvPr/>
        </p:nvSpPr>
        <p:spPr>
          <a:xfrm>
            <a:off x="457200" y="2167128"/>
            <a:ext cx="1691640" cy="411480"/>
          </a:xfrm>
          <a:prstGeom prst="rect">
            <a:avLst/>
          </a:prstGeom>
          <a:solidFill>
            <a:srgbClr val="1A2A3E"/>
          </a:solidFill>
          <a:ln w="12700">
            <a:solidFill>
              <a:srgbClr val="162236"/>
            </a:solidFill>
            <a:prstDash val="solid"/>
          </a:ln>
        </p:spPr>
      </p:sp>
      <p:sp>
        <p:nvSpPr>
          <p:cNvPr id="12" name="Shape 10"/>
          <p:cNvSpPr/>
          <p:nvPr/>
        </p:nvSpPr>
        <p:spPr>
          <a:xfrm>
            <a:off x="2194560" y="2167128"/>
            <a:ext cx="1691640" cy="411480"/>
          </a:xfrm>
          <a:prstGeom prst="rect">
            <a:avLst/>
          </a:prstGeom>
          <a:solidFill>
            <a:srgbClr val="1A2A3E"/>
          </a:solidFill>
          <a:ln w="12700">
            <a:solidFill>
              <a:srgbClr val="162236"/>
            </a:solidFill>
            <a:prstDash val="solid"/>
          </a:ln>
        </p:spPr>
      </p:sp>
      <p:sp>
        <p:nvSpPr>
          <p:cNvPr id="13" name="Text 11"/>
          <p:cNvSpPr/>
          <p:nvPr/>
        </p:nvSpPr>
        <p:spPr>
          <a:xfrm>
            <a:off x="457200" y="2167128"/>
            <a:ext cx="1691640" cy="411480"/>
          </a:xfrm>
          <a:prstGeom prst="rect">
            <a:avLst/>
          </a:prstGeom>
          <a:noFill/>
          <a:ln/>
        </p:spPr>
        <p:txBody>
          <a:bodyPr wrap="square" lIns="0" tIns="0" rIns="0" bIns="0" rtlCol="0" anchor="ctr"/>
          <a:lstStyle/>
          <a:p>
            <a:pPr algn="ctr" indent="0" marL="0">
              <a:buNone/>
            </a:pPr>
            <a:r>
              <a:rPr lang="en-US" sz="1100" dirty="0">
                <a:solidFill>
                  <a:srgbClr val="F0F6FF"/>
                </a:solidFill>
              </a:rPr>
              <a:t>Page 0 (tok 0–15)</a:t>
            </a:r>
            <a:endParaRPr lang="en-US" sz="1100" dirty="0"/>
          </a:p>
        </p:txBody>
      </p:sp>
      <p:sp>
        <p:nvSpPr>
          <p:cNvPr id="14" name="Text 12"/>
          <p:cNvSpPr/>
          <p:nvPr/>
        </p:nvSpPr>
        <p:spPr>
          <a:xfrm>
            <a:off x="2194560" y="2167128"/>
            <a:ext cx="1691640" cy="411480"/>
          </a:xfrm>
          <a:prstGeom prst="rect">
            <a:avLst/>
          </a:prstGeom>
          <a:noFill/>
          <a:ln/>
        </p:spPr>
        <p:txBody>
          <a:bodyPr wrap="square" lIns="0" tIns="0" rIns="0" bIns="0" rtlCol="0" anchor="ctr"/>
          <a:lstStyle/>
          <a:p>
            <a:pPr algn="ctr" indent="0" marL="0">
              <a:buNone/>
            </a:pPr>
            <a:r>
              <a:rPr lang="en-US" sz="1200" dirty="0">
                <a:solidFill>
                  <a:srgbClr val="00D4FF"/>
                </a:solidFill>
              </a:rPr>
              <a:t>Slot #7</a:t>
            </a:r>
            <a:endParaRPr lang="en-US" sz="1200" dirty="0"/>
          </a:p>
        </p:txBody>
      </p:sp>
      <p:sp>
        <p:nvSpPr>
          <p:cNvPr id="15" name="Shape 13"/>
          <p:cNvSpPr/>
          <p:nvPr/>
        </p:nvSpPr>
        <p:spPr>
          <a:xfrm>
            <a:off x="457200" y="2642616"/>
            <a:ext cx="1691640" cy="411480"/>
          </a:xfrm>
          <a:prstGeom prst="rect">
            <a:avLst/>
          </a:prstGeom>
          <a:solidFill>
            <a:srgbClr val="1E2F47"/>
          </a:solidFill>
          <a:ln w="12700">
            <a:solidFill>
              <a:srgbClr val="162236"/>
            </a:solidFill>
            <a:prstDash val="solid"/>
          </a:ln>
        </p:spPr>
      </p:sp>
      <p:sp>
        <p:nvSpPr>
          <p:cNvPr id="16" name="Shape 14"/>
          <p:cNvSpPr/>
          <p:nvPr/>
        </p:nvSpPr>
        <p:spPr>
          <a:xfrm>
            <a:off x="2194560" y="2642616"/>
            <a:ext cx="1691640" cy="411480"/>
          </a:xfrm>
          <a:prstGeom prst="rect">
            <a:avLst/>
          </a:prstGeom>
          <a:solidFill>
            <a:srgbClr val="1E2F47"/>
          </a:solidFill>
          <a:ln w="12700">
            <a:solidFill>
              <a:srgbClr val="162236"/>
            </a:solidFill>
            <a:prstDash val="solid"/>
          </a:ln>
        </p:spPr>
      </p:sp>
      <p:sp>
        <p:nvSpPr>
          <p:cNvPr id="17" name="Text 15"/>
          <p:cNvSpPr/>
          <p:nvPr/>
        </p:nvSpPr>
        <p:spPr>
          <a:xfrm>
            <a:off x="457200" y="2642616"/>
            <a:ext cx="1691640" cy="411480"/>
          </a:xfrm>
          <a:prstGeom prst="rect">
            <a:avLst/>
          </a:prstGeom>
          <a:noFill/>
          <a:ln/>
        </p:spPr>
        <p:txBody>
          <a:bodyPr wrap="square" lIns="0" tIns="0" rIns="0" bIns="0" rtlCol="0" anchor="ctr"/>
          <a:lstStyle/>
          <a:p>
            <a:pPr algn="ctr" indent="0" marL="0">
              <a:buNone/>
            </a:pPr>
            <a:r>
              <a:rPr lang="en-US" sz="1100" dirty="0">
                <a:solidFill>
                  <a:srgbClr val="F0F6FF"/>
                </a:solidFill>
              </a:rPr>
              <a:t>Page 1 (tok 16–31)</a:t>
            </a:r>
            <a:endParaRPr lang="en-US" sz="1100" dirty="0"/>
          </a:p>
        </p:txBody>
      </p:sp>
      <p:sp>
        <p:nvSpPr>
          <p:cNvPr id="18" name="Text 16"/>
          <p:cNvSpPr/>
          <p:nvPr/>
        </p:nvSpPr>
        <p:spPr>
          <a:xfrm>
            <a:off x="2194560" y="2642616"/>
            <a:ext cx="1691640" cy="411480"/>
          </a:xfrm>
          <a:prstGeom prst="rect">
            <a:avLst/>
          </a:prstGeom>
          <a:noFill/>
          <a:ln/>
        </p:spPr>
        <p:txBody>
          <a:bodyPr wrap="square" lIns="0" tIns="0" rIns="0" bIns="0" rtlCol="0" anchor="ctr"/>
          <a:lstStyle/>
          <a:p>
            <a:pPr algn="ctr" indent="0" marL="0">
              <a:buNone/>
            </a:pPr>
            <a:r>
              <a:rPr lang="en-US" sz="1200" dirty="0">
                <a:solidFill>
                  <a:srgbClr val="00D4FF"/>
                </a:solidFill>
              </a:rPr>
              <a:t>Slot #23</a:t>
            </a:r>
            <a:endParaRPr lang="en-US" sz="1200" dirty="0"/>
          </a:p>
        </p:txBody>
      </p:sp>
      <p:sp>
        <p:nvSpPr>
          <p:cNvPr id="19" name="Shape 17"/>
          <p:cNvSpPr/>
          <p:nvPr/>
        </p:nvSpPr>
        <p:spPr>
          <a:xfrm>
            <a:off x="457200" y="3118104"/>
            <a:ext cx="1691640" cy="411480"/>
          </a:xfrm>
          <a:prstGeom prst="rect">
            <a:avLst/>
          </a:prstGeom>
          <a:solidFill>
            <a:srgbClr val="1A2A3E"/>
          </a:solidFill>
          <a:ln w="12700">
            <a:solidFill>
              <a:srgbClr val="162236"/>
            </a:solidFill>
            <a:prstDash val="solid"/>
          </a:ln>
        </p:spPr>
      </p:sp>
      <p:sp>
        <p:nvSpPr>
          <p:cNvPr id="20" name="Shape 18"/>
          <p:cNvSpPr/>
          <p:nvPr/>
        </p:nvSpPr>
        <p:spPr>
          <a:xfrm>
            <a:off x="2194560" y="3118104"/>
            <a:ext cx="1691640" cy="411480"/>
          </a:xfrm>
          <a:prstGeom prst="rect">
            <a:avLst/>
          </a:prstGeom>
          <a:solidFill>
            <a:srgbClr val="1A2A3E"/>
          </a:solidFill>
          <a:ln w="12700">
            <a:solidFill>
              <a:srgbClr val="162236"/>
            </a:solidFill>
            <a:prstDash val="solid"/>
          </a:ln>
        </p:spPr>
      </p:sp>
      <p:sp>
        <p:nvSpPr>
          <p:cNvPr id="21" name="Text 19"/>
          <p:cNvSpPr/>
          <p:nvPr/>
        </p:nvSpPr>
        <p:spPr>
          <a:xfrm>
            <a:off x="457200" y="3118104"/>
            <a:ext cx="1691640" cy="411480"/>
          </a:xfrm>
          <a:prstGeom prst="rect">
            <a:avLst/>
          </a:prstGeom>
          <a:noFill/>
          <a:ln/>
        </p:spPr>
        <p:txBody>
          <a:bodyPr wrap="square" lIns="0" tIns="0" rIns="0" bIns="0" rtlCol="0" anchor="ctr"/>
          <a:lstStyle/>
          <a:p>
            <a:pPr algn="ctr" indent="0" marL="0">
              <a:buNone/>
            </a:pPr>
            <a:r>
              <a:rPr lang="en-US" sz="1100" dirty="0">
                <a:solidFill>
                  <a:srgbClr val="F0F6FF"/>
                </a:solidFill>
              </a:rPr>
              <a:t>Page 2 (tok 32–47)</a:t>
            </a:r>
            <a:endParaRPr lang="en-US" sz="1100" dirty="0"/>
          </a:p>
        </p:txBody>
      </p:sp>
      <p:sp>
        <p:nvSpPr>
          <p:cNvPr id="22" name="Text 20"/>
          <p:cNvSpPr/>
          <p:nvPr/>
        </p:nvSpPr>
        <p:spPr>
          <a:xfrm>
            <a:off x="2194560" y="3118104"/>
            <a:ext cx="1691640" cy="411480"/>
          </a:xfrm>
          <a:prstGeom prst="rect">
            <a:avLst/>
          </a:prstGeom>
          <a:noFill/>
          <a:ln/>
        </p:spPr>
        <p:txBody>
          <a:bodyPr wrap="square" lIns="0" tIns="0" rIns="0" bIns="0" rtlCol="0" anchor="ctr"/>
          <a:lstStyle/>
          <a:p>
            <a:pPr algn="ctr" indent="0" marL="0">
              <a:buNone/>
            </a:pPr>
            <a:r>
              <a:rPr lang="en-US" sz="1200" dirty="0">
                <a:solidFill>
                  <a:srgbClr val="00D4FF"/>
                </a:solidFill>
              </a:rPr>
              <a:t>Slot #2</a:t>
            </a:r>
            <a:endParaRPr lang="en-US" sz="1200" dirty="0"/>
          </a:p>
        </p:txBody>
      </p:sp>
      <p:sp>
        <p:nvSpPr>
          <p:cNvPr id="23" name="Shape 21"/>
          <p:cNvSpPr/>
          <p:nvPr/>
        </p:nvSpPr>
        <p:spPr>
          <a:xfrm>
            <a:off x="457200" y="3593592"/>
            <a:ext cx="1691640" cy="411480"/>
          </a:xfrm>
          <a:prstGeom prst="rect">
            <a:avLst/>
          </a:prstGeom>
          <a:solidFill>
            <a:srgbClr val="1E2F47"/>
          </a:solidFill>
          <a:ln w="12700">
            <a:solidFill>
              <a:srgbClr val="162236"/>
            </a:solidFill>
            <a:prstDash val="solid"/>
          </a:ln>
        </p:spPr>
      </p:sp>
      <p:sp>
        <p:nvSpPr>
          <p:cNvPr id="24" name="Shape 22"/>
          <p:cNvSpPr/>
          <p:nvPr/>
        </p:nvSpPr>
        <p:spPr>
          <a:xfrm>
            <a:off x="2194560" y="3593592"/>
            <a:ext cx="1691640" cy="411480"/>
          </a:xfrm>
          <a:prstGeom prst="rect">
            <a:avLst/>
          </a:prstGeom>
          <a:solidFill>
            <a:srgbClr val="1E2F47"/>
          </a:solidFill>
          <a:ln w="12700">
            <a:solidFill>
              <a:srgbClr val="162236"/>
            </a:solidFill>
            <a:prstDash val="solid"/>
          </a:ln>
        </p:spPr>
      </p:sp>
      <p:sp>
        <p:nvSpPr>
          <p:cNvPr id="25" name="Text 23"/>
          <p:cNvSpPr/>
          <p:nvPr/>
        </p:nvSpPr>
        <p:spPr>
          <a:xfrm>
            <a:off x="457200" y="3593592"/>
            <a:ext cx="1691640" cy="411480"/>
          </a:xfrm>
          <a:prstGeom prst="rect">
            <a:avLst/>
          </a:prstGeom>
          <a:noFill/>
          <a:ln/>
        </p:spPr>
        <p:txBody>
          <a:bodyPr wrap="square" lIns="0" tIns="0" rIns="0" bIns="0" rtlCol="0" anchor="ctr"/>
          <a:lstStyle/>
          <a:p>
            <a:pPr algn="ctr" indent="0" marL="0">
              <a:buNone/>
            </a:pPr>
            <a:r>
              <a:rPr lang="en-US" sz="1100" dirty="0">
                <a:solidFill>
                  <a:srgbClr val="F0F6FF"/>
                </a:solidFill>
              </a:rPr>
              <a:t>Page 3 (tok 48–63)</a:t>
            </a:r>
            <a:endParaRPr lang="en-US" sz="1100" dirty="0"/>
          </a:p>
        </p:txBody>
      </p:sp>
      <p:sp>
        <p:nvSpPr>
          <p:cNvPr id="26" name="Text 24"/>
          <p:cNvSpPr/>
          <p:nvPr/>
        </p:nvSpPr>
        <p:spPr>
          <a:xfrm>
            <a:off x="2194560" y="3593592"/>
            <a:ext cx="1691640" cy="411480"/>
          </a:xfrm>
          <a:prstGeom prst="rect">
            <a:avLst/>
          </a:prstGeom>
          <a:noFill/>
          <a:ln/>
        </p:spPr>
        <p:txBody>
          <a:bodyPr wrap="square" lIns="0" tIns="0" rIns="0" bIns="0" rtlCol="0" anchor="ctr"/>
          <a:lstStyle/>
          <a:p>
            <a:pPr algn="ctr" indent="0" marL="0">
              <a:buNone/>
            </a:pPr>
            <a:r>
              <a:rPr lang="en-US" sz="1200" dirty="0">
                <a:solidFill>
                  <a:srgbClr val="00D4FF"/>
                </a:solidFill>
              </a:rPr>
              <a:t>Slot #41</a:t>
            </a:r>
            <a:endParaRPr lang="en-US" sz="1200" dirty="0"/>
          </a:p>
        </p:txBody>
      </p:sp>
      <p:sp>
        <p:nvSpPr>
          <p:cNvPr id="27" name="Shape 25"/>
          <p:cNvSpPr/>
          <p:nvPr/>
        </p:nvSpPr>
        <p:spPr>
          <a:xfrm>
            <a:off x="4572000" y="1280160"/>
            <a:ext cx="4206240" cy="2926080"/>
          </a:xfrm>
          <a:prstGeom prst="rect">
            <a:avLst/>
          </a:prstGeom>
          <a:solidFill>
            <a:srgbClr val="1E2F47"/>
          </a:solidFill>
          <a:ln w="12700">
            <a:solidFill>
              <a:srgbClr val="10B981"/>
            </a:solidFill>
            <a:prstDash val="solid"/>
          </a:ln>
          <a:effectLst>
            <a:outerShdw sx="100000" sy="100000" kx="0" ky="0" algn="bl" rotWithShape="0" blurRad="101600" dist="38100" dir="8100000">
              <a:srgbClr val="000000">
                <a:alpha val="25000"/>
              </a:srgbClr>
            </a:outerShdw>
          </a:effectLst>
        </p:spPr>
      </p:sp>
      <p:sp>
        <p:nvSpPr>
          <p:cNvPr id="28" name="Text 26"/>
          <p:cNvSpPr/>
          <p:nvPr/>
        </p:nvSpPr>
        <p:spPr>
          <a:xfrm>
            <a:off x="4663440" y="1325880"/>
            <a:ext cx="4023360" cy="320040"/>
          </a:xfrm>
          <a:prstGeom prst="rect">
            <a:avLst/>
          </a:prstGeom>
          <a:noFill/>
          <a:ln/>
        </p:spPr>
        <p:txBody>
          <a:bodyPr wrap="square" lIns="0" tIns="0" rIns="0" bIns="0" rtlCol="0" anchor="ctr"/>
          <a:lstStyle/>
          <a:p>
            <a:pPr algn="ctr" indent="0" marL="0">
              <a:buNone/>
            </a:pPr>
            <a:r>
              <a:rPr lang="en-US" sz="1200" b="1" dirty="0">
                <a:solidFill>
                  <a:srgbClr val="10B981"/>
                </a:solidFill>
              </a:rPr>
              <a:t>VRAM VẬT LÝ (GPU Memory)</a:t>
            </a:r>
            <a:endParaRPr lang="en-US" sz="1200" dirty="0"/>
          </a:p>
        </p:txBody>
      </p:sp>
      <p:sp>
        <p:nvSpPr>
          <p:cNvPr id="29" name="Shape 27"/>
          <p:cNvSpPr/>
          <p:nvPr/>
        </p:nvSpPr>
        <p:spPr>
          <a:xfrm>
            <a:off x="4663440" y="1737360"/>
            <a:ext cx="868680" cy="594360"/>
          </a:xfrm>
          <a:prstGeom prst="rect">
            <a:avLst/>
          </a:prstGeom>
          <a:solidFill>
            <a:srgbClr val="2D4A6E"/>
          </a:solidFill>
          <a:ln w="12700">
            <a:solidFill>
              <a:srgbClr val="162236"/>
            </a:solidFill>
            <a:prstDash val="solid"/>
          </a:ln>
        </p:spPr>
      </p:sp>
      <p:sp>
        <p:nvSpPr>
          <p:cNvPr id="30" name="Text 28"/>
          <p:cNvSpPr/>
          <p:nvPr/>
        </p:nvSpPr>
        <p:spPr>
          <a:xfrm>
            <a:off x="4663440" y="1737360"/>
            <a:ext cx="868680" cy="274320"/>
          </a:xfrm>
          <a:prstGeom prst="rect">
            <a:avLst/>
          </a:prstGeom>
          <a:noFill/>
          <a:ln/>
        </p:spPr>
        <p:txBody>
          <a:bodyPr wrap="square" lIns="0" tIns="0" rIns="0" bIns="0" rtlCol="0" anchor="ctr"/>
          <a:lstStyle/>
          <a:p>
            <a:pPr algn="ctr" indent="0" marL="0">
              <a:buNone/>
            </a:pPr>
            <a:r>
              <a:rPr lang="en-US" sz="1000" dirty="0">
                <a:solidFill>
                  <a:srgbClr val="94A3B8"/>
                </a:solidFill>
              </a:rPr>
              <a:t>#1</a:t>
            </a:r>
            <a:endParaRPr lang="en-US" sz="1000" dirty="0"/>
          </a:p>
        </p:txBody>
      </p:sp>
      <p:sp>
        <p:nvSpPr>
          <p:cNvPr id="31" name="Shape 29"/>
          <p:cNvSpPr/>
          <p:nvPr/>
        </p:nvSpPr>
        <p:spPr>
          <a:xfrm>
            <a:off x="5669280" y="1737360"/>
            <a:ext cx="868680" cy="594360"/>
          </a:xfrm>
          <a:prstGeom prst="rect">
            <a:avLst/>
          </a:prstGeom>
          <a:solidFill>
            <a:srgbClr val="7C3AED"/>
          </a:solidFill>
          <a:ln w="12700">
            <a:solidFill>
              <a:srgbClr val="00D4FF"/>
            </a:solidFill>
            <a:prstDash val="solid"/>
          </a:ln>
        </p:spPr>
      </p:sp>
      <p:sp>
        <p:nvSpPr>
          <p:cNvPr id="32" name="Text 30"/>
          <p:cNvSpPr/>
          <p:nvPr/>
        </p:nvSpPr>
        <p:spPr>
          <a:xfrm>
            <a:off x="5669280" y="1737360"/>
            <a:ext cx="868680" cy="274320"/>
          </a:xfrm>
          <a:prstGeom prst="rect">
            <a:avLst/>
          </a:prstGeom>
          <a:noFill/>
          <a:ln/>
        </p:spPr>
        <p:txBody>
          <a:bodyPr wrap="square" lIns="0" tIns="0" rIns="0" bIns="0" rtlCol="0" anchor="ctr"/>
          <a:lstStyle/>
          <a:p>
            <a:pPr algn="ctr" indent="0" marL="0">
              <a:buNone/>
            </a:pPr>
            <a:r>
              <a:rPr lang="en-US" sz="1000" dirty="0">
                <a:solidFill>
                  <a:srgbClr val="94A3B8"/>
                </a:solidFill>
              </a:rPr>
              <a:t>#2</a:t>
            </a:r>
            <a:endParaRPr lang="en-US" sz="1000" dirty="0"/>
          </a:p>
        </p:txBody>
      </p:sp>
      <p:sp>
        <p:nvSpPr>
          <p:cNvPr id="33" name="Text 31"/>
          <p:cNvSpPr/>
          <p:nvPr/>
        </p:nvSpPr>
        <p:spPr>
          <a:xfrm>
            <a:off x="5669280" y="1993392"/>
            <a:ext cx="868680" cy="292608"/>
          </a:xfrm>
          <a:prstGeom prst="rect">
            <a:avLst/>
          </a:prstGeom>
          <a:noFill/>
          <a:ln/>
        </p:spPr>
        <p:txBody>
          <a:bodyPr wrap="square" lIns="0" tIns="0" rIns="0" bIns="0" rtlCol="0" anchor="ctr"/>
          <a:lstStyle/>
          <a:p>
            <a:pPr algn="ctr" indent="0" marL="0">
              <a:buNone/>
            </a:pPr>
            <a:r>
              <a:rPr lang="en-US" sz="1100" b="1" dirty="0">
                <a:solidFill>
                  <a:srgbClr val="FFFFFF"/>
                </a:solidFill>
              </a:rPr>
              <a:t>A/p2</a:t>
            </a:r>
            <a:endParaRPr lang="en-US" sz="1100" dirty="0"/>
          </a:p>
        </p:txBody>
      </p:sp>
      <p:sp>
        <p:nvSpPr>
          <p:cNvPr id="34" name="Shape 32"/>
          <p:cNvSpPr/>
          <p:nvPr/>
        </p:nvSpPr>
        <p:spPr>
          <a:xfrm>
            <a:off x="6675120" y="1737360"/>
            <a:ext cx="868680" cy="594360"/>
          </a:xfrm>
          <a:prstGeom prst="rect">
            <a:avLst/>
          </a:prstGeom>
          <a:solidFill>
            <a:srgbClr val="2D4A6E"/>
          </a:solidFill>
          <a:ln w="12700">
            <a:solidFill>
              <a:srgbClr val="162236"/>
            </a:solidFill>
            <a:prstDash val="solid"/>
          </a:ln>
        </p:spPr>
      </p:sp>
      <p:sp>
        <p:nvSpPr>
          <p:cNvPr id="35" name="Text 33"/>
          <p:cNvSpPr/>
          <p:nvPr/>
        </p:nvSpPr>
        <p:spPr>
          <a:xfrm>
            <a:off x="6675120" y="1737360"/>
            <a:ext cx="868680" cy="274320"/>
          </a:xfrm>
          <a:prstGeom prst="rect">
            <a:avLst/>
          </a:prstGeom>
          <a:noFill/>
          <a:ln/>
        </p:spPr>
        <p:txBody>
          <a:bodyPr wrap="square" lIns="0" tIns="0" rIns="0" bIns="0" rtlCol="0" anchor="ctr"/>
          <a:lstStyle/>
          <a:p>
            <a:pPr algn="ctr" indent="0" marL="0">
              <a:buNone/>
            </a:pPr>
            <a:r>
              <a:rPr lang="en-US" sz="1000" dirty="0">
                <a:solidFill>
                  <a:srgbClr val="94A3B8"/>
                </a:solidFill>
              </a:rPr>
              <a:t>#3</a:t>
            </a:r>
            <a:endParaRPr lang="en-US" sz="1000" dirty="0"/>
          </a:p>
        </p:txBody>
      </p:sp>
      <p:sp>
        <p:nvSpPr>
          <p:cNvPr id="36" name="Shape 34"/>
          <p:cNvSpPr/>
          <p:nvPr/>
        </p:nvSpPr>
        <p:spPr>
          <a:xfrm>
            <a:off x="7680960" y="1737360"/>
            <a:ext cx="868680" cy="594360"/>
          </a:xfrm>
          <a:prstGeom prst="rect">
            <a:avLst/>
          </a:prstGeom>
          <a:solidFill>
            <a:srgbClr val="2D4A6E"/>
          </a:solidFill>
          <a:ln w="12700">
            <a:solidFill>
              <a:srgbClr val="162236"/>
            </a:solidFill>
            <a:prstDash val="solid"/>
          </a:ln>
        </p:spPr>
      </p:sp>
      <p:sp>
        <p:nvSpPr>
          <p:cNvPr id="37" name="Text 35"/>
          <p:cNvSpPr/>
          <p:nvPr/>
        </p:nvSpPr>
        <p:spPr>
          <a:xfrm>
            <a:off x="7680960" y="1737360"/>
            <a:ext cx="868680" cy="274320"/>
          </a:xfrm>
          <a:prstGeom prst="rect">
            <a:avLst/>
          </a:prstGeom>
          <a:noFill/>
          <a:ln/>
        </p:spPr>
        <p:txBody>
          <a:bodyPr wrap="square" lIns="0" tIns="0" rIns="0" bIns="0" rtlCol="0" anchor="ctr"/>
          <a:lstStyle/>
          <a:p>
            <a:pPr algn="ctr" indent="0" marL="0">
              <a:buNone/>
            </a:pPr>
            <a:r>
              <a:rPr lang="en-US" sz="1000" dirty="0">
                <a:solidFill>
                  <a:srgbClr val="94A3B8"/>
                </a:solidFill>
              </a:rPr>
              <a:t>#4</a:t>
            </a:r>
            <a:endParaRPr lang="en-US" sz="1000" dirty="0"/>
          </a:p>
        </p:txBody>
      </p:sp>
      <p:sp>
        <p:nvSpPr>
          <p:cNvPr id="38" name="Shape 36"/>
          <p:cNvSpPr/>
          <p:nvPr/>
        </p:nvSpPr>
        <p:spPr>
          <a:xfrm>
            <a:off x="4663440" y="2468880"/>
            <a:ext cx="868680" cy="594360"/>
          </a:xfrm>
          <a:prstGeom prst="rect">
            <a:avLst/>
          </a:prstGeom>
          <a:solidFill>
            <a:srgbClr val="2D4A6E"/>
          </a:solidFill>
          <a:ln w="12700">
            <a:solidFill>
              <a:srgbClr val="162236"/>
            </a:solidFill>
            <a:prstDash val="solid"/>
          </a:ln>
        </p:spPr>
      </p:sp>
      <p:sp>
        <p:nvSpPr>
          <p:cNvPr id="39" name="Text 37"/>
          <p:cNvSpPr/>
          <p:nvPr/>
        </p:nvSpPr>
        <p:spPr>
          <a:xfrm>
            <a:off x="4663440" y="2468880"/>
            <a:ext cx="868680" cy="274320"/>
          </a:xfrm>
          <a:prstGeom prst="rect">
            <a:avLst/>
          </a:prstGeom>
          <a:noFill/>
          <a:ln/>
        </p:spPr>
        <p:txBody>
          <a:bodyPr wrap="square" lIns="0" tIns="0" rIns="0" bIns="0" rtlCol="0" anchor="ctr"/>
          <a:lstStyle/>
          <a:p>
            <a:pPr algn="ctr" indent="0" marL="0">
              <a:buNone/>
            </a:pPr>
            <a:r>
              <a:rPr lang="en-US" sz="1000" dirty="0">
                <a:solidFill>
                  <a:srgbClr val="94A3B8"/>
                </a:solidFill>
              </a:rPr>
              <a:t>#5</a:t>
            </a:r>
            <a:endParaRPr lang="en-US" sz="1000" dirty="0"/>
          </a:p>
        </p:txBody>
      </p:sp>
      <p:sp>
        <p:nvSpPr>
          <p:cNvPr id="40" name="Shape 38"/>
          <p:cNvSpPr/>
          <p:nvPr/>
        </p:nvSpPr>
        <p:spPr>
          <a:xfrm>
            <a:off x="5669280" y="2468880"/>
            <a:ext cx="868680" cy="594360"/>
          </a:xfrm>
          <a:prstGeom prst="rect">
            <a:avLst/>
          </a:prstGeom>
          <a:solidFill>
            <a:srgbClr val="2D4A6E"/>
          </a:solidFill>
          <a:ln w="12700">
            <a:solidFill>
              <a:srgbClr val="162236"/>
            </a:solidFill>
            <a:prstDash val="solid"/>
          </a:ln>
        </p:spPr>
      </p:sp>
      <p:sp>
        <p:nvSpPr>
          <p:cNvPr id="41" name="Text 39"/>
          <p:cNvSpPr/>
          <p:nvPr/>
        </p:nvSpPr>
        <p:spPr>
          <a:xfrm>
            <a:off x="5669280" y="2468880"/>
            <a:ext cx="868680" cy="274320"/>
          </a:xfrm>
          <a:prstGeom prst="rect">
            <a:avLst/>
          </a:prstGeom>
          <a:noFill/>
          <a:ln/>
        </p:spPr>
        <p:txBody>
          <a:bodyPr wrap="square" lIns="0" tIns="0" rIns="0" bIns="0" rtlCol="0" anchor="ctr"/>
          <a:lstStyle/>
          <a:p>
            <a:pPr algn="ctr" indent="0" marL="0">
              <a:buNone/>
            </a:pPr>
            <a:r>
              <a:rPr lang="en-US" sz="1000" dirty="0">
                <a:solidFill>
                  <a:srgbClr val="94A3B8"/>
                </a:solidFill>
              </a:rPr>
              <a:t>#6</a:t>
            </a:r>
            <a:endParaRPr lang="en-US" sz="1000" dirty="0"/>
          </a:p>
        </p:txBody>
      </p:sp>
      <p:sp>
        <p:nvSpPr>
          <p:cNvPr id="42" name="Shape 40"/>
          <p:cNvSpPr/>
          <p:nvPr/>
        </p:nvSpPr>
        <p:spPr>
          <a:xfrm>
            <a:off x="6675120" y="2468880"/>
            <a:ext cx="868680" cy="594360"/>
          </a:xfrm>
          <a:prstGeom prst="rect">
            <a:avLst/>
          </a:prstGeom>
          <a:solidFill>
            <a:srgbClr val="7C3AED"/>
          </a:solidFill>
          <a:ln w="12700">
            <a:solidFill>
              <a:srgbClr val="00D4FF"/>
            </a:solidFill>
            <a:prstDash val="solid"/>
          </a:ln>
        </p:spPr>
      </p:sp>
      <p:sp>
        <p:nvSpPr>
          <p:cNvPr id="43" name="Text 41"/>
          <p:cNvSpPr/>
          <p:nvPr/>
        </p:nvSpPr>
        <p:spPr>
          <a:xfrm>
            <a:off x="6675120" y="2468880"/>
            <a:ext cx="868680" cy="274320"/>
          </a:xfrm>
          <a:prstGeom prst="rect">
            <a:avLst/>
          </a:prstGeom>
          <a:noFill/>
          <a:ln/>
        </p:spPr>
        <p:txBody>
          <a:bodyPr wrap="square" lIns="0" tIns="0" rIns="0" bIns="0" rtlCol="0" anchor="ctr"/>
          <a:lstStyle/>
          <a:p>
            <a:pPr algn="ctr" indent="0" marL="0">
              <a:buNone/>
            </a:pPr>
            <a:r>
              <a:rPr lang="en-US" sz="1000" dirty="0">
                <a:solidFill>
                  <a:srgbClr val="94A3B8"/>
                </a:solidFill>
              </a:rPr>
              <a:t>#7</a:t>
            </a:r>
            <a:endParaRPr lang="en-US" sz="1000" dirty="0"/>
          </a:p>
        </p:txBody>
      </p:sp>
      <p:sp>
        <p:nvSpPr>
          <p:cNvPr id="44" name="Text 42"/>
          <p:cNvSpPr/>
          <p:nvPr/>
        </p:nvSpPr>
        <p:spPr>
          <a:xfrm>
            <a:off x="6675120" y="2724912"/>
            <a:ext cx="868680" cy="292608"/>
          </a:xfrm>
          <a:prstGeom prst="rect">
            <a:avLst/>
          </a:prstGeom>
          <a:noFill/>
          <a:ln/>
        </p:spPr>
        <p:txBody>
          <a:bodyPr wrap="square" lIns="0" tIns="0" rIns="0" bIns="0" rtlCol="0" anchor="ctr"/>
          <a:lstStyle/>
          <a:p>
            <a:pPr algn="ctr" indent="0" marL="0">
              <a:buNone/>
            </a:pPr>
            <a:r>
              <a:rPr lang="en-US" sz="1100" b="1" dirty="0">
                <a:solidFill>
                  <a:srgbClr val="FFFFFF"/>
                </a:solidFill>
              </a:rPr>
              <a:t>A/p0</a:t>
            </a:r>
            <a:endParaRPr lang="en-US" sz="1100" dirty="0"/>
          </a:p>
        </p:txBody>
      </p:sp>
      <p:sp>
        <p:nvSpPr>
          <p:cNvPr id="45" name="Shape 43"/>
          <p:cNvSpPr/>
          <p:nvPr/>
        </p:nvSpPr>
        <p:spPr>
          <a:xfrm>
            <a:off x="7680960" y="2468880"/>
            <a:ext cx="868680" cy="594360"/>
          </a:xfrm>
          <a:prstGeom prst="rect">
            <a:avLst/>
          </a:prstGeom>
          <a:solidFill>
            <a:srgbClr val="2D4A6E"/>
          </a:solidFill>
          <a:ln w="12700">
            <a:solidFill>
              <a:srgbClr val="162236"/>
            </a:solidFill>
            <a:prstDash val="solid"/>
          </a:ln>
        </p:spPr>
      </p:sp>
      <p:sp>
        <p:nvSpPr>
          <p:cNvPr id="46" name="Text 44"/>
          <p:cNvSpPr/>
          <p:nvPr/>
        </p:nvSpPr>
        <p:spPr>
          <a:xfrm>
            <a:off x="7680960" y="2468880"/>
            <a:ext cx="868680" cy="274320"/>
          </a:xfrm>
          <a:prstGeom prst="rect">
            <a:avLst/>
          </a:prstGeom>
          <a:noFill/>
          <a:ln/>
        </p:spPr>
        <p:txBody>
          <a:bodyPr wrap="square" lIns="0" tIns="0" rIns="0" bIns="0" rtlCol="0" anchor="ctr"/>
          <a:lstStyle/>
          <a:p>
            <a:pPr algn="ctr" indent="0" marL="0">
              <a:buNone/>
            </a:pPr>
            <a:r>
              <a:rPr lang="en-US" sz="1000" dirty="0">
                <a:solidFill>
                  <a:srgbClr val="94A3B8"/>
                </a:solidFill>
              </a:rPr>
              <a:t>#8</a:t>
            </a:r>
            <a:endParaRPr lang="en-US" sz="1000" dirty="0"/>
          </a:p>
        </p:txBody>
      </p:sp>
      <p:sp>
        <p:nvSpPr>
          <p:cNvPr id="47" name="Shape 45"/>
          <p:cNvSpPr/>
          <p:nvPr/>
        </p:nvSpPr>
        <p:spPr>
          <a:xfrm>
            <a:off x="4663440" y="3200400"/>
            <a:ext cx="868680" cy="594360"/>
          </a:xfrm>
          <a:prstGeom prst="rect">
            <a:avLst/>
          </a:prstGeom>
          <a:solidFill>
            <a:srgbClr val="2D4A6E"/>
          </a:solidFill>
          <a:ln w="12700">
            <a:solidFill>
              <a:srgbClr val="162236"/>
            </a:solidFill>
            <a:prstDash val="solid"/>
          </a:ln>
        </p:spPr>
      </p:sp>
      <p:sp>
        <p:nvSpPr>
          <p:cNvPr id="48" name="Text 46"/>
          <p:cNvSpPr/>
          <p:nvPr/>
        </p:nvSpPr>
        <p:spPr>
          <a:xfrm>
            <a:off x="4663440" y="3200400"/>
            <a:ext cx="868680" cy="274320"/>
          </a:xfrm>
          <a:prstGeom prst="rect">
            <a:avLst/>
          </a:prstGeom>
          <a:noFill/>
          <a:ln/>
        </p:spPr>
        <p:txBody>
          <a:bodyPr wrap="square" lIns="0" tIns="0" rIns="0" bIns="0" rtlCol="0" anchor="ctr"/>
          <a:lstStyle/>
          <a:p>
            <a:pPr algn="ctr" indent="0" marL="0">
              <a:buNone/>
            </a:pPr>
            <a:r>
              <a:rPr lang="en-US" sz="1000" dirty="0">
                <a:solidFill>
                  <a:srgbClr val="94A3B8"/>
                </a:solidFill>
              </a:rPr>
              <a:t>#9</a:t>
            </a:r>
            <a:endParaRPr lang="en-US" sz="1000" dirty="0"/>
          </a:p>
        </p:txBody>
      </p:sp>
      <p:sp>
        <p:nvSpPr>
          <p:cNvPr id="49" name="Shape 47"/>
          <p:cNvSpPr/>
          <p:nvPr/>
        </p:nvSpPr>
        <p:spPr>
          <a:xfrm>
            <a:off x="5669280" y="3200400"/>
            <a:ext cx="868680" cy="594360"/>
          </a:xfrm>
          <a:prstGeom prst="rect">
            <a:avLst/>
          </a:prstGeom>
          <a:solidFill>
            <a:srgbClr val="2D4A6E"/>
          </a:solidFill>
          <a:ln w="12700">
            <a:solidFill>
              <a:srgbClr val="162236"/>
            </a:solidFill>
            <a:prstDash val="solid"/>
          </a:ln>
        </p:spPr>
      </p:sp>
      <p:sp>
        <p:nvSpPr>
          <p:cNvPr id="50" name="Text 48"/>
          <p:cNvSpPr/>
          <p:nvPr/>
        </p:nvSpPr>
        <p:spPr>
          <a:xfrm>
            <a:off x="5669280" y="3200400"/>
            <a:ext cx="868680" cy="274320"/>
          </a:xfrm>
          <a:prstGeom prst="rect">
            <a:avLst/>
          </a:prstGeom>
          <a:noFill/>
          <a:ln/>
        </p:spPr>
        <p:txBody>
          <a:bodyPr wrap="square" lIns="0" tIns="0" rIns="0" bIns="0" rtlCol="0" anchor="ctr"/>
          <a:lstStyle/>
          <a:p>
            <a:pPr algn="ctr" indent="0" marL="0">
              <a:buNone/>
            </a:pPr>
            <a:r>
              <a:rPr lang="en-US" sz="1000" dirty="0">
                <a:solidFill>
                  <a:srgbClr val="94A3B8"/>
                </a:solidFill>
              </a:rPr>
              <a:t>#10</a:t>
            </a:r>
            <a:endParaRPr lang="en-US" sz="1000" dirty="0"/>
          </a:p>
        </p:txBody>
      </p:sp>
      <p:sp>
        <p:nvSpPr>
          <p:cNvPr id="51" name="Shape 49"/>
          <p:cNvSpPr/>
          <p:nvPr/>
        </p:nvSpPr>
        <p:spPr>
          <a:xfrm>
            <a:off x="6675120" y="3200400"/>
            <a:ext cx="868680" cy="594360"/>
          </a:xfrm>
          <a:prstGeom prst="rect">
            <a:avLst/>
          </a:prstGeom>
          <a:solidFill>
            <a:srgbClr val="2D4A6E"/>
          </a:solidFill>
          <a:ln w="12700">
            <a:solidFill>
              <a:srgbClr val="162236"/>
            </a:solidFill>
            <a:prstDash val="solid"/>
          </a:ln>
        </p:spPr>
      </p:sp>
      <p:sp>
        <p:nvSpPr>
          <p:cNvPr id="52" name="Text 50"/>
          <p:cNvSpPr/>
          <p:nvPr/>
        </p:nvSpPr>
        <p:spPr>
          <a:xfrm>
            <a:off x="6675120" y="3200400"/>
            <a:ext cx="868680" cy="274320"/>
          </a:xfrm>
          <a:prstGeom prst="rect">
            <a:avLst/>
          </a:prstGeom>
          <a:noFill/>
          <a:ln/>
        </p:spPr>
        <p:txBody>
          <a:bodyPr wrap="square" lIns="0" tIns="0" rIns="0" bIns="0" rtlCol="0" anchor="ctr"/>
          <a:lstStyle/>
          <a:p>
            <a:pPr algn="ctr" indent="0" marL="0">
              <a:buNone/>
            </a:pPr>
            <a:r>
              <a:rPr lang="en-US" sz="1000" dirty="0">
                <a:solidFill>
                  <a:srgbClr val="94A3B8"/>
                </a:solidFill>
              </a:rPr>
              <a:t>#11</a:t>
            </a:r>
            <a:endParaRPr lang="en-US" sz="1000" dirty="0"/>
          </a:p>
        </p:txBody>
      </p:sp>
      <p:sp>
        <p:nvSpPr>
          <p:cNvPr id="53" name="Shape 51"/>
          <p:cNvSpPr/>
          <p:nvPr/>
        </p:nvSpPr>
        <p:spPr>
          <a:xfrm>
            <a:off x="7680960" y="3200400"/>
            <a:ext cx="868680" cy="594360"/>
          </a:xfrm>
          <a:prstGeom prst="rect">
            <a:avLst/>
          </a:prstGeom>
          <a:solidFill>
            <a:srgbClr val="2D4A6E"/>
          </a:solidFill>
          <a:ln w="12700">
            <a:solidFill>
              <a:srgbClr val="162236"/>
            </a:solidFill>
            <a:prstDash val="solid"/>
          </a:ln>
        </p:spPr>
      </p:sp>
      <p:sp>
        <p:nvSpPr>
          <p:cNvPr id="54" name="Text 52"/>
          <p:cNvSpPr/>
          <p:nvPr/>
        </p:nvSpPr>
        <p:spPr>
          <a:xfrm>
            <a:off x="7680960" y="3200400"/>
            <a:ext cx="868680" cy="274320"/>
          </a:xfrm>
          <a:prstGeom prst="rect">
            <a:avLst/>
          </a:prstGeom>
          <a:noFill/>
          <a:ln/>
        </p:spPr>
        <p:txBody>
          <a:bodyPr wrap="square" lIns="0" tIns="0" rIns="0" bIns="0" rtlCol="0" anchor="ctr"/>
          <a:lstStyle/>
          <a:p>
            <a:pPr algn="ctr" indent="0" marL="0">
              <a:buNone/>
            </a:pPr>
            <a:r>
              <a:rPr lang="en-US" sz="1000" dirty="0">
                <a:solidFill>
                  <a:srgbClr val="94A3B8"/>
                </a:solidFill>
              </a:rPr>
              <a:t>#12</a:t>
            </a:r>
            <a:endParaRPr lang="en-US" sz="1000" dirty="0"/>
          </a:p>
        </p:txBody>
      </p:sp>
      <p:sp>
        <p:nvSpPr>
          <p:cNvPr id="55" name="Shape 53"/>
          <p:cNvSpPr/>
          <p:nvPr/>
        </p:nvSpPr>
        <p:spPr>
          <a:xfrm>
            <a:off x="365760" y="4315968"/>
            <a:ext cx="8412480" cy="594360"/>
          </a:xfrm>
          <a:prstGeom prst="rect">
            <a:avLst/>
          </a:prstGeom>
          <a:solidFill>
            <a:srgbClr val="001A00"/>
          </a:solidFill>
          <a:ln w="12700">
            <a:solidFill>
              <a:srgbClr val="10B981"/>
            </a:solidFill>
            <a:prstDash val="solid"/>
          </a:ln>
        </p:spPr>
      </p:sp>
      <p:sp>
        <p:nvSpPr>
          <p:cNvPr id="56" name="Text 54"/>
          <p:cNvSpPr/>
          <p:nvPr/>
        </p:nvSpPr>
        <p:spPr>
          <a:xfrm>
            <a:off x="548640" y="4370832"/>
            <a:ext cx="8046720" cy="475488"/>
          </a:xfrm>
          <a:prstGeom prst="rect">
            <a:avLst/>
          </a:prstGeom>
          <a:noFill/>
          <a:ln/>
        </p:spPr>
        <p:txBody>
          <a:bodyPr wrap="square" lIns="0" tIns="0" rIns="0" bIns="0" rtlCol="0" anchor="ctr"/>
          <a:lstStyle/>
          <a:p>
            <a:pPr algn="ctr" indent="0" marL="0">
              <a:buNone/>
            </a:pPr>
            <a:r>
              <a:rPr lang="en-US" sz="1500" b="1" dirty="0">
                <a:solidFill>
                  <a:srgbClr val="10B981"/>
                </a:solidFill>
              </a:rPr>
              <a:t>📉  Kết quả thực nghiệm: Internal Fragmentation giảm từ 60–80%  →  dưới 4%</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w="12700">
            <a:solidFill>
              <a:srgbClr val="10B981"/>
            </a:solidFill>
            <a:prstDash val="solid"/>
          </a:ln>
        </p:spPr>
      </p:sp>
      <p:sp>
        <p:nvSpPr>
          <p:cNvPr id="3" name="Text 1"/>
          <p:cNvSpPr/>
          <p:nvPr/>
        </p:nvSpPr>
        <p:spPr>
          <a:xfrm>
            <a:off x="365760" y="137160"/>
            <a:ext cx="8412480" cy="548640"/>
          </a:xfrm>
          <a:prstGeom prst="rect">
            <a:avLst/>
          </a:prstGeom>
          <a:noFill/>
          <a:ln/>
        </p:spPr>
        <p:txBody>
          <a:bodyPr wrap="square" lIns="0" tIns="0" rIns="0" bIns="0" rtlCol="0" anchor="ctr"/>
          <a:lstStyle/>
          <a:p>
            <a:pPr indent="0" marL="0">
              <a:buNone/>
            </a:pPr>
            <a:r>
              <a:rPr lang="en-US" sz="2400" b="1" dirty="0">
                <a:solidFill>
                  <a:srgbClr val="F0F6FF"/>
                </a:solidFill>
                <a:latin typeface="Calibri" pitchFamily="34" charset="0"/>
                <a:ea typeface="Calibri" pitchFamily="34" charset="-122"/>
                <a:cs typeface="Calibri" pitchFamily="34" charset="-120"/>
              </a:rPr>
              <a:t>🔗 Prefix Caching — Chia Sẻ Tri Thức Giữa Các Yêu Cầu</a:t>
            </a:r>
            <a:endParaRPr lang="en-US" sz="2400" dirty="0"/>
          </a:p>
        </p:txBody>
      </p:sp>
      <p:sp>
        <p:nvSpPr>
          <p:cNvPr id="4" name="Text 2"/>
          <p:cNvSpPr/>
          <p:nvPr/>
        </p:nvSpPr>
        <p:spPr>
          <a:xfrm>
            <a:off x="365760" y="777240"/>
            <a:ext cx="8412480" cy="365760"/>
          </a:xfrm>
          <a:prstGeom prst="rect">
            <a:avLst/>
          </a:prstGeom>
          <a:noFill/>
          <a:ln/>
        </p:spPr>
        <p:txBody>
          <a:bodyPr wrap="square" lIns="0" tIns="0" rIns="0" bIns="0" rtlCol="0" anchor="ctr"/>
          <a:lstStyle/>
          <a:p>
            <a:pPr indent="0" marL="0">
              <a:buNone/>
            </a:pPr>
            <a:r>
              <a:rPr lang="en-US" sz="1300" dirty="0">
                <a:solidFill>
                  <a:srgbClr val="94A3B8"/>
                </a:solidFill>
              </a:rPr>
              <a:t>PagedAttention cho phép nhiều request chia sẻ cùng một trang vật lý nếu chúng có phần tiền tố (prefix) giống nhau.</a:t>
            </a:r>
            <a:endParaRPr lang="en-US" sz="1300" dirty="0"/>
          </a:p>
        </p:txBody>
      </p:sp>
      <p:sp>
        <p:nvSpPr>
          <p:cNvPr id="5" name="Shape 3"/>
          <p:cNvSpPr/>
          <p:nvPr/>
        </p:nvSpPr>
        <p:spPr>
          <a:xfrm>
            <a:off x="365760" y="1234440"/>
            <a:ext cx="8412480" cy="1920240"/>
          </a:xfrm>
          <a:prstGeom prst="rect">
            <a:avLst/>
          </a:prstGeom>
          <a:solidFill>
            <a:srgbClr val="1E2F47"/>
          </a:solidFill>
          <a:ln w="12700">
            <a:solidFill>
              <a:srgbClr val="10B981"/>
            </a:solidFill>
            <a:prstDash val="solid"/>
          </a:ln>
          <a:effectLst>
            <a:outerShdw sx="100000" sy="100000" kx="0" ky="0" algn="bl" rotWithShape="0" blurRad="101600" dist="38100" dir="8100000">
              <a:srgbClr val="000000">
                <a:alpha val="25000"/>
              </a:srgbClr>
            </a:outerShdw>
          </a:effectLst>
        </p:spPr>
      </p:sp>
      <p:sp>
        <p:nvSpPr>
          <p:cNvPr id="6" name="Shape 4"/>
          <p:cNvSpPr/>
          <p:nvPr/>
        </p:nvSpPr>
        <p:spPr>
          <a:xfrm>
            <a:off x="502920" y="1371600"/>
            <a:ext cx="3657600" cy="548640"/>
          </a:xfrm>
          <a:prstGeom prst="rect">
            <a:avLst/>
          </a:prstGeom>
          <a:solidFill>
            <a:srgbClr val="10B981"/>
          </a:solidFill>
          <a:ln w="12700">
            <a:solidFill>
              <a:srgbClr val="10B981"/>
            </a:solidFill>
            <a:prstDash val="solid"/>
          </a:ln>
        </p:spPr>
      </p:sp>
      <p:sp>
        <p:nvSpPr>
          <p:cNvPr id="7" name="Text 5"/>
          <p:cNvSpPr/>
          <p:nvPr/>
        </p:nvSpPr>
        <p:spPr>
          <a:xfrm>
            <a:off x="502920" y="1371600"/>
            <a:ext cx="3657600" cy="548640"/>
          </a:xfrm>
          <a:prstGeom prst="rect">
            <a:avLst/>
          </a:prstGeom>
          <a:noFill/>
          <a:ln/>
        </p:spPr>
        <p:txBody>
          <a:bodyPr wrap="square" lIns="0" tIns="0" rIns="0" bIns="0" rtlCol="0" anchor="ctr"/>
          <a:lstStyle/>
          <a:p>
            <a:pPr algn="ctr" indent="0" marL="0">
              <a:buNone/>
            </a:pPr>
            <a:r>
              <a:rPr lang="en-US" sz="1200" b="1" dirty="0">
                <a:solidFill>
                  <a:srgbClr val="0F1B2D"/>
                </a:solidFill>
              </a:rPr>
              <a:t>🤝 SYSTEM PROMPT CHUNG (Chia sẻ)</a:t>
            </a:r>
            <a:endParaRPr lang="en-US" sz="1200" dirty="0"/>
          </a:p>
        </p:txBody>
      </p:sp>
      <p:sp>
        <p:nvSpPr>
          <p:cNvPr id="8" name="Shape 6"/>
          <p:cNvSpPr/>
          <p:nvPr/>
        </p:nvSpPr>
        <p:spPr>
          <a:xfrm>
            <a:off x="2331720" y="1920240"/>
            <a:ext cx="0" cy="457200"/>
          </a:xfrm>
          <a:prstGeom prst="line">
            <a:avLst/>
          </a:prstGeom>
          <a:noFill/>
          <a:ln w="12700">
            <a:solidFill>
              <a:srgbClr val="10B981"/>
            </a:solidFill>
            <a:prstDash val="solid"/>
          </a:ln>
        </p:spPr>
      </p:sp>
      <p:sp>
        <p:nvSpPr>
          <p:cNvPr id="9" name="Shape 7"/>
          <p:cNvSpPr/>
          <p:nvPr/>
        </p:nvSpPr>
        <p:spPr>
          <a:xfrm>
            <a:off x="2331720" y="2377440"/>
            <a:ext cx="-1371600" cy="274320"/>
          </a:xfrm>
          <a:prstGeom prst="line">
            <a:avLst/>
          </a:prstGeom>
          <a:noFill/>
          <a:ln w="12700">
            <a:solidFill>
              <a:srgbClr val="10B981"/>
            </a:solidFill>
            <a:prstDash val="solid"/>
          </a:ln>
        </p:spPr>
      </p:sp>
      <p:sp>
        <p:nvSpPr>
          <p:cNvPr id="10" name="Shape 8"/>
          <p:cNvSpPr/>
          <p:nvPr/>
        </p:nvSpPr>
        <p:spPr>
          <a:xfrm>
            <a:off x="2331720" y="2377440"/>
            <a:ext cx="1371600" cy="274320"/>
          </a:xfrm>
          <a:prstGeom prst="line">
            <a:avLst/>
          </a:prstGeom>
          <a:noFill/>
          <a:ln w="12700">
            <a:solidFill>
              <a:srgbClr val="10B981"/>
            </a:solidFill>
            <a:prstDash val="solid"/>
          </a:ln>
        </p:spPr>
      </p:sp>
      <p:sp>
        <p:nvSpPr>
          <p:cNvPr id="11" name="Shape 9"/>
          <p:cNvSpPr/>
          <p:nvPr/>
        </p:nvSpPr>
        <p:spPr>
          <a:xfrm>
            <a:off x="502920" y="2651760"/>
            <a:ext cx="1645920" cy="411480"/>
          </a:xfrm>
          <a:prstGeom prst="rect">
            <a:avLst/>
          </a:prstGeom>
          <a:solidFill>
            <a:srgbClr val="7C3AED"/>
          </a:solidFill>
          <a:ln w="12700">
            <a:solidFill>
              <a:srgbClr val="7C3AED"/>
            </a:solidFill>
            <a:prstDash val="solid"/>
          </a:ln>
        </p:spPr>
      </p:sp>
      <p:sp>
        <p:nvSpPr>
          <p:cNvPr id="12" name="Text 10"/>
          <p:cNvSpPr/>
          <p:nvPr/>
        </p:nvSpPr>
        <p:spPr>
          <a:xfrm>
            <a:off x="502920" y="2651760"/>
            <a:ext cx="1645920" cy="411480"/>
          </a:xfrm>
          <a:prstGeom prst="rect">
            <a:avLst/>
          </a:prstGeom>
          <a:noFill/>
          <a:ln/>
        </p:spPr>
        <p:txBody>
          <a:bodyPr wrap="square" lIns="0" tIns="0" rIns="0" bIns="0" rtlCol="0" anchor="ctr"/>
          <a:lstStyle/>
          <a:p>
            <a:pPr algn="ctr" indent="0" marL="0">
              <a:buNone/>
            </a:pPr>
            <a:r>
              <a:rPr lang="en-US" sz="1100" b="1" dirty="0">
                <a:solidFill>
                  <a:srgbClr val="FFFFFF"/>
                </a:solidFill>
              </a:rPr>
              <a:t>User: Hỏi về Python</a:t>
            </a:r>
            <a:endParaRPr lang="en-US" sz="1100" dirty="0"/>
          </a:p>
        </p:txBody>
      </p:sp>
      <p:sp>
        <p:nvSpPr>
          <p:cNvPr id="13" name="Shape 11"/>
          <p:cNvSpPr/>
          <p:nvPr/>
        </p:nvSpPr>
        <p:spPr>
          <a:xfrm>
            <a:off x="2560320" y="2651760"/>
            <a:ext cx="1645920" cy="411480"/>
          </a:xfrm>
          <a:prstGeom prst="rect">
            <a:avLst/>
          </a:prstGeom>
          <a:solidFill>
            <a:srgbClr val="F59E0B"/>
          </a:solidFill>
          <a:ln w="12700">
            <a:solidFill>
              <a:srgbClr val="F59E0B"/>
            </a:solidFill>
            <a:prstDash val="solid"/>
          </a:ln>
        </p:spPr>
      </p:sp>
      <p:sp>
        <p:nvSpPr>
          <p:cNvPr id="14" name="Text 12"/>
          <p:cNvSpPr/>
          <p:nvPr/>
        </p:nvSpPr>
        <p:spPr>
          <a:xfrm>
            <a:off x="2560320" y="2651760"/>
            <a:ext cx="1645920" cy="411480"/>
          </a:xfrm>
          <a:prstGeom prst="rect">
            <a:avLst/>
          </a:prstGeom>
          <a:noFill/>
          <a:ln/>
        </p:spPr>
        <p:txBody>
          <a:bodyPr wrap="square" lIns="0" tIns="0" rIns="0" bIns="0" rtlCol="0" anchor="ctr"/>
          <a:lstStyle/>
          <a:p>
            <a:pPr algn="ctr" indent="0" marL="0">
              <a:buNone/>
            </a:pPr>
            <a:r>
              <a:rPr lang="en-US" sz="1100" b="1" dirty="0">
                <a:solidFill>
                  <a:srgbClr val="FFFFFF"/>
                </a:solidFill>
              </a:rPr>
              <a:t>User: Hỏi về Rust</a:t>
            </a:r>
            <a:endParaRPr lang="en-US" sz="1100" dirty="0"/>
          </a:p>
        </p:txBody>
      </p:sp>
      <p:sp>
        <p:nvSpPr>
          <p:cNvPr id="15" name="Text 13"/>
          <p:cNvSpPr/>
          <p:nvPr/>
        </p:nvSpPr>
        <p:spPr>
          <a:xfrm>
            <a:off x="4572000" y="1463040"/>
            <a:ext cx="4023360" cy="1463040"/>
          </a:xfrm>
          <a:prstGeom prst="rect">
            <a:avLst/>
          </a:prstGeom>
          <a:noFill/>
          <a:ln/>
        </p:spPr>
        <p:txBody>
          <a:bodyPr wrap="square" lIns="127000" tIns="127000" rIns="127000" bIns="127000" rtlCol="0" anchor="ctr"/>
          <a:lstStyle/>
          <a:p>
            <a:pPr indent="0" marL="0">
              <a:buNone/>
            </a:pPr>
            <a:r>
              <a:rPr lang="en-US" sz="1300" dirty="0">
                <a:solidFill>
                  <a:srgbClr val="F0F6FF"/>
                </a:solidFill>
              </a:rPr>
              <a:t>KV Cache của System Prompt được tính 1 lần duy nhất → Cả A và B đều đọc từ cùng trang bộ nhớ vật lý</a:t>
            </a:r>
            <a:endParaRPr lang="en-US" sz="1300" dirty="0"/>
          </a:p>
        </p:txBody>
      </p:sp>
      <p:sp>
        <p:nvSpPr>
          <p:cNvPr id="16" name="Shape 14"/>
          <p:cNvSpPr/>
          <p:nvPr/>
        </p:nvSpPr>
        <p:spPr>
          <a:xfrm>
            <a:off x="365760" y="3291840"/>
            <a:ext cx="8412480" cy="475488"/>
          </a:xfrm>
          <a:prstGeom prst="rect">
            <a:avLst/>
          </a:prstGeom>
          <a:solidFill>
            <a:srgbClr val="1E2F47"/>
          </a:solidFill>
          <a:ln w="12700">
            <a:solidFill>
              <a:srgbClr val="162236"/>
            </a:solidFill>
            <a:prstDash val="solid"/>
          </a:ln>
        </p:spPr>
      </p:sp>
      <p:sp>
        <p:nvSpPr>
          <p:cNvPr id="17" name="Text 15"/>
          <p:cNvSpPr/>
          <p:nvPr/>
        </p:nvSpPr>
        <p:spPr>
          <a:xfrm>
            <a:off x="502920" y="3364992"/>
            <a:ext cx="2103120" cy="329184"/>
          </a:xfrm>
          <a:prstGeom prst="rect">
            <a:avLst/>
          </a:prstGeom>
          <a:noFill/>
          <a:ln/>
        </p:spPr>
        <p:txBody>
          <a:bodyPr wrap="square" lIns="0" tIns="0" rIns="0" bIns="0" rtlCol="0" anchor="ctr"/>
          <a:lstStyle/>
          <a:p>
            <a:pPr indent="0" marL="0">
              <a:buNone/>
            </a:pPr>
            <a:r>
              <a:rPr lang="en-US" sz="1300" b="1" dirty="0">
                <a:solidFill>
                  <a:srgbClr val="00D4FF"/>
                </a:solidFill>
              </a:rPr>
              <a:t>⚡ TTFT giảm mạnh</a:t>
            </a:r>
            <a:endParaRPr lang="en-US" sz="1300" dirty="0"/>
          </a:p>
        </p:txBody>
      </p:sp>
      <p:sp>
        <p:nvSpPr>
          <p:cNvPr id="18" name="Shape 16"/>
          <p:cNvSpPr/>
          <p:nvPr/>
        </p:nvSpPr>
        <p:spPr>
          <a:xfrm>
            <a:off x="2651760" y="3383280"/>
            <a:ext cx="0" cy="292608"/>
          </a:xfrm>
          <a:prstGeom prst="line">
            <a:avLst/>
          </a:prstGeom>
          <a:noFill/>
          <a:ln w="12700">
            <a:solidFill>
              <a:srgbClr val="7C3AED"/>
            </a:solidFill>
            <a:prstDash val="solid"/>
          </a:ln>
        </p:spPr>
      </p:sp>
      <p:sp>
        <p:nvSpPr>
          <p:cNvPr id="19" name="Text 17"/>
          <p:cNvSpPr/>
          <p:nvPr/>
        </p:nvSpPr>
        <p:spPr>
          <a:xfrm>
            <a:off x="2788920" y="3364992"/>
            <a:ext cx="5852160" cy="329184"/>
          </a:xfrm>
          <a:prstGeom prst="rect">
            <a:avLst/>
          </a:prstGeom>
          <a:noFill/>
          <a:ln/>
        </p:spPr>
        <p:txBody>
          <a:bodyPr wrap="square" lIns="0" tIns="0" rIns="0" bIns="0" rtlCol="0" anchor="ctr"/>
          <a:lstStyle/>
          <a:p>
            <a:pPr indent="0" marL="0">
              <a:buNone/>
            </a:pPr>
            <a:r>
              <a:rPr lang="en-US" sz="1200" dirty="0">
                <a:solidFill>
                  <a:srgbClr val="94A3B8"/>
                </a:solidFill>
              </a:rPr>
              <a:t>Không cần tính lại KV Cache cho system prompt → giảm thời gian đến token đầu tiên</a:t>
            </a:r>
            <a:endParaRPr lang="en-US" sz="1200" dirty="0"/>
          </a:p>
        </p:txBody>
      </p:sp>
      <p:sp>
        <p:nvSpPr>
          <p:cNvPr id="20" name="Shape 18"/>
          <p:cNvSpPr/>
          <p:nvPr/>
        </p:nvSpPr>
        <p:spPr>
          <a:xfrm>
            <a:off x="365760" y="3840480"/>
            <a:ext cx="8412480" cy="475488"/>
          </a:xfrm>
          <a:prstGeom prst="rect">
            <a:avLst/>
          </a:prstGeom>
          <a:solidFill>
            <a:srgbClr val="1E2F47"/>
          </a:solidFill>
          <a:ln w="12700">
            <a:solidFill>
              <a:srgbClr val="162236"/>
            </a:solidFill>
            <a:prstDash val="solid"/>
          </a:ln>
        </p:spPr>
      </p:sp>
      <p:sp>
        <p:nvSpPr>
          <p:cNvPr id="21" name="Text 19"/>
          <p:cNvSpPr/>
          <p:nvPr/>
        </p:nvSpPr>
        <p:spPr>
          <a:xfrm>
            <a:off x="502920" y="3913632"/>
            <a:ext cx="2103120" cy="329184"/>
          </a:xfrm>
          <a:prstGeom prst="rect">
            <a:avLst/>
          </a:prstGeom>
          <a:noFill/>
          <a:ln/>
        </p:spPr>
        <p:txBody>
          <a:bodyPr wrap="square" lIns="0" tIns="0" rIns="0" bIns="0" rtlCol="0" anchor="ctr"/>
          <a:lstStyle/>
          <a:p>
            <a:pPr indent="0" marL="0">
              <a:buNone/>
            </a:pPr>
            <a:r>
              <a:rPr lang="en-US" sz="1300" b="1" dirty="0">
                <a:solidFill>
                  <a:srgbClr val="00D4FF"/>
                </a:solidFill>
              </a:rPr>
              <a:t>💾 Tiết kiệm VRAM</a:t>
            </a:r>
            <a:endParaRPr lang="en-US" sz="1300" dirty="0"/>
          </a:p>
        </p:txBody>
      </p:sp>
      <p:sp>
        <p:nvSpPr>
          <p:cNvPr id="22" name="Shape 20"/>
          <p:cNvSpPr/>
          <p:nvPr/>
        </p:nvSpPr>
        <p:spPr>
          <a:xfrm>
            <a:off x="2651760" y="3931920"/>
            <a:ext cx="0" cy="292608"/>
          </a:xfrm>
          <a:prstGeom prst="line">
            <a:avLst/>
          </a:prstGeom>
          <a:noFill/>
          <a:ln w="12700">
            <a:solidFill>
              <a:srgbClr val="7C3AED"/>
            </a:solidFill>
            <a:prstDash val="solid"/>
          </a:ln>
        </p:spPr>
      </p:sp>
      <p:sp>
        <p:nvSpPr>
          <p:cNvPr id="23" name="Text 21"/>
          <p:cNvSpPr/>
          <p:nvPr/>
        </p:nvSpPr>
        <p:spPr>
          <a:xfrm>
            <a:off x="2788920" y="3913632"/>
            <a:ext cx="5852160" cy="329184"/>
          </a:xfrm>
          <a:prstGeom prst="rect">
            <a:avLst/>
          </a:prstGeom>
          <a:noFill/>
          <a:ln/>
        </p:spPr>
        <p:txBody>
          <a:bodyPr wrap="square" lIns="0" tIns="0" rIns="0" bIns="0" rtlCol="0" anchor="ctr"/>
          <a:lstStyle/>
          <a:p>
            <a:pPr indent="0" marL="0">
              <a:buNone/>
            </a:pPr>
            <a:r>
              <a:rPr lang="en-US" sz="1200" dirty="0">
                <a:solidFill>
                  <a:srgbClr val="94A3B8"/>
                </a:solidFill>
              </a:rPr>
              <a:t>N request dùng chung 1 system prompt dài chỉ chiếm 1 bản KV Cache thay vì N bản</a:t>
            </a:r>
            <a:endParaRPr lang="en-US" sz="1200" dirty="0"/>
          </a:p>
        </p:txBody>
      </p:sp>
      <p:sp>
        <p:nvSpPr>
          <p:cNvPr id="24" name="Shape 22"/>
          <p:cNvSpPr/>
          <p:nvPr/>
        </p:nvSpPr>
        <p:spPr>
          <a:xfrm>
            <a:off x="365760" y="4389120"/>
            <a:ext cx="8412480" cy="475488"/>
          </a:xfrm>
          <a:prstGeom prst="rect">
            <a:avLst/>
          </a:prstGeom>
          <a:solidFill>
            <a:srgbClr val="1E2F47"/>
          </a:solidFill>
          <a:ln w="12700">
            <a:solidFill>
              <a:srgbClr val="162236"/>
            </a:solidFill>
            <a:prstDash val="solid"/>
          </a:ln>
        </p:spPr>
      </p:sp>
      <p:sp>
        <p:nvSpPr>
          <p:cNvPr id="25" name="Text 23"/>
          <p:cNvSpPr/>
          <p:nvPr/>
        </p:nvSpPr>
        <p:spPr>
          <a:xfrm>
            <a:off x="502920" y="4462272"/>
            <a:ext cx="2103120" cy="329184"/>
          </a:xfrm>
          <a:prstGeom prst="rect">
            <a:avLst/>
          </a:prstGeom>
          <a:noFill/>
          <a:ln/>
        </p:spPr>
        <p:txBody>
          <a:bodyPr wrap="square" lIns="0" tIns="0" rIns="0" bIns="0" rtlCol="0" anchor="ctr"/>
          <a:lstStyle/>
          <a:p>
            <a:pPr indent="0" marL="0">
              <a:buNone/>
            </a:pPr>
            <a:r>
              <a:rPr lang="en-US" sz="1300" b="1" dirty="0">
                <a:solidFill>
                  <a:srgbClr val="00D4FF"/>
                </a:solidFill>
              </a:rPr>
              <a:t>🔄 Multi-turn Chat</a:t>
            </a:r>
            <a:endParaRPr lang="en-US" sz="1300" dirty="0"/>
          </a:p>
        </p:txBody>
      </p:sp>
      <p:sp>
        <p:nvSpPr>
          <p:cNvPr id="26" name="Shape 24"/>
          <p:cNvSpPr/>
          <p:nvPr/>
        </p:nvSpPr>
        <p:spPr>
          <a:xfrm>
            <a:off x="2651760" y="4480560"/>
            <a:ext cx="0" cy="292608"/>
          </a:xfrm>
          <a:prstGeom prst="line">
            <a:avLst/>
          </a:prstGeom>
          <a:noFill/>
          <a:ln w="12700">
            <a:solidFill>
              <a:srgbClr val="7C3AED"/>
            </a:solidFill>
            <a:prstDash val="solid"/>
          </a:ln>
        </p:spPr>
      </p:sp>
      <p:sp>
        <p:nvSpPr>
          <p:cNvPr id="27" name="Text 25"/>
          <p:cNvSpPr/>
          <p:nvPr/>
        </p:nvSpPr>
        <p:spPr>
          <a:xfrm>
            <a:off x="2788920" y="4462272"/>
            <a:ext cx="5852160" cy="329184"/>
          </a:xfrm>
          <a:prstGeom prst="rect">
            <a:avLst/>
          </a:prstGeom>
          <a:noFill/>
          <a:ln/>
        </p:spPr>
        <p:txBody>
          <a:bodyPr wrap="square" lIns="0" tIns="0" rIns="0" bIns="0" rtlCol="0" anchor="ctr"/>
          <a:lstStyle/>
          <a:p>
            <a:pPr indent="0" marL="0">
              <a:buNone/>
            </a:pPr>
            <a:r>
              <a:rPr lang="en-US" sz="1200" dirty="0">
                <a:solidFill>
                  <a:srgbClr val="94A3B8"/>
                </a:solidFill>
              </a:rPr>
              <a:t>Các lượt trước trong cùng phiên hội thoại được tái sử dụng — đặc biệt hữu ích cho chatbot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59E0B"/>
          </a:solidFill>
          <a:ln w="12700">
            <a:solidFill>
              <a:srgbClr val="F59E0B"/>
            </a:solidFill>
            <a:prstDash val="solid"/>
          </a:ln>
        </p:spPr>
      </p:sp>
      <p:sp>
        <p:nvSpPr>
          <p:cNvPr id="3" name="Text 1"/>
          <p:cNvSpPr/>
          <p:nvPr/>
        </p:nvSpPr>
        <p:spPr>
          <a:xfrm>
            <a:off x="365760" y="137160"/>
            <a:ext cx="8412480" cy="548640"/>
          </a:xfrm>
          <a:prstGeom prst="rect">
            <a:avLst/>
          </a:prstGeom>
          <a:noFill/>
          <a:ln/>
        </p:spPr>
        <p:txBody>
          <a:bodyPr wrap="square" lIns="0" tIns="0" rIns="0" bIns="0" rtlCol="0" anchor="ctr"/>
          <a:lstStyle/>
          <a:p>
            <a:pPr indent="0" marL="0">
              <a:buNone/>
            </a:pPr>
            <a:r>
              <a:rPr lang="en-US" sz="2600" b="1" dirty="0">
                <a:solidFill>
                  <a:srgbClr val="F0F6FF"/>
                </a:solidFill>
                <a:latin typeface="Calibri" pitchFamily="34" charset="0"/>
                <a:ea typeface="Calibri" pitchFamily="34" charset="-122"/>
                <a:cs typeface="Calibri" pitchFamily="34" charset="-120"/>
              </a:rPr>
              <a:t>🚀 Tối Ưu Hóa Hiệu Năng Thực Tế</a:t>
            </a:r>
            <a:endParaRPr lang="en-US" sz="2600" dirty="0"/>
          </a:p>
        </p:txBody>
      </p:sp>
      <p:sp>
        <p:nvSpPr>
          <p:cNvPr id="4" name="Shape 2"/>
          <p:cNvSpPr/>
          <p:nvPr/>
        </p:nvSpPr>
        <p:spPr>
          <a:xfrm>
            <a:off x="365760" y="822960"/>
            <a:ext cx="2651760" cy="1463040"/>
          </a:xfrm>
          <a:prstGeom prst="rect">
            <a:avLst/>
          </a:prstGeom>
          <a:solidFill>
            <a:srgbClr val="1E2F47"/>
          </a:solidFill>
          <a:ln w="12700">
            <a:solidFill>
              <a:srgbClr val="00D4FF"/>
            </a:solidFill>
            <a:prstDash val="solid"/>
          </a:ln>
          <a:effectLst>
            <a:outerShdw sx="100000" sy="100000" kx="0" ky="0" algn="bl" rotWithShape="0" blurRad="101600" dist="38100" dir="8100000">
              <a:srgbClr val="000000">
                <a:alpha val="25000"/>
              </a:srgbClr>
            </a:outerShdw>
          </a:effectLst>
        </p:spPr>
      </p:sp>
      <p:sp>
        <p:nvSpPr>
          <p:cNvPr id="5" name="Text 3"/>
          <p:cNvSpPr/>
          <p:nvPr/>
        </p:nvSpPr>
        <p:spPr>
          <a:xfrm>
            <a:off x="365760" y="914400"/>
            <a:ext cx="2651760" cy="777240"/>
          </a:xfrm>
          <a:prstGeom prst="rect">
            <a:avLst/>
          </a:prstGeom>
          <a:noFill/>
          <a:ln/>
        </p:spPr>
        <p:txBody>
          <a:bodyPr wrap="square" lIns="0" tIns="0" rIns="0" bIns="0" rtlCol="0" anchor="ctr"/>
          <a:lstStyle/>
          <a:p>
            <a:pPr algn="ctr" indent="0" marL="0">
              <a:buNone/>
            </a:pPr>
            <a:r>
              <a:rPr lang="en-US" sz="4000" b="1" dirty="0">
                <a:solidFill>
                  <a:srgbClr val="00D4FF"/>
                </a:solidFill>
              </a:rPr>
              <a:t>2–4×</a:t>
            </a:r>
            <a:endParaRPr lang="en-US" sz="4000" dirty="0"/>
          </a:p>
        </p:txBody>
      </p:sp>
      <p:sp>
        <p:nvSpPr>
          <p:cNvPr id="6" name="Text 4"/>
          <p:cNvSpPr/>
          <p:nvPr/>
        </p:nvSpPr>
        <p:spPr>
          <a:xfrm>
            <a:off x="365760" y="1691640"/>
            <a:ext cx="2651760" cy="274320"/>
          </a:xfrm>
          <a:prstGeom prst="rect">
            <a:avLst/>
          </a:prstGeom>
          <a:noFill/>
          <a:ln/>
        </p:spPr>
        <p:txBody>
          <a:bodyPr wrap="square" lIns="0" tIns="0" rIns="0" bIns="0" rtlCol="0" anchor="ctr"/>
          <a:lstStyle/>
          <a:p>
            <a:pPr algn="ctr" indent="0" marL="0">
              <a:buNone/>
            </a:pPr>
            <a:r>
              <a:rPr lang="en-US" sz="1200" b="1" dirty="0">
                <a:solidFill>
                  <a:srgbClr val="F0F6FF"/>
                </a:solidFill>
              </a:rPr>
              <a:t>Batch Size tăng</a:t>
            </a:r>
            <a:endParaRPr lang="en-US" sz="1200" dirty="0"/>
          </a:p>
        </p:txBody>
      </p:sp>
      <p:sp>
        <p:nvSpPr>
          <p:cNvPr id="7" name="Text 5"/>
          <p:cNvSpPr/>
          <p:nvPr/>
        </p:nvSpPr>
        <p:spPr>
          <a:xfrm>
            <a:off x="365760" y="1965960"/>
            <a:ext cx="2651760" cy="228600"/>
          </a:xfrm>
          <a:prstGeom prst="rect">
            <a:avLst/>
          </a:prstGeom>
          <a:noFill/>
          <a:ln/>
        </p:spPr>
        <p:txBody>
          <a:bodyPr wrap="square" lIns="0" tIns="0" rIns="0" bIns="0" rtlCol="0" anchor="ctr"/>
          <a:lstStyle/>
          <a:p>
            <a:pPr algn="ctr" indent="0" marL="0">
              <a:buNone/>
            </a:pPr>
            <a:r>
              <a:rPr lang="en-US" sz="1100" dirty="0">
                <a:solidFill>
                  <a:srgbClr val="94A3B8"/>
                </a:solidFill>
              </a:rPr>
              <a:t>trên cùng phần cứng</a:t>
            </a:r>
            <a:endParaRPr lang="en-US" sz="1100" dirty="0"/>
          </a:p>
        </p:txBody>
      </p:sp>
      <p:sp>
        <p:nvSpPr>
          <p:cNvPr id="8" name="Shape 6"/>
          <p:cNvSpPr/>
          <p:nvPr/>
        </p:nvSpPr>
        <p:spPr>
          <a:xfrm>
            <a:off x="3200400" y="822960"/>
            <a:ext cx="2651760" cy="1463040"/>
          </a:xfrm>
          <a:prstGeom prst="rect">
            <a:avLst/>
          </a:prstGeom>
          <a:solidFill>
            <a:srgbClr val="1E2F47"/>
          </a:solidFill>
          <a:ln w="12700">
            <a:solidFill>
              <a:srgbClr val="10B981"/>
            </a:solidFill>
            <a:prstDash val="solid"/>
          </a:ln>
          <a:effectLst>
            <a:outerShdw sx="100000" sy="100000" kx="0" ky="0" algn="bl" rotWithShape="0" blurRad="101600" dist="38100" dir="8100000">
              <a:srgbClr val="000000">
                <a:alpha val="25000"/>
              </a:srgbClr>
            </a:outerShdw>
          </a:effectLst>
        </p:spPr>
      </p:sp>
      <p:sp>
        <p:nvSpPr>
          <p:cNvPr id="9" name="Text 7"/>
          <p:cNvSpPr/>
          <p:nvPr/>
        </p:nvSpPr>
        <p:spPr>
          <a:xfrm>
            <a:off x="3200400" y="914400"/>
            <a:ext cx="2651760" cy="777240"/>
          </a:xfrm>
          <a:prstGeom prst="rect">
            <a:avLst/>
          </a:prstGeom>
          <a:noFill/>
          <a:ln/>
        </p:spPr>
        <p:txBody>
          <a:bodyPr wrap="square" lIns="0" tIns="0" rIns="0" bIns="0" rtlCol="0" anchor="ctr"/>
          <a:lstStyle/>
          <a:p>
            <a:pPr algn="ctr" indent="0" marL="0">
              <a:buNone/>
            </a:pPr>
            <a:r>
              <a:rPr lang="en-US" sz="4000" b="1" dirty="0">
                <a:solidFill>
                  <a:srgbClr val="10B981"/>
                </a:solidFill>
              </a:rPr>
              <a:t>2–10×</a:t>
            </a:r>
            <a:endParaRPr lang="en-US" sz="4000" dirty="0"/>
          </a:p>
        </p:txBody>
      </p:sp>
      <p:sp>
        <p:nvSpPr>
          <p:cNvPr id="10" name="Text 8"/>
          <p:cNvSpPr/>
          <p:nvPr/>
        </p:nvSpPr>
        <p:spPr>
          <a:xfrm>
            <a:off x="3200400" y="1691640"/>
            <a:ext cx="2651760" cy="274320"/>
          </a:xfrm>
          <a:prstGeom prst="rect">
            <a:avLst/>
          </a:prstGeom>
          <a:noFill/>
          <a:ln/>
        </p:spPr>
        <p:txBody>
          <a:bodyPr wrap="square" lIns="0" tIns="0" rIns="0" bIns="0" rtlCol="0" anchor="ctr"/>
          <a:lstStyle/>
          <a:p>
            <a:pPr algn="ctr" indent="0" marL="0">
              <a:buNone/>
            </a:pPr>
            <a:r>
              <a:rPr lang="en-US" sz="1200" b="1" dirty="0">
                <a:solidFill>
                  <a:srgbClr val="F0F6FF"/>
                </a:solidFill>
              </a:rPr>
              <a:t>Throughput tăng</a:t>
            </a:r>
            <a:endParaRPr lang="en-US" sz="1200" dirty="0"/>
          </a:p>
        </p:txBody>
      </p:sp>
      <p:sp>
        <p:nvSpPr>
          <p:cNvPr id="11" name="Text 9"/>
          <p:cNvSpPr/>
          <p:nvPr/>
        </p:nvSpPr>
        <p:spPr>
          <a:xfrm>
            <a:off x="3200400" y="1965960"/>
            <a:ext cx="2651760" cy="228600"/>
          </a:xfrm>
          <a:prstGeom prst="rect">
            <a:avLst/>
          </a:prstGeom>
          <a:noFill/>
          <a:ln/>
        </p:spPr>
        <p:txBody>
          <a:bodyPr wrap="square" lIns="0" tIns="0" rIns="0" bIns="0" rtlCol="0" anchor="ctr"/>
          <a:lstStyle/>
          <a:p>
            <a:pPr algn="ctr" indent="0" marL="0">
              <a:buNone/>
            </a:pPr>
            <a:r>
              <a:rPr lang="en-US" sz="1100" dirty="0">
                <a:solidFill>
                  <a:srgbClr val="94A3B8"/>
                </a:solidFill>
              </a:rPr>
              <a:t>token/giây so với naive</a:t>
            </a:r>
            <a:endParaRPr lang="en-US" sz="1100" dirty="0"/>
          </a:p>
        </p:txBody>
      </p:sp>
      <p:sp>
        <p:nvSpPr>
          <p:cNvPr id="12" name="Shape 10"/>
          <p:cNvSpPr/>
          <p:nvPr/>
        </p:nvSpPr>
        <p:spPr>
          <a:xfrm>
            <a:off x="6035040" y="822960"/>
            <a:ext cx="2651760" cy="1463040"/>
          </a:xfrm>
          <a:prstGeom prst="rect">
            <a:avLst/>
          </a:prstGeom>
          <a:solidFill>
            <a:srgbClr val="1E2F47"/>
          </a:solidFill>
          <a:ln w="12700">
            <a:solidFill>
              <a:srgbClr val="F59E0B"/>
            </a:solidFill>
            <a:prstDash val="solid"/>
          </a:ln>
          <a:effectLst>
            <a:outerShdw sx="100000" sy="100000" kx="0" ky="0" algn="bl" rotWithShape="0" blurRad="101600" dist="38100" dir="8100000">
              <a:srgbClr val="000000">
                <a:alpha val="25000"/>
              </a:srgbClr>
            </a:outerShdw>
          </a:effectLst>
        </p:spPr>
      </p:sp>
      <p:sp>
        <p:nvSpPr>
          <p:cNvPr id="13" name="Text 11"/>
          <p:cNvSpPr/>
          <p:nvPr/>
        </p:nvSpPr>
        <p:spPr>
          <a:xfrm>
            <a:off x="6035040" y="914400"/>
            <a:ext cx="2651760" cy="777240"/>
          </a:xfrm>
          <a:prstGeom prst="rect">
            <a:avLst/>
          </a:prstGeom>
          <a:noFill/>
          <a:ln/>
        </p:spPr>
        <p:txBody>
          <a:bodyPr wrap="square" lIns="0" tIns="0" rIns="0" bIns="0" rtlCol="0" anchor="ctr"/>
          <a:lstStyle/>
          <a:p>
            <a:pPr algn="ctr" indent="0" marL="0">
              <a:buNone/>
            </a:pPr>
            <a:r>
              <a:rPr lang="en-US" sz="4000" b="1" dirty="0">
                <a:solidFill>
                  <a:srgbClr val="F59E0B"/>
                </a:solidFill>
              </a:rPr>
              <a:t>&lt;4%</a:t>
            </a:r>
            <a:endParaRPr lang="en-US" sz="4000" dirty="0"/>
          </a:p>
        </p:txBody>
      </p:sp>
      <p:sp>
        <p:nvSpPr>
          <p:cNvPr id="14" name="Text 12"/>
          <p:cNvSpPr/>
          <p:nvPr/>
        </p:nvSpPr>
        <p:spPr>
          <a:xfrm>
            <a:off x="6035040" y="1691640"/>
            <a:ext cx="2651760" cy="274320"/>
          </a:xfrm>
          <a:prstGeom prst="rect">
            <a:avLst/>
          </a:prstGeom>
          <a:noFill/>
          <a:ln/>
        </p:spPr>
        <p:txBody>
          <a:bodyPr wrap="square" lIns="0" tIns="0" rIns="0" bIns="0" rtlCol="0" anchor="ctr"/>
          <a:lstStyle/>
          <a:p>
            <a:pPr algn="ctr" indent="0" marL="0">
              <a:buNone/>
            </a:pPr>
            <a:r>
              <a:rPr lang="en-US" sz="1200" b="1" dirty="0">
                <a:solidFill>
                  <a:srgbClr val="F0F6FF"/>
                </a:solidFill>
              </a:rPr>
              <a:t>Internal Fragmentation</a:t>
            </a:r>
            <a:endParaRPr lang="en-US" sz="1200" dirty="0"/>
          </a:p>
        </p:txBody>
      </p:sp>
      <p:sp>
        <p:nvSpPr>
          <p:cNvPr id="15" name="Text 13"/>
          <p:cNvSpPr/>
          <p:nvPr/>
        </p:nvSpPr>
        <p:spPr>
          <a:xfrm>
            <a:off x="6035040" y="1965960"/>
            <a:ext cx="2651760" cy="228600"/>
          </a:xfrm>
          <a:prstGeom prst="rect">
            <a:avLst/>
          </a:prstGeom>
          <a:noFill/>
          <a:ln/>
        </p:spPr>
        <p:txBody>
          <a:bodyPr wrap="square" lIns="0" tIns="0" rIns="0" bIns="0" rtlCol="0" anchor="ctr"/>
          <a:lstStyle/>
          <a:p>
            <a:pPr algn="ctr" indent="0" marL="0">
              <a:buNone/>
            </a:pPr>
            <a:r>
              <a:rPr lang="en-US" sz="1100" dirty="0">
                <a:solidFill>
                  <a:srgbClr val="94A3B8"/>
                </a:solidFill>
              </a:rPr>
              <a:t>giảm từ 60–80%</a:t>
            </a:r>
            <a:endParaRPr lang="en-US" sz="1100" dirty="0"/>
          </a:p>
        </p:txBody>
      </p:sp>
      <p:sp>
        <p:nvSpPr>
          <p:cNvPr id="16" name="Text 14"/>
          <p:cNvSpPr/>
          <p:nvPr/>
        </p:nvSpPr>
        <p:spPr>
          <a:xfrm>
            <a:off x="365760" y="2468880"/>
            <a:ext cx="5486400" cy="320040"/>
          </a:xfrm>
          <a:prstGeom prst="rect">
            <a:avLst/>
          </a:prstGeom>
          <a:noFill/>
          <a:ln/>
        </p:spPr>
        <p:txBody>
          <a:bodyPr wrap="square" lIns="0" tIns="0" rIns="0" bIns="0" rtlCol="0" anchor="ctr"/>
          <a:lstStyle/>
          <a:p>
            <a:pPr indent="0" marL="0">
              <a:buNone/>
            </a:pPr>
            <a:r>
              <a:rPr lang="en-US" sz="1300" b="1" dirty="0">
                <a:solidFill>
                  <a:srgbClr val="F0F6FF"/>
                </a:solidFill>
              </a:rPr>
              <a:t>So sánh Throughput (Token/giây)</a:t>
            </a:r>
            <a:endParaRPr lang="en-US" sz="1300" dirty="0"/>
          </a:p>
        </p:txBody>
      </p:sp>
      <p:sp>
        <p:nvSpPr>
          <p:cNvPr id="17" name="Text 15"/>
          <p:cNvSpPr/>
          <p:nvPr/>
        </p:nvSpPr>
        <p:spPr>
          <a:xfrm>
            <a:off x="365760" y="2880360"/>
            <a:ext cx="1371600" cy="502920"/>
          </a:xfrm>
          <a:prstGeom prst="rect">
            <a:avLst/>
          </a:prstGeom>
          <a:noFill/>
          <a:ln/>
        </p:spPr>
        <p:txBody>
          <a:bodyPr wrap="square" lIns="63500" tIns="63500" rIns="63500" bIns="63500" rtlCol="0" anchor="ctr"/>
          <a:lstStyle/>
          <a:p>
            <a:pPr algn="r" indent="0" marL="0">
              <a:buNone/>
            </a:pPr>
            <a:r>
              <a:rPr lang="en-US" sz="1100" dirty="0">
                <a:solidFill>
                  <a:srgbClr val="94A3B8"/>
                </a:solidFill>
              </a:rPr>
              <a:t>HuggingFace</a:t>
            </a:r>
            <a:endParaRPr lang="en-US" sz="1100" dirty="0"/>
          </a:p>
          <a:p>
            <a:pPr algn="r" indent="0" marL="0">
              <a:buNone/>
            </a:pPr>
            <a:r>
              <a:rPr lang="en-US" sz="1100" dirty="0">
                <a:solidFill>
                  <a:srgbClr val="94A3B8"/>
                </a:solidFill>
              </a:rPr>
              <a:t>(naive)</a:t>
            </a:r>
            <a:endParaRPr lang="en-US" sz="1100" dirty="0"/>
          </a:p>
        </p:txBody>
      </p:sp>
      <p:sp>
        <p:nvSpPr>
          <p:cNvPr id="18" name="Shape 16"/>
          <p:cNvSpPr/>
          <p:nvPr/>
        </p:nvSpPr>
        <p:spPr>
          <a:xfrm>
            <a:off x="1828800" y="2926080"/>
            <a:ext cx="822960" cy="411480"/>
          </a:xfrm>
          <a:prstGeom prst="rect">
            <a:avLst/>
          </a:prstGeom>
          <a:solidFill>
            <a:srgbClr val="EF4444"/>
          </a:solidFill>
          <a:ln w="12700">
            <a:solidFill>
              <a:srgbClr val="EF4444"/>
            </a:solidFill>
            <a:prstDash val="solid"/>
          </a:ln>
        </p:spPr>
      </p:sp>
      <p:sp>
        <p:nvSpPr>
          <p:cNvPr id="19" name="Text 17"/>
          <p:cNvSpPr/>
          <p:nvPr/>
        </p:nvSpPr>
        <p:spPr>
          <a:xfrm>
            <a:off x="2743200" y="2880360"/>
            <a:ext cx="1371600" cy="502920"/>
          </a:xfrm>
          <a:prstGeom prst="rect">
            <a:avLst/>
          </a:prstGeom>
          <a:noFill/>
          <a:ln/>
        </p:spPr>
        <p:txBody>
          <a:bodyPr wrap="square" lIns="0" tIns="0" rIns="0" bIns="0" rtlCol="0" anchor="ctr"/>
          <a:lstStyle/>
          <a:p>
            <a:pPr indent="0" marL="0">
              <a:buNone/>
            </a:pPr>
            <a:r>
              <a:rPr lang="en-US" sz="1300" b="1" dirty="0">
                <a:solidFill>
                  <a:srgbClr val="EF4444"/>
                </a:solidFill>
              </a:rPr>
              <a:t>100 tok/s</a:t>
            </a:r>
            <a:endParaRPr lang="en-US" sz="1300" dirty="0"/>
          </a:p>
        </p:txBody>
      </p:sp>
      <p:sp>
        <p:nvSpPr>
          <p:cNvPr id="20" name="Text 18"/>
          <p:cNvSpPr/>
          <p:nvPr/>
        </p:nvSpPr>
        <p:spPr>
          <a:xfrm>
            <a:off x="365760" y="3657600"/>
            <a:ext cx="1371600" cy="502920"/>
          </a:xfrm>
          <a:prstGeom prst="rect">
            <a:avLst/>
          </a:prstGeom>
          <a:noFill/>
          <a:ln/>
        </p:spPr>
        <p:txBody>
          <a:bodyPr wrap="square" lIns="63500" tIns="63500" rIns="63500" bIns="63500" rtlCol="0" anchor="ctr"/>
          <a:lstStyle/>
          <a:p>
            <a:pPr algn="r" indent="0" marL="0">
              <a:buNone/>
            </a:pPr>
            <a:r>
              <a:rPr lang="en-US" sz="1100" dirty="0">
                <a:solidFill>
                  <a:srgbClr val="94A3B8"/>
                </a:solidFill>
              </a:rPr>
              <a:t>Text Gen</a:t>
            </a:r>
            <a:endParaRPr lang="en-US" sz="1100" dirty="0"/>
          </a:p>
          <a:p>
            <a:pPr algn="r" indent="0" marL="0">
              <a:buNone/>
            </a:pPr>
            <a:r>
              <a:rPr lang="en-US" sz="1100" dirty="0">
                <a:solidFill>
                  <a:srgbClr val="94A3B8"/>
                </a:solidFill>
              </a:rPr>
              <a:t>Inference</a:t>
            </a:r>
            <a:endParaRPr lang="en-US" sz="1100" dirty="0"/>
          </a:p>
        </p:txBody>
      </p:sp>
      <p:sp>
        <p:nvSpPr>
          <p:cNvPr id="21" name="Shape 19"/>
          <p:cNvSpPr/>
          <p:nvPr/>
        </p:nvSpPr>
        <p:spPr>
          <a:xfrm>
            <a:off x="1828800" y="3703320"/>
            <a:ext cx="2578608" cy="411480"/>
          </a:xfrm>
          <a:prstGeom prst="rect">
            <a:avLst/>
          </a:prstGeom>
          <a:solidFill>
            <a:srgbClr val="F59E0B"/>
          </a:solidFill>
          <a:ln w="12700">
            <a:solidFill>
              <a:srgbClr val="F59E0B"/>
            </a:solidFill>
            <a:prstDash val="solid"/>
          </a:ln>
        </p:spPr>
      </p:sp>
      <p:sp>
        <p:nvSpPr>
          <p:cNvPr id="22" name="Text 20"/>
          <p:cNvSpPr/>
          <p:nvPr/>
        </p:nvSpPr>
        <p:spPr>
          <a:xfrm>
            <a:off x="4498848" y="3657600"/>
            <a:ext cx="1371600" cy="502920"/>
          </a:xfrm>
          <a:prstGeom prst="rect">
            <a:avLst/>
          </a:prstGeom>
          <a:noFill/>
          <a:ln/>
        </p:spPr>
        <p:txBody>
          <a:bodyPr wrap="square" lIns="0" tIns="0" rIns="0" bIns="0" rtlCol="0" anchor="ctr"/>
          <a:lstStyle/>
          <a:p>
            <a:pPr indent="0" marL="0">
              <a:buNone/>
            </a:pPr>
            <a:r>
              <a:rPr lang="en-US" sz="1300" b="1" dirty="0">
                <a:solidFill>
                  <a:srgbClr val="F59E0B"/>
                </a:solidFill>
              </a:rPr>
              <a:t>320 tok/s</a:t>
            </a:r>
            <a:endParaRPr lang="en-US" sz="1300" dirty="0"/>
          </a:p>
        </p:txBody>
      </p:sp>
      <p:sp>
        <p:nvSpPr>
          <p:cNvPr id="23" name="Text 21"/>
          <p:cNvSpPr/>
          <p:nvPr/>
        </p:nvSpPr>
        <p:spPr>
          <a:xfrm>
            <a:off x="365760" y="4434840"/>
            <a:ext cx="1371600" cy="502920"/>
          </a:xfrm>
          <a:prstGeom prst="rect">
            <a:avLst/>
          </a:prstGeom>
          <a:noFill/>
          <a:ln/>
        </p:spPr>
        <p:txBody>
          <a:bodyPr wrap="square" lIns="63500" tIns="63500" rIns="63500" bIns="63500" rtlCol="0" anchor="ctr"/>
          <a:lstStyle/>
          <a:p>
            <a:pPr algn="r" indent="0" marL="0">
              <a:buNone/>
            </a:pPr>
            <a:r>
              <a:rPr lang="en-US" sz="1100" dirty="0">
                <a:solidFill>
                  <a:srgbClr val="94A3B8"/>
                </a:solidFill>
              </a:rPr>
              <a:t>vLLM</a:t>
            </a:r>
            <a:endParaRPr lang="en-US" sz="1100" dirty="0"/>
          </a:p>
          <a:p>
            <a:pPr algn="r" indent="0" marL="0">
              <a:buNone/>
            </a:pPr>
            <a:r>
              <a:rPr lang="en-US" sz="1100" dirty="0">
                <a:solidFill>
                  <a:srgbClr val="94A3B8"/>
                </a:solidFill>
              </a:rPr>
              <a:t>(PagedAttn)</a:t>
            </a:r>
            <a:endParaRPr lang="en-US" sz="1100" dirty="0"/>
          </a:p>
        </p:txBody>
      </p:sp>
      <p:sp>
        <p:nvSpPr>
          <p:cNvPr id="24" name="Shape 22"/>
          <p:cNvSpPr/>
          <p:nvPr/>
        </p:nvSpPr>
        <p:spPr>
          <a:xfrm>
            <a:off x="1828800" y="4480560"/>
            <a:ext cx="5486400" cy="411480"/>
          </a:xfrm>
          <a:prstGeom prst="rect">
            <a:avLst/>
          </a:prstGeom>
          <a:solidFill>
            <a:srgbClr val="10B981"/>
          </a:solidFill>
          <a:ln w="12700">
            <a:solidFill>
              <a:srgbClr val="10B981"/>
            </a:solidFill>
            <a:prstDash val="solid"/>
          </a:ln>
        </p:spPr>
      </p:sp>
      <p:sp>
        <p:nvSpPr>
          <p:cNvPr id="25" name="Text 23"/>
          <p:cNvSpPr/>
          <p:nvPr/>
        </p:nvSpPr>
        <p:spPr>
          <a:xfrm>
            <a:off x="7406640" y="4434840"/>
            <a:ext cx="1371600" cy="502920"/>
          </a:xfrm>
          <a:prstGeom prst="rect">
            <a:avLst/>
          </a:prstGeom>
          <a:noFill/>
          <a:ln/>
        </p:spPr>
        <p:txBody>
          <a:bodyPr wrap="square" lIns="0" tIns="0" rIns="0" bIns="0" rtlCol="0" anchor="ctr"/>
          <a:lstStyle/>
          <a:p>
            <a:pPr indent="0" marL="0">
              <a:buNone/>
            </a:pPr>
            <a:r>
              <a:rPr lang="en-US" sz="1300" b="1" dirty="0">
                <a:solidFill>
                  <a:srgbClr val="10B981"/>
                </a:solidFill>
              </a:rPr>
              <a:t>680 tok/s</a:t>
            </a:r>
            <a:endParaRPr lang="en-US" sz="1300" dirty="0"/>
          </a:p>
        </p:txBody>
      </p:sp>
      <p:sp>
        <p:nvSpPr>
          <p:cNvPr id="26" name="Shape 24"/>
          <p:cNvSpPr/>
          <p:nvPr/>
        </p:nvSpPr>
        <p:spPr>
          <a:xfrm>
            <a:off x="6309360" y="2468880"/>
            <a:ext cx="2514600" cy="2468880"/>
          </a:xfrm>
          <a:prstGeom prst="rect">
            <a:avLst/>
          </a:prstGeom>
          <a:solidFill>
            <a:srgbClr val="1E2F47"/>
          </a:solidFill>
          <a:ln w="12700">
            <a:solidFill>
              <a:srgbClr val="00D4FF"/>
            </a:solidFill>
            <a:prstDash val="solid"/>
          </a:ln>
          <a:effectLst>
            <a:outerShdw sx="100000" sy="100000" kx="0" ky="0" algn="bl" rotWithShape="0" blurRad="101600" dist="38100" dir="8100000">
              <a:srgbClr val="000000">
                <a:alpha val="25000"/>
              </a:srgbClr>
            </a:outerShdw>
          </a:effectLst>
        </p:spPr>
      </p:sp>
      <p:sp>
        <p:nvSpPr>
          <p:cNvPr id="27" name="Text 25"/>
          <p:cNvSpPr/>
          <p:nvPr/>
        </p:nvSpPr>
        <p:spPr>
          <a:xfrm>
            <a:off x="6400800" y="2514600"/>
            <a:ext cx="2331720" cy="347472"/>
          </a:xfrm>
          <a:prstGeom prst="rect">
            <a:avLst/>
          </a:prstGeom>
          <a:noFill/>
          <a:ln/>
        </p:spPr>
        <p:txBody>
          <a:bodyPr wrap="square" lIns="63500" tIns="63500" rIns="63500" bIns="63500" rtlCol="0" anchor="ctr"/>
          <a:lstStyle/>
          <a:p>
            <a:pPr indent="0" marL="0">
              <a:buNone/>
            </a:pPr>
            <a:r>
              <a:rPr lang="en-US" sz="1200" b="1" dirty="0">
                <a:solidFill>
                  <a:srgbClr val="00D4FF"/>
                </a:solidFill>
              </a:rPr>
              <a:t>💡 Ý nghĩa thực tế</a:t>
            </a:r>
            <a:endParaRPr lang="en-US" sz="1200" dirty="0"/>
          </a:p>
        </p:txBody>
      </p:sp>
      <p:sp>
        <p:nvSpPr>
          <p:cNvPr id="28" name="Text 26"/>
          <p:cNvSpPr/>
          <p:nvPr/>
        </p:nvSpPr>
        <p:spPr>
          <a:xfrm>
            <a:off x="6400800" y="2926080"/>
            <a:ext cx="2331720" cy="1828800"/>
          </a:xfrm>
          <a:prstGeom prst="rect">
            <a:avLst/>
          </a:prstGeom>
          <a:noFill/>
          <a:ln/>
        </p:spPr>
        <p:txBody>
          <a:bodyPr wrap="square" lIns="63500" tIns="63500" rIns="63500" bIns="63500" rtlCol="0" anchor="ctr"/>
          <a:lstStyle/>
          <a:p>
            <a:pPr indent="0" marL="0">
              <a:buNone/>
            </a:pPr>
            <a:r>
              <a:rPr lang="en-US" sz="1100" dirty="0">
                <a:solidFill>
                  <a:srgbClr val="F0F6FF"/>
                </a:solidFill>
              </a:rPr>
              <a:t>Triển khai mô hình 13B trên GPU A100 80GB có thể phục vụ:</a:t>
            </a:r>
            <a:endParaRPr lang="en-US" sz="1100" dirty="0"/>
          </a:p>
          <a:p>
            <a:pPr indent="0" marL="0">
              <a:buNone/>
            </a:pPr>
            <a:endParaRPr lang="en-US" sz="1100" dirty="0"/>
          </a:p>
          <a:p>
            <a:pPr indent="0" marL="0">
              <a:buNone/>
            </a:pPr>
            <a:r>
              <a:rPr lang="en-US" sz="1100" dirty="0">
                <a:solidFill>
                  <a:srgbClr val="F0F6FF"/>
                </a:solidFill>
              </a:rPr>
              <a:t>• Naive: ~8 người dùng đồng thời</a:t>
            </a:r>
            <a:endParaRPr lang="en-US" sz="1100" dirty="0"/>
          </a:p>
          <a:p>
            <a:pPr indent="0" marL="0">
              <a:buNone/>
            </a:pPr>
            <a:endParaRPr lang="en-US" sz="1100" dirty="0"/>
          </a:p>
          <a:p>
            <a:pPr indent="0" marL="0">
              <a:buNone/>
            </a:pPr>
            <a:r>
              <a:rPr lang="en-US" sz="1100" dirty="0">
                <a:solidFill>
                  <a:srgbClr val="F0F6FF"/>
                </a:solidFill>
              </a:rPr>
              <a:t>• vLLM: ~32–64 người dùng đồng thời</a:t>
            </a:r>
            <a:endParaRPr lang="en-US" sz="1100" dirty="0"/>
          </a:p>
          <a:p>
            <a:pPr indent="0" marL="0">
              <a:buNone/>
            </a:pPr>
            <a:endParaRPr lang="en-US" sz="1100" dirty="0"/>
          </a:p>
          <a:p>
            <a:pPr indent="0" marL="0">
              <a:buNone/>
            </a:pPr>
            <a:r>
              <a:rPr lang="en-US" sz="1100" dirty="0">
                <a:solidFill>
                  <a:srgbClr val="F0F6FF"/>
                </a:solidFill>
              </a:rPr>
              <a:t>Mà không cần thêm phần cứng!</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59E0B"/>
          </a:solidFill>
          <a:ln w="12700">
            <a:solidFill>
              <a:srgbClr val="F59E0B"/>
            </a:solidFill>
            <a:prstDash val="solid"/>
          </a:ln>
        </p:spPr>
      </p:sp>
      <p:sp>
        <p:nvSpPr>
          <p:cNvPr id="3" name="Text 1"/>
          <p:cNvSpPr/>
          <p:nvPr/>
        </p:nvSpPr>
        <p:spPr>
          <a:xfrm>
            <a:off x="365760" y="137160"/>
            <a:ext cx="8412480" cy="548640"/>
          </a:xfrm>
          <a:prstGeom prst="rect">
            <a:avLst/>
          </a:prstGeom>
          <a:noFill/>
          <a:ln/>
        </p:spPr>
        <p:txBody>
          <a:bodyPr wrap="square" lIns="0" tIns="0" rIns="0" bIns="0" rtlCol="0" anchor="ctr"/>
          <a:lstStyle/>
          <a:p>
            <a:pPr indent="0" marL="0">
              <a:buNone/>
            </a:pPr>
            <a:r>
              <a:rPr lang="en-US" sz="2600" b="1" dirty="0">
                <a:solidFill>
                  <a:srgbClr val="F0F6FF"/>
                </a:solidFill>
                <a:latin typeface="Calibri" pitchFamily="34" charset="0"/>
                <a:ea typeface="Calibri" pitchFamily="34" charset="-122"/>
                <a:cs typeface="Calibri" pitchFamily="34" charset="-120"/>
              </a:rPr>
              <a:t>🔄 Cơ Chế Hoán Đổi Bộ Nhớ (Swapping)</a:t>
            </a:r>
            <a:endParaRPr lang="en-US" sz="2600" dirty="0"/>
          </a:p>
        </p:txBody>
      </p:sp>
      <p:sp>
        <p:nvSpPr>
          <p:cNvPr id="4" name="Text 2"/>
          <p:cNvSpPr/>
          <p:nvPr/>
        </p:nvSpPr>
        <p:spPr>
          <a:xfrm>
            <a:off x="365760" y="777240"/>
            <a:ext cx="8412480" cy="365760"/>
          </a:xfrm>
          <a:prstGeom prst="rect">
            <a:avLst/>
          </a:prstGeom>
          <a:noFill/>
          <a:ln/>
        </p:spPr>
        <p:txBody>
          <a:bodyPr wrap="square" lIns="0" tIns="0" rIns="0" bIns="0" rtlCol="0" anchor="ctr"/>
          <a:lstStyle/>
          <a:p>
            <a:pPr indent="0" marL="0">
              <a:buNone/>
            </a:pPr>
            <a:r>
              <a:rPr lang="en-US" sz="1300" dirty="0">
                <a:solidFill>
                  <a:srgbClr val="94A3B8"/>
                </a:solidFill>
              </a:rPr>
              <a:t>Khi GPU VRAM cạn kiệt vì quá nhiều request đồng thời, vLLM không crash — nó "tạm nghỉ" các request ít ưu tiên hơn.</a:t>
            </a:r>
            <a:endParaRPr lang="en-US" sz="1300" dirty="0"/>
          </a:p>
        </p:txBody>
      </p:sp>
      <p:sp>
        <p:nvSpPr>
          <p:cNvPr id="5" name="Shape 3"/>
          <p:cNvSpPr/>
          <p:nvPr/>
        </p:nvSpPr>
        <p:spPr>
          <a:xfrm>
            <a:off x="3017520" y="1280160"/>
            <a:ext cx="2743200" cy="685800"/>
          </a:xfrm>
          <a:prstGeom prst="rect">
            <a:avLst/>
          </a:prstGeom>
          <a:solidFill>
            <a:srgbClr val="1E2F47"/>
          </a:solidFill>
          <a:ln w="12700">
            <a:solidFill>
              <a:srgbClr val="00D4FF"/>
            </a:solidFill>
            <a:prstDash val="solid"/>
          </a:ln>
        </p:spPr>
      </p:sp>
      <p:sp>
        <p:nvSpPr>
          <p:cNvPr id="6" name="Text 4"/>
          <p:cNvSpPr/>
          <p:nvPr/>
        </p:nvSpPr>
        <p:spPr>
          <a:xfrm>
            <a:off x="3108960" y="1353312"/>
            <a:ext cx="2286000" cy="274320"/>
          </a:xfrm>
          <a:prstGeom prst="rect">
            <a:avLst/>
          </a:prstGeom>
          <a:noFill/>
          <a:ln/>
        </p:spPr>
        <p:txBody>
          <a:bodyPr wrap="square" lIns="0" tIns="0" rIns="0" bIns="0" rtlCol="0" anchor="ctr"/>
          <a:lstStyle/>
          <a:p>
            <a:pPr indent="0" marL="0">
              <a:buNone/>
            </a:pPr>
            <a:r>
              <a:rPr lang="en-US" sz="1400" b="1" dirty="0">
                <a:solidFill>
                  <a:srgbClr val="00D4FF"/>
                </a:solidFill>
              </a:rPr>
              <a:t>GPU VRAM</a:t>
            </a:r>
            <a:endParaRPr lang="en-US" sz="1400" dirty="0"/>
          </a:p>
        </p:txBody>
      </p:sp>
      <p:sp>
        <p:nvSpPr>
          <p:cNvPr id="7" name="Text 5"/>
          <p:cNvSpPr/>
          <p:nvPr/>
        </p:nvSpPr>
        <p:spPr>
          <a:xfrm>
            <a:off x="3108960" y="1627632"/>
            <a:ext cx="2560320" cy="274320"/>
          </a:xfrm>
          <a:prstGeom prst="rect">
            <a:avLst/>
          </a:prstGeom>
          <a:noFill/>
          <a:ln/>
        </p:spPr>
        <p:txBody>
          <a:bodyPr wrap="square" lIns="0" tIns="0" rIns="0" bIns="0" rtlCol="0" anchor="ctr"/>
          <a:lstStyle/>
          <a:p>
            <a:pPr indent="0" marL="0">
              <a:buNone/>
            </a:pPr>
            <a:r>
              <a:rPr lang="en-US" sz="1100" dirty="0">
                <a:solidFill>
                  <a:srgbClr val="94A3B8"/>
                </a:solidFill>
              </a:rPr>
              <a:t>Nhanh nhất | ~80GB | $$$</a:t>
            </a:r>
            <a:endParaRPr lang="en-US" sz="1100" dirty="0"/>
          </a:p>
        </p:txBody>
      </p:sp>
      <p:sp>
        <p:nvSpPr>
          <p:cNvPr id="8" name="Shape 6"/>
          <p:cNvSpPr/>
          <p:nvPr/>
        </p:nvSpPr>
        <p:spPr>
          <a:xfrm>
            <a:off x="2651760" y="2148840"/>
            <a:ext cx="3474720" cy="685800"/>
          </a:xfrm>
          <a:prstGeom prst="rect">
            <a:avLst/>
          </a:prstGeom>
          <a:solidFill>
            <a:srgbClr val="1E2F47"/>
          </a:solidFill>
          <a:ln w="12700">
            <a:solidFill>
              <a:srgbClr val="10B981"/>
            </a:solidFill>
            <a:prstDash val="solid"/>
          </a:ln>
        </p:spPr>
      </p:sp>
      <p:sp>
        <p:nvSpPr>
          <p:cNvPr id="9" name="Text 7"/>
          <p:cNvSpPr/>
          <p:nvPr/>
        </p:nvSpPr>
        <p:spPr>
          <a:xfrm>
            <a:off x="2743200" y="2221992"/>
            <a:ext cx="2286000" cy="274320"/>
          </a:xfrm>
          <a:prstGeom prst="rect">
            <a:avLst/>
          </a:prstGeom>
          <a:noFill/>
          <a:ln/>
        </p:spPr>
        <p:txBody>
          <a:bodyPr wrap="square" lIns="0" tIns="0" rIns="0" bIns="0" rtlCol="0" anchor="ctr"/>
          <a:lstStyle/>
          <a:p>
            <a:pPr indent="0" marL="0">
              <a:buNone/>
            </a:pPr>
            <a:r>
              <a:rPr lang="en-US" sz="1400" b="1" dirty="0">
                <a:solidFill>
                  <a:srgbClr val="10B981"/>
                </a:solidFill>
              </a:rPr>
              <a:t>CPU RAM</a:t>
            </a:r>
            <a:endParaRPr lang="en-US" sz="1400" dirty="0"/>
          </a:p>
        </p:txBody>
      </p:sp>
      <p:sp>
        <p:nvSpPr>
          <p:cNvPr id="10" name="Text 8"/>
          <p:cNvSpPr/>
          <p:nvPr/>
        </p:nvSpPr>
        <p:spPr>
          <a:xfrm>
            <a:off x="2743200" y="2496312"/>
            <a:ext cx="3291840" cy="274320"/>
          </a:xfrm>
          <a:prstGeom prst="rect">
            <a:avLst/>
          </a:prstGeom>
          <a:noFill/>
          <a:ln/>
        </p:spPr>
        <p:txBody>
          <a:bodyPr wrap="square" lIns="0" tIns="0" rIns="0" bIns="0" rtlCol="0" anchor="ctr"/>
          <a:lstStyle/>
          <a:p>
            <a:pPr indent="0" marL="0">
              <a:buNone/>
            </a:pPr>
            <a:r>
              <a:rPr lang="en-US" sz="1100" dirty="0">
                <a:solidFill>
                  <a:srgbClr val="94A3B8"/>
                </a:solidFill>
              </a:rPr>
              <a:t>Trung bình | ~512GB | $$</a:t>
            </a:r>
            <a:endParaRPr lang="en-US" sz="1100" dirty="0"/>
          </a:p>
        </p:txBody>
      </p:sp>
      <p:sp>
        <p:nvSpPr>
          <p:cNvPr id="11" name="Shape 9"/>
          <p:cNvSpPr/>
          <p:nvPr/>
        </p:nvSpPr>
        <p:spPr>
          <a:xfrm>
            <a:off x="2286000" y="3017520"/>
            <a:ext cx="4206240" cy="685800"/>
          </a:xfrm>
          <a:prstGeom prst="rect">
            <a:avLst/>
          </a:prstGeom>
          <a:solidFill>
            <a:srgbClr val="1E2F47"/>
          </a:solidFill>
          <a:ln w="12700">
            <a:solidFill>
              <a:srgbClr val="94A3B8"/>
            </a:solidFill>
            <a:prstDash val="solid"/>
          </a:ln>
        </p:spPr>
      </p:sp>
      <p:sp>
        <p:nvSpPr>
          <p:cNvPr id="12" name="Text 10"/>
          <p:cNvSpPr/>
          <p:nvPr/>
        </p:nvSpPr>
        <p:spPr>
          <a:xfrm>
            <a:off x="2377440" y="3090672"/>
            <a:ext cx="2286000" cy="274320"/>
          </a:xfrm>
          <a:prstGeom prst="rect">
            <a:avLst/>
          </a:prstGeom>
          <a:noFill/>
          <a:ln/>
        </p:spPr>
        <p:txBody>
          <a:bodyPr wrap="square" lIns="0" tIns="0" rIns="0" bIns="0" rtlCol="0" anchor="ctr"/>
          <a:lstStyle/>
          <a:p>
            <a:pPr indent="0" marL="0">
              <a:buNone/>
            </a:pPr>
            <a:r>
              <a:rPr lang="en-US" sz="1400" b="1" dirty="0">
                <a:solidFill>
                  <a:srgbClr val="94A3B8"/>
                </a:solidFill>
              </a:rPr>
              <a:t>NVMe SSD</a:t>
            </a:r>
            <a:endParaRPr lang="en-US" sz="1400" dirty="0"/>
          </a:p>
        </p:txBody>
      </p:sp>
      <p:sp>
        <p:nvSpPr>
          <p:cNvPr id="13" name="Text 11"/>
          <p:cNvSpPr/>
          <p:nvPr/>
        </p:nvSpPr>
        <p:spPr>
          <a:xfrm>
            <a:off x="2377440" y="3364992"/>
            <a:ext cx="4023360" cy="274320"/>
          </a:xfrm>
          <a:prstGeom prst="rect">
            <a:avLst/>
          </a:prstGeom>
          <a:noFill/>
          <a:ln/>
        </p:spPr>
        <p:txBody>
          <a:bodyPr wrap="square" lIns="0" tIns="0" rIns="0" bIns="0" rtlCol="0" anchor="ctr"/>
          <a:lstStyle/>
          <a:p>
            <a:pPr indent="0" marL="0">
              <a:buNone/>
            </a:pPr>
            <a:r>
              <a:rPr lang="en-US" sz="1100" dirty="0">
                <a:solidFill>
                  <a:srgbClr val="94A3B8"/>
                </a:solidFill>
              </a:rPr>
              <a:t>Chậm nhất | ~4TB | $</a:t>
            </a:r>
            <a:endParaRPr lang="en-US" sz="1100" dirty="0"/>
          </a:p>
        </p:txBody>
      </p:sp>
      <p:sp>
        <p:nvSpPr>
          <p:cNvPr id="14" name="Shape 12"/>
          <p:cNvSpPr/>
          <p:nvPr/>
        </p:nvSpPr>
        <p:spPr>
          <a:xfrm>
            <a:off x="4572000" y="1965960"/>
            <a:ext cx="0" cy="228600"/>
          </a:xfrm>
          <a:prstGeom prst="line">
            <a:avLst/>
          </a:prstGeom>
          <a:noFill/>
          <a:ln w="12700">
            <a:solidFill>
              <a:srgbClr val="F59E0B"/>
            </a:solidFill>
            <a:prstDash val="solid"/>
          </a:ln>
        </p:spPr>
      </p:sp>
      <p:sp>
        <p:nvSpPr>
          <p:cNvPr id="15" name="Shape 13"/>
          <p:cNvSpPr/>
          <p:nvPr/>
        </p:nvSpPr>
        <p:spPr>
          <a:xfrm>
            <a:off x="4572000" y="2834640"/>
            <a:ext cx="0" cy="228600"/>
          </a:xfrm>
          <a:prstGeom prst="line">
            <a:avLst/>
          </a:prstGeom>
          <a:noFill/>
          <a:ln w="12700">
            <a:solidFill>
              <a:srgbClr val="F59E0B"/>
            </a:solidFill>
            <a:prstDash val="solid"/>
          </a:ln>
        </p:spPr>
      </p:sp>
      <p:sp>
        <p:nvSpPr>
          <p:cNvPr id="16" name="Shape 14"/>
          <p:cNvSpPr/>
          <p:nvPr/>
        </p:nvSpPr>
        <p:spPr>
          <a:xfrm>
            <a:off x="365760" y="4005072"/>
            <a:ext cx="8412480" cy="960120"/>
          </a:xfrm>
          <a:prstGeom prst="rect">
            <a:avLst/>
          </a:prstGeom>
          <a:solidFill>
            <a:srgbClr val="1E2F47"/>
          </a:solidFill>
          <a:ln w="12700">
            <a:solidFill>
              <a:srgbClr val="F59E0B"/>
            </a:solidFill>
            <a:prstDash val="solid"/>
          </a:ln>
        </p:spPr>
      </p:sp>
      <p:sp>
        <p:nvSpPr>
          <p:cNvPr id="17" name="Text 15"/>
          <p:cNvSpPr/>
          <p:nvPr/>
        </p:nvSpPr>
        <p:spPr>
          <a:xfrm>
            <a:off x="502920" y="4050792"/>
            <a:ext cx="1645920" cy="320040"/>
          </a:xfrm>
          <a:prstGeom prst="rect">
            <a:avLst/>
          </a:prstGeom>
          <a:noFill/>
          <a:ln/>
        </p:spPr>
        <p:txBody>
          <a:bodyPr wrap="square" lIns="0" tIns="0" rIns="0" bIns="0" rtlCol="0" anchor="ctr"/>
          <a:lstStyle/>
          <a:p>
            <a:pPr indent="0" marL="0">
              <a:buNone/>
            </a:pPr>
            <a:r>
              <a:rPr lang="en-US" sz="1300" b="1" dirty="0">
                <a:solidFill>
                  <a:srgbClr val="F59E0B"/>
                </a:solidFill>
              </a:rPr>
              <a:t>Quy trình Swap:</a:t>
            </a:r>
            <a:endParaRPr lang="en-US" sz="1300" dirty="0"/>
          </a:p>
        </p:txBody>
      </p:sp>
      <p:sp>
        <p:nvSpPr>
          <p:cNvPr id="18" name="Shape 16"/>
          <p:cNvSpPr/>
          <p:nvPr/>
        </p:nvSpPr>
        <p:spPr>
          <a:xfrm>
            <a:off x="365760" y="4416552"/>
            <a:ext cx="1627632" cy="420624"/>
          </a:xfrm>
          <a:prstGeom prst="rect">
            <a:avLst/>
          </a:prstGeom>
          <a:solidFill>
            <a:srgbClr val="0D1B2D"/>
          </a:solidFill>
          <a:ln w="12700">
            <a:solidFill>
              <a:srgbClr val="F59E0B"/>
            </a:solidFill>
            <a:prstDash val="solid"/>
          </a:ln>
        </p:spPr>
      </p:sp>
      <p:sp>
        <p:nvSpPr>
          <p:cNvPr id="19" name="Text 17"/>
          <p:cNvSpPr/>
          <p:nvPr/>
        </p:nvSpPr>
        <p:spPr>
          <a:xfrm>
            <a:off x="365760" y="4416552"/>
            <a:ext cx="1627632" cy="420624"/>
          </a:xfrm>
          <a:prstGeom prst="rect">
            <a:avLst/>
          </a:prstGeom>
          <a:noFill/>
          <a:ln/>
        </p:spPr>
        <p:txBody>
          <a:bodyPr wrap="square" lIns="38100" tIns="38100" rIns="38100" bIns="38100" rtlCol="0" anchor="ctr"/>
          <a:lstStyle/>
          <a:p>
            <a:pPr algn="ctr" indent="0" marL="0">
              <a:buNone/>
            </a:pPr>
            <a:r>
              <a:rPr lang="en-US" sz="1000" dirty="0">
                <a:solidFill>
                  <a:srgbClr val="F0F6FF"/>
                </a:solidFill>
              </a:rPr>
              <a:t>① VRAM đầy</a:t>
            </a:r>
            <a:endParaRPr lang="en-US" sz="1000" dirty="0"/>
          </a:p>
        </p:txBody>
      </p:sp>
      <p:sp>
        <p:nvSpPr>
          <p:cNvPr id="20" name="Shape 18"/>
          <p:cNvSpPr/>
          <p:nvPr/>
        </p:nvSpPr>
        <p:spPr>
          <a:xfrm>
            <a:off x="1993392" y="4626864"/>
            <a:ext cx="64008" cy="0"/>
          </a:xfrm>
          <a:prstGeom prst="line">
            <a:avLst/>
          </a:prstGeom>
          <a:noFill/>
          <a:ln w="12700">
            <a:solidFill>
              <a:srgbClr val="F59E0B"/>
            </a:solidFill>
            <a:prstDash val="solid"/>
          </a:ln>
        </p:spPr>
      </p:sp>
      <p:sp>
        <p:nvSpPr>
          <p:cNvPr id="21" name="Shape 19"/>
          <p:cNvSpPr/>
          <p:nvPr/>
        </p:nvSpPr>
        <p:spPr>
          <a:xfrm>
            <a:off x="2057400" y="4416552"/>
            <a:ext cx="1627632" cy="420624"/>
          </a:xfrm>
          <a:prstGeom prst="rect">
            <a:avLst/>
          </a:prstGeom>
          <a:solidFill>
            <a:srgbClr val="0D1B2D"/>
          </a:solidFill>
          <a:ln w="12700">
            <a:solidFill>
              <a:srgbClr val="F59E0B"/>
            </a:solidFill>
            <a:prstDash val="solid"/>
          </a:ln>
        </p:spPr>
      </p:sp>
      <p:sp>
        <p:nvSpPr>
          <p:cNvPr id="22" name="Text 20"/>
          <p:cNvSpPr/>
          <p:nvPr/>
        </p:nvSpPr>
        <p:spPr>
          <a:xfrm>
            <a:off x="2057400" y="4416552"/>
            <a:ext cx="1627632" cy="420624"/>
          </a:xfrm>
          <a:prstGeom prst="rect">
            <a:avLst/>
          </a:prstGeom>
          <a:noFill/>
          <a:ln/>
        </p:spPr>
        <p:txBody>
          <a:bodyPr wrap="square" lIns="38100" tIns="38100" rIns="38100" bIns="38100" rtlCol="0" anchor="ctr"/>
          <a:lstStyle/>
          <a:p>
            <a:pPr algn="ctr" indent="0" marL="0">
              <a:buNone/>
            </a:pPr>
            <a:r>
              <a:rPr lang="en-US" sz="1000" dirty="0">
                <a:solidFill>
                  <a:srgbClr val="F0F6FF"/>
                </a:solidFill>
              </a:rPr>
              <a:t>② Chọn req ưu tiên thấp → Preempt</a:t>
            </a:r>
            <a:endParaRPr lang="en-US" sz="1000" dirty="0"/>
          </a:p>
        </p:txBody>
      </p:sp>
      <p:sp>
        <p:nvSpPr>
          <p:cNvPr id="23" name="Shape 21"/>
          <p:cNvSpPr/>
          <p:nvPr/>
        </p:nvSpPr>
        <p:spPr>
          <a:xfrm>
            <a:off x="3685032" y="4626864"/>
            <a:ext cx="64008" cy="0"/>
          </a:xfrm>
          <a:prstGeom prst="line">
            <a:avLst/>
          </a:prstGeom>
          <a:noFill/>
          <a:ln w="12700">
            <a:solidFill>
              <a:srgbClr val="F59E0B"/>
            </a:solidFill>
            <a:prstDash val="solid"/>
          </a:ln>
        </p:spPr>
      </p:sp>
      <p:sp>
        <p:nvSpPr>
          <p:cNvPr id="24" name="Shape 22"/>
          <p:cNvSpPr/>
          <p:nvPr/>
        </p:nvSpPr>
        <p:spPr>
          <a:xfrm>
            <a:off x="3749040" y="4416552"/>
            <a:ext cx="1627632" cy="420624"/>
          </a:xfrm>
          <a:prstGeom prst="rect">
            <a:avLst/>
          </a:prstGeom>
          <a:solidFill>
            <a:srgbClr val="0D1B2D"/>
          </a:solidFill>
          <a:ln w="12700">
            <a:solidFill>
              <a:srgbClr val="F59E0B"/>
            </a:solidFill>
            <a:prstDash val="solid"/>
          </a:ln>
        </p:spPr>
      </p:sp>
      <p:sp>
        <p:nvSpPr>
          <p:cNvPr id="25" name="Text 23"/>
          <p:cNvSpPr/>
          <p:nvPr/>
        </p:nvSpPr>
        <p:spPr>
          <a:xfrm>
            <a:off x="3749040" y="4416552"/>
            <a:ext cx="1627632" cy="420624"/>
          </a:xfrm>
          <a:prstGeom prst="rect">
            <a:avLst/>
          </a:prstGeom>
          <a:noFill/>
          <a:ln/>
        </p:spPr>
        <p:txBody>
          <a:bodyPr wrap="square" lIns="38100" tIns="38100" rIns="38100" bIns="38100" rtlCol="0" anchor="ctr"/>
          <a:lstStyle/>
          <a:p>
            <a:pPr algn="ctr" indent="0" marL="0">
              <a:buNone/>
            </a:pPr>
            <a:r>
              <a:rPr lang="en-US" sz="1000" dirty="0">
                <a:solidFill>
                  <a:srgbClr val="F0F6FF"/>
                </a:solidFill>
              </a:rPr>
              <a:t>③ Di chuyển pages → CPU RAM</a:t>
            </a:r>
            <a:endParaRPr lang="en-US" sz="1000" dirty="0"/>
          </a:p>
        </p:txBody>
      </p:sp>
      <p:sp>
        <p:nvSpPr>
          <p:cNvPr id="26" name="Shape 24"/>
          <p:cNvSpPr/>
          <p:nvPr/>
        </p:nvSpPr>
        <p:spPr>
          <a:xfrm>
            <a:off x="5376672" y="4626864"/>
            <a:ext cx="64008" cy="0"/>
          </a:xfrm>
          <a:prstGeom prst="line">
            <a:avLst/>
          </a:prstGeom>
          <a:noFill/>
          <a:ln w="12700">
            <a:solidFill>
              <a:srgbClr val="F59E0B"/>
            </a:solidFill>
            <a:prstDash val="solid"/>
          </a:ln>
        </p:spPr>
      </p:sp>
      <p:sp>
        <p:nvSpPr>
          <p:cNvPr id="27" name="Shape 25"/>
          <p:cNvSpPr/>
          <p:nvPr/>
        </p:nvSpPr>
        <p:spPr>
          <a:xfrm>
            <a:off x="5440680" y="4416552"/>
            <a:ext cx="1627632" cy="420624"/>
          </a:xfrm>
          <a:prstGeom prst="rect">
            <a:avLst/>
          </a:prstGeom>
          <a:solidFill>
            <a:srgbClr val="0D1B2D"/>
          </a:solidFill>
          <a:ln w="12700">
            <a:solidFill>
              <a:srgbClr val="F59E0B"/>
            </a:solidFill>
            <a:prstDash val="solid"/>
          </a:ln>
        </p:spPr>
      </p:sp>
      <p:sp>
        <p:nvSpPr>
          <p:cNvPr id="28" name="Text 26"/>
          <p:cNvSpPr/>
          <p:nvPr/>
        </p:nvSpPr>
        <p:spPr>
          <a:xfrm>
            <a:off x="5440680" y="4416552"/>
            <a:ext cx="1627632" cy="420624"/>
          </a:xfrm>
          <a:prstGeom prst="rect">
            <a:avLst/>
          </a:prstGeom>
          <a:noFill/>
          <a:ln/>
        </p:spPr>
        <p:txBody>
          <a:bodyPr wrap="square" lIns="38100" tIns="38100" rIns="38100" bIns="38100" rtlCol="0" anchor="ctr"/>
          <a:lstStyle/>
          <a:p>
            <a:pPr algn="ctr" indent="0" marL="0">
              <a:buNone/>
            </a:pPr>
            <a:r>
              <a:rPr lang="en-US" sz="1000" dirty="0">
                <a:solidFill>
                  <a:srgbClr val="F0F6FF"/>
                </a:solidFill>
              </a:rPr>
              <a:t>④ VRAM có chỗ → xử lý req khác</a:t>
            </a:r>
            <a:endParaRPr lang="en-US" sz="1000" dirty="0"/>
          </a:p>
        </p:txBody>
      </p:sp>
      <p:sp>
        <p:nvSpPr>
          <p:cNvPr id="29" name="Shape 27"/>
          <p:cNvSpPr/>
          <p:nvPr/>
        </p:nvSpPr>
        <p:spPr>
          <a:xfrm>
            <a:off x="7068312" y="4626864"/>
            <a:ext cx="64008" cy="0"/>
          </a:xfrm>
          <a:prstGeom prst="line">
            <a:avLst/>
          </a:prstGeom>
          <a:noFill/>
          <a:ln w="12700">
            <a:solidFill>
              <a:srgbClr val="F59E0B"/>
            </a:solidFill>
            <a:prstDash val="solid"/>
          </a:ln>
        </p:spPr>
      </p:sp>
      <p:sp>
        <p:nvSpPr>
          <p:cNvPr id="30" name="Shape 28"/>
          <p:cNvSpPr/>
          <p:nvPr/>
        </p:nvSpPr>
        <p:spPr>
          <a:xfrm>
            <a:off x="7132320" y="4416552"/>
            <a:ext cx="1627632" cy="420624"/>
          </a:xfrm>
          <a:prstGeom prst="rect">
            <a:avLst/>
          </a:prstGeom>
          <a:solidFill>
            <a:srgbClr val="0D1B2D"/>
          </a:solidFill>
          <a:ln w="12700">
            <a:solidFill>
              <a:srgbClr val="F59E0B"/>
            </a:solidFill>
            <a:prstDash val="solid"/>
          </a:ln>
        </p:spPr>
      </p:sp>
      <p:sp>
        <p:nvSpPr>
          <p:cNvPr id="31" name="Text 29"/>
          <p:cNvSpPr/>
          <p:nvPr/>
        </p:nvSpPr>
        <p:spPr>
          <a:xfrm>
            <a:off x="7132320" y="4416552"/>
            <a:ext cx="1627632" cy="420624"/>
          </a:xfrm>
          <a:prstGeom prst="rect">
            <a:avLst/>
          </a:prstGeom>
          <a:noFill/>
          <a:ln/>
        </p:spPr>
        <p:txBody>
          <a:bodyPr wrap="square" lIns="38100" tIns="38100" rIns="38100" bIns="38100" rtlCol="0" anchor="ctr"/>
          <a:lstStyle/>
          <a:p>
            <a:pPr algn="ctr" indent="0" marL="0">
              <a:buNone/>
            </a:pPr>
            <a:r>
              <a:rPr lang="en-US" sz="1000" dirty="0">
                <a:solidFill>
                  <a:srgbClr val="F0F6FF"/>
                </a:solidFill>
              </a:rPr>
              <a:t>⑤ Nạp lại khi cần → tiếp tục</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w="12700">
            <a:solidFill>
              <a:srgbClr val="00D4FF"/>
            </a:solidFill>
            <a:prstDash val="solid"/>
          </a:ln>
        </p:spPr>
      </p:sp>
      <p:sp>
        <p:nvSpPr>
          <p:cNvPr id="3" name="Text 1"/>
          <p:cNvSpPr/>
          <p:nvPr/>
        </p:nvSpPr>
        <p:spPr>
          <a:xfrm>
            <a:off x="365760" y="137160"/>
            <a:ext cx="8412480" cy="548640"/>
          </a:xfrm>
          <a:prstGeom prst="rect">
            <a:avLst/>
          </a:prstGeom>
          <a:noFill/>
          <a:ln/>
        </p:spPr>
        <p:txBody>
          <a:bodyPr wrap="square" lIns="0" tIns="0" rIns="0" bIns="0" rtlCol="0" anchor="ctr"/>
          <a:lstStyle/>
          <a:p>
            <a:pPr indent="0" marL="0">
              <a:buNone/>
            </a:pPr>
            <a:r>
              <a:rPr lang="en-US" sz="2600" b="1" dirty="0">
                <a:solidFill>
                  <a:srgbClr val="F0F6FF"/>
                </a:solidFill>
                <a:latin typeface="Calibri" pitchFamily="34" charset="0"/>
                <a:ea typeface="Calibri" pitchFamily="34" charset="-122"/>
                <a:cs typeface="Calibri" pitchFamily="34" charset="-120"/>
              </a:rPr>
              <a:t>🏗️  vLLM Engine — Kiến Trúc Tổng Quan</a:t>
            </a:r>
            <a:endParaRPr lang="en-US" sz="2600" dirty="0"/>
          </a:p>
        </p:txBody>
      </p:sp>
      <p:sp>
        <p:nvSpPr>
          <p:cNvPr id="4" name="Shape 2"/>
          <p:cNvSpPr/>
          <p:nvPr/>
        </p:nvSpPr>
        <p:spPr>
          <a:xfrm>
            <a:off x="365760" y="822960"/>
            <a:ext cx="8412480" cy="594360"/>
          </a:xfrm>
          <a:prstGeom prst="rect">
            <a:avLst/>
          </a:prstGeom>
          <a:solidFill>
            <a:srgbClr val="1B3040"/>
          </a:solidFill>
          <a:ln w="12700">
            <a:solidFill>
              <a:srgbClr val="00D4FF"/>
            </a:solidFill>
            <a:prstDash val="solid"/>
          </a:ln>
        </p:spPr>
      </p:sp>
      <p:sp>
        <p:nvSpPr>
          <p:cNvPr id="5" name="Text 3"/>
          <p:cNvSpPr/>
          <p:nvPr/>
        </p:nvSpPr>
        <p:spPr>
          <a:xfrm>
            <a:off x="502920" y="896112"/>
            <a:ext cx="8046720" cy="457200"/>
          </a:xfrm>
          <a:prstGeom prst="rect">
            <a:avLst/>
          </a:prstGeom>
          <a:noFill/>
          <a:ln/>
        </p:spPr>
        <p:txBody>
          <a:bodyPr wrap="square" lIns="0" tIns="0" rIns="0" bIns="0" rtlCol="0" anchor="ctr"/>
          <a:lstStyle/>
          <a:p>
            <a:pPr algn="ctr" indent="0" marL="0">
              <a:buNone/>
            </a:pPr>
            <a:r>
              <a:rPr lang="en-US" sz="1300" b="1" dirty="0">
                <a:solidFill>
                  <a:srgbClr val="00D4FF"/>
                </a:solidFill>
              </a:rPr>
              <a:t>CLIENT  →  REST API / OpenAI-Compatible Endpoint</a:t>
            </a:r>
            <a:endParaRPr lang="en-US" sz="1300" dirty="0"/>
          </a:p>
        </p:txBody>
      </p:sp>
      <p:sp>
        <p:nvSpPr>
          <p:cNvPr id="6" name="Shape 4"/>
          <p:cNvSpPr/>
          <p:nvPr/>
        </p:nvSpPr>
        <p:spPr>
          <a:xfrm>
            <a:off x="4572000" y="1417320"/>
            <a:ext cx="0" cy="274320"/>
          </a:xfrm>
          <a:prstGeom prst="line">
            <a:avLst/>
          </a:prstGeom>
          <a:noFill/>
          <a:ln w="12700">
            <a:solidFill>
              <a:srgbClr val="94A3B8"/>
            </a:solidFill>
            <a:prstDash val="solid"/>
          </a:ln>
        </p:spPr>
      </p:sp>
      <p:sp>
        <p:nvSpPr>
          <p:cNvPr id="7" name="Shape 5"/>
          <p:cNvSpPr/>
          <p:nvPr/>
        </p:nvSpPr>
        <p:spPr>
          <a:xfrm>
            <a:off x="1371600" y="1691640"/>
            <a:ext cx="2743200" cy="640080"/>
          </a:xfrm>
          <a:prstGeom prst="rect">
            <a:avLst/>
          </a:prstGeom>
          <a:solidFill>
            <a:srgbClr val="1E2F47"/>
          </a:solidFill>
          <a:ln w="12700">
            <a:solidFill>
              <a:srgbClr val="7C3AED"/>
            </a:solidFill>
            <a:prstDash val="solid"/>
          </a:ln>
        </p:spPr>
      </p:sp>
      <p:sp>
        <p:nvSpPr>
          <p:cNvPr id="8" name="Text 6"/>
          <p:cNvSpPr/>
          <p:nvPr/>
        </p:nvSpPr>
        <p:spPr>
          <a:xfrm>
            <a:off x="1371600" y="1719072"/>
            <a:ext cx="2743200" cy="585216"/>
          </a:xfrm>
          <a:prstGeom prst="rect">
            <a:avLst/>
          </a:prstGeom>
          <a:noFill/>
          <a:ln/>
        </p:spPr>
        <p:txBody>
          <a:bodyPr wrap="square" lIns="0" tIns="0" rIns="0" bIns="0" rtlCol="0" anchor="ctr"/>
          <a:lstStyle/>
          <a:p>
            <a:pPr algn="ctr" indent="0" marL="0">
              <a:buNone/>
            </a:pPr>
            <a:r>
              <a:rPr lang="en-US" sz="1200" dirty="0">
                <a:solidFill>
                  <a:srgbClr val="7C3AED"/>
                </a:solidFill>
              </a:rPr>
              <a:t>📋 Scheduler</a:t>
            </a:r>
            <a:endParaRPr lang="en-US" sz="1200" dirty="0"/>
          </a:p>
          <a:p>
            <a:pPr algn="ctr" indent="0" marL="0">
              <a:buNone/>
            </a:pPr>
            <a:r>
              <a:rPr lang="en-US" sz="1200" dirty="0">
                <a:solidFill>
                  <a:srgbClr val="7C3AED"/>
                </a:solidFill>
              </a:rPr>
              <a:t>(Continuous Batching)</a:t>
            </a:r>
            <a:endParaRPr lang="en-US" sz="1200" dirty="0"/>
          </a:p>
        </p:txBody>
      </p:sp>
      <p:sp>
        <p:nvSpPr>
          <p:cNvPr id="9" name="Shape 7"/>
          <p:cNvSpPr/>
          <p:nvPr/>
        </p:nvSpPr>
        <p:spPr>
          <a:xfrm>
            <a:off x="5029200" y="1691640"/>
            <a:ext cx="2743200" cy="640080"/>
          </a:xfrm>
          <a:prstGeom prst="rect">
            <a:avLst/>
          </a:prstGeom>
          <a:solidFill>
            <a:srgbClr val="1E2F47"/>
          </a:solidFill>
          <a:ln w="12700">
            <a:solidFill>
              <a:srgbClr val="10B981"/>
            </a:solidFill>
            <a:prstDash val="solid"/>
          </a:ln>
        </p:spPr>
      </p:sp>
      <p:sp>
        <p:nvSpPr>
          <p:cNvPr id="10" name="Text 8"/>
          <p:cNvSpPr/>
          <p:nvPr/>
        </p:nvSpPr>
        <p:spPr>
          <a:xfrm>
            <a:off x="5029200" y="1719072"/>
            <a:ext cx="2743200" cy="585216"/>
          </a:xfrm>
          <a:prstGeom prst="rect">
            <a:avLst/>
          </a:prstGeom>
          <a:noFill/>
          <a:ln/>
        </p:spPr>
        <p:txBody>
          <a:bodyPr wrap="square" lIns="0" tIns="0" rIns="0" bIns="0" rtlCol="0" anchor="ctr"/>
          <a:lstStyle/>
          <a:p>
            <a:pPr algn="ctr" indent="0" marL="0">
              <a:buNone/>
            </a:pPr>
            <a:r>
              <a:rPr lang="en-US" sz="1200" dirty="0">
                <a:solidFill>
                  <a:srgbClr val="10B981"/>
                </a:solidFill>
              </a:rPr>
              <a:t>🧠 KV Cache Manager</a:t>
            </a:r>
            <a:endParaRPr lang="en-US" sz="1200" dirty="0"/>
          </a:p>
          <a:p>
            <a:pPr algn="ctr" indent="0" marL="0">
              <a:buNone/>
            </a:pPr>
            <a:r>
              <a:rPr lang="en-US" sz="1200" dirty="0">
                <a:solidFill>
                  <a:srgbClr val="10B981"/>
                </a:solidFill>
              </a:rPr>
              <a:t>(PagedAttention)</a:t>
            </a:r>
            <a:endParaRPr lang="en-US" sz="1200" dirty="0"/>
          </a:p>
        </p:txBody>
      </p:sp>
      <p:sp>
        <p:nvSpPr>
          <p:cNvPr id="11" name="Shape 9"/>
          <p:cNvSpPr/>
          <p:nvPr/>
        </p:nvSpPr>
        <p:spPr>
          <a:xfrm>
            <a:off x="2743200" y="2011680"/>
            <a:ext cx="2286000" cy="0"/>
          </a:xfrm>
          <a:prstGeom prst="line">
            <a:avLst/>
          </a:prstGeom>
          <a:noFill/>
          <a:ln w="12700">
            <a:solidFill>
              <a:srgbClr val="94A3B8"/>
            </a:solidFill>
            <a:prstDash val="solid"/>
          </a:ln>
        </p:spPr>
      </p:sp>
      <p:sp>
        <p:nvSpPr>
          <p:cNvPr id="12" name="Shape 10"/>
          <p:cNvSpPr/>
          <p:nvPr/>
        </p:nvSpPr>
        <p:spPr>
          <a:xfrm>
            <a:off x="4572000" y="2011680"/>
            <a:ext cx="0" cy="457200"/>
          </a:xfrm>
          <a:prstGeom prst="line">
            <a:avLst/>
          </a:prstGeom>
          <a:noFill/>
          <a:ln w="12700">
            <a:solidFill>
              <a:srgbClr val="94A3B8"/>
            </a:solidFill>
            <a:prstDash val="solid"/>
          </a:ln>
        </p:spPr>
      </p:sp>
      <p:sp>
        <p:nvSpPr>
          <p:cNvPr id="13" name="Shape 11"/>
          <p:cNvSpPr/>
          <p:nvPr/>
        </p:nvSpPr>
        <p:spPr>
          <a:xfrm>
            <a:off x="2286000" y="2468880"/>
            <a:ext cx="4572000" cy="640080"/>
          </a:xfrm>
          <a:prstGeom prst="rect">
            <a:avLst/>
          </a:prstGeom>
          <a:solidFill>
            <a:srgbClr val="1E2F47"/>
          </a:solidFill>
          <a:ln w="12700">
            <a:solidFill>
              <a:srgbClr val="F59E0B"/>
            </a:solidFill>
            <a:prstDash val="solid"/>
          </a:ln>
        </p:spPr>
      </p:sp>
      <p:sp>
        <p:nvSpPr>
          <p:cNvPr id="14" name="Text 12"/>
          <p:cNvSpPr/>
          <p:nvPr/>
        </p:nvSpPr>
        <p:spPr>
          <a:xfrm>
            <a:off x="2286000" y="2496312"/>
            <a:ext cx="4572000" cy="585216"/>
          </a:xfrm>
          <a:prstGeom prst="rect">
            <a:avLst/>
          </a:prstGeom>
          <a:noFill/>
          <a:ln/>
        </p:spPr>
        <p:txBody>
          <a:bodyPr wrap="square" lIns="0" tIns="0" rIns="0" bIns="0" rtlCol="0" anchor="ctr"/>
          <a:lstStyle/>
          <a:p>
            <a:pPr algn="ctr" indent="0" marL="0">
              <a:buNone/>
            </a:pPr>
            <a:r>
              <a:rPr lang="en-US" sz="1200" dirty="0">
                <a:solidFill>
                  <a:srgbClr val="F59E0B"/>
                </a:solidFill>
              </a:rPr>
              <a:t>⚡ Model Executor (GPU Workers + Tensor Parallelism)</a:t>
            </a:r>
            <a:endParaRPr lang="en-US" sz="1200" dirty="0"/>
          </a:p>
        </p:txBody>
      </p:sp>
      <p:sp>
        <p:nvSpPr>
          <p:cNvPr id="15" name="Shape 13"/>
          <p:cNvSpPr/>
          <p:nvPr/>
        </p:nvSpPr>
        <p:spPr>
          <a:xfrm>
            <a:off x="4572000" y="3108960"/>
            <a:ext cx="0" cy="274320"/>
          </a:xfrm>
          <a:prstGeom prst="line">
            <a:avLst/>
          </a:prstGeom>
          <a:noFill/>
          <a:ln w="12700">
            <a:solidFill>
              <a:srgbClr val="94A3B8"/>
            </a:solidFill>
            <a:prstDash val="solid"/>
          </a:ln>
        </p:spPr>
      </p:sp>
      <p:sp>
        <p:nvSpPr>
          <p:cNvPr id="16" name="Shape 14"/>
          <p:cNvSpPr/>
          <p:nvPr/>
        </p:nvSpPr>
        <p:spPr>
          <a:xfrm>
            <a:off x="914400" y="3383280"/>
            <a:ext cx="7315200" cy="594360"/>
          </a:xfrm>
          <a:prstGeom prst="rect">
            <a:avLst/>
          </a:prstGeom>
          <a:solidFill>
            <a:srgbClr val="1C1000"/>
          </a:solidFill>
          <a:ln w="12700">
            <a:solidFill>
              <a:srgbClr val="F59E0B"/>
            </a:solidFill>
            <a:prstDash val="solid"/>
          </a:ln>
        </p:spPr>
      </p:sp>
      <p:sp>
        <p:nvSpPr>
          <p:cNvPr id="17" name="Text 15"/>
          <p:cNvSpPr/>
          <p:nvPr/>
        </p:nvSpPr>
        <p:spPr>
          <a:xfrm>
            <a:off x="914400" y="3410712"/>
            <a:ext cx="7315200" cy="539496"/>
          </a:xfrm>
          <a:prstGeom prst="rect">
            <a:avLst/>
          </a:prstGeom>
          <a:noFill/>
          <a:ln/>
        </p:spPr>
        <p:txBody>
          <a:bodyPr wrap="square" lIns="0" tIns="0" rIns="0" bIns="0" rtlCol="0" anchor="ctr"/>
          <a:lstStyle/>
          <a:p>
            <a:pPr algn="ctr" indent="0" marL="0">
              <a:buNone/>
            </a:pPr>
            <a:r>
              <a:rPr lang="en-US" sz="1300" b="1" dirty="0">
                <a:solidFill>
                  <a:srgbClr val="F59E0B"/>
                </a:solidFill>
              </a:rPr>
              <a:t>🖥️  GPU(s) — VRAM: Trọng số mô hình + KV Cache + Activations</a:t>
            </a:r>
            <a:endParaRPr lang="en-US" sz="1300" dirty="0"/>
          </a:p>
        </p:txBody>
      </p:sp>
      <p:sp>
        <p:nvSpPr>
          <p:cNvPr id="18" name="Shape 16"/>
          <p:cNvSpPr/>
          <p:nvPr/>
        </p:nvSpPr>
        <p:spPr>
          <a:xfrm>
            <a:off x="365760" y="4160520"/>
            <a:ext cx="4114800" cy="384048"/>
          </a:xfrm>
          <a:prstGeom prst="rect">
            <a:avLst/>
          </a:prstGeom>
          <a:solidFill>
            <a:srgbClr val="1E2F47"/>
          </a:solidFill>
          <a:ln w="12700">
            <a:solidFill>
              <a:srgbClr val="162236"/>
            </a:solidFill>
            <a:prstDash val="solid"/>
          </a:ln>
        </p:spPr>
      </p:sp>
      <p:sp>
        <p:nvSpPr>
          <p:cNvPr id="19" name="Text 17"/>
          <p:cNvSpPr/>
          <p:nvPr/>
        </p:nvSpPr>
        <p:spPr>
          <a:xfrm>
            <a:off x="457200" y="4160520"/>
            <a:ext cx="3931920" cy="384048"/>
          </a:xfrm>
          <a:prstGeom prst="rect">
            <a:avLst/>
          </a:prstGeom>
          <a:noFill/>
          <a:ln/>
        </p:spPr>
        <p:txBody>
          <a:bodyPr wrap="square" lIns="63500" tIns="63500" rIns="63500" bIns="63500" rtlCol="0" anchor="ctr"/>
          <a:lstStyle/>
          <a:p>
            <a:pPr indent="0" marL="0">
              <a:buNone/>
            </a:pPr>
            <a:r>
              <a:rPr lang="en-US" sz="1100" dirty="0">
                <a:solidFill>
                  <a:srgbClr val="F0F6FF"/>
                </a:solidFill>
              </a:rPr>
              <a:t>🔀 Tensor Parallelism: Chia mô hình trên nhiều GPU</a:t>
            </a:r>
            <a:endParaRPr lang="en-US" sz="1100" dirty="0"/>
          </a:p>
        </p:txBody>
      </p:sp>
      <p:sp>
        <p:nvSpPr>
          <p:cNvPr id="20" name="Shape 18"/>
          <p:cNvSpPr/>
          <p:nvPr/>
        </p:nvSpPr>
        <p:spPr>
          <a:xfrm>
            <a:off x="4754880" y="4160520"/>
            <a:ext cx="4114800" cy="384048"/>
          </a:xfrm>
          <a:prstGeom prst="rect">
            <a:avLst/>
          </a:prstGeom>
          <a:solidFill>
            <a:srgbClr val="1E2F47"/>
          </a:solidFill>
          <a:ln w="12700">
            <a:solidFill>
              <a:srgbClr val="162236"/>
            </a:solidFill>
            <a:prstDash val="solid"/>
          </a:ln>
        </p:spPr>
      </p:sp>
      <p:sp>
        <p:nvSpPr>
          <p:cNvPr id="21" name="Text 19"/>
          <p:cNvSpPr/>
          <p:nvPr/>
        </p:nvSpPr>
        <p:spPr>
          <a:xfrm>
            <a:off x="4846320" y="4160520"/>
            <a:ext cx="3931920" cy="384048"/>
          </a:xfrm>
          <a:prstGeom prst="rect">
            <a:avLst/>
          </a:prstGeom>
          <a:noFill/>
          <a:ln/>
        </p:spPr>
        <p:txBody>
          <a:bodyPr wrap="square" lIns="63500" tIns="63500" rIns="63500" bIns="63500" rtlCol="0" anchor="ctr"/>
          <a:lstStyle/>
          <a:p>
            <a:pPr indent="0" marL="0">
              <a:buNone/>
            </a:pPr>
            <a:r>
              <a:rPr lang="en-US" sz="1100" dirty="0">
                <a:solidFill>
                  <a:srgbClr val="F0F6FF"/>
                </a:solidFill>
              </a:rPr>
              <a:t>📦 Hỗ trợ Llama, Mistral, Qwen, Gemma và hàng trăm model khác</a:t>
            </a:r>
            <a:endParaRPr lang="en-US" sz="1100" dirty="0"/>
          </a:p>
        </p:txBody>
      </p:sp>
      <p:sp>
        <p:nvSpPr>
          <p:cNvPr id="22" name="Shape 20"/>
          <p:cNvSpPr/>
          <p:nvPr/>
        </p:nvSpPr>
        <p:spPr>
          <a:xfrm>
            <a:off x="365760" y="4617720"/>
            <a:ext cx="4114800" cy="384048"/>
          </a:xfrm>
          <a:prstGeom prst="rect">
            <a:avLst/>
          </a:prstGeom>
          <a:solidFill>
            <a:srgbClr val="1E2F47"/>
          </a:solidFill>
          <a:ln w="12700">
            <a:solidFill>
              <a:srgbClr val="162236"/>
            </a:solidFill>
            <a:prstDash val="solid"/>
          </a:ln>
        </p:spPr>
      </p:sp>
      <p:sp>
        <p:nvSpPr>
          <p:cNvPr id="23" name="Text 21"/>
          <p:cNvSpPr/>
          <p:nvPr/>
        </p:nvSpPr>
        <p:spPr>
          <a:xfrm>
            <a:off x="457200" y="4617720"/>
            <a:ext cx="3931920" cy="384048"/>
          </a:xfrm>
          <a:prstGeom prst="rect">
            <a:avLst/>
          </a:prstGeom>
          <a:noFill/>
          <a:ln/>
        </p:spPr>
        <p:txBody>
          <a:bodyPr wrap="square" lIns="63500" tIns="63500" rIns="63500" bIns="63500" rtlCol="0" anchor="ctr"/>
          <a:lstStyle/>
          <a:p>
            <a:pPr indent="0" marL="0">
              <a:buNone/>
            </a:pPr>
            <a:r>
              <a:rPr lang="en-US" sz="1100" dirty="0">
                <a:solidFill>
                  <a:srgbClr val="F0F6FF"/>
                </a:solidFill>
              </a:rPr>
              <a:t>🌐 API tương thích hoàn toàn với OpenAI — dễ tích hợp</a:t>
            </a:r>
            <a:endParaRPr lang="en-US" sz="1100" dirty="0"/>
          </a:p>
        </p:txBody>
      </p:sp>
      <p:sp>
        <p:nvSpPr>
          <p:cNvPr id="24" name="Shape 22"/>
          <p:cNvSpPr/>
          <p:nvPr/>
        </p:nvSpPr>
        <p:spPr>
          <a:xfrm>
            <a:off x="4754880" y="4617720"/>
            <a:ext cx="4114800" cy="384048"/>
          </a:xfrm>
          <a:prstGeom prst="rect">
            <a:avLst/>
          </a:prstGeom>
          <a:solidFill>
            <a:srgbClr val="1E2F47"/>
          </a:solidFill>
          <a:ln w="12700">
            <a:solidFill>
              <a:srgbClr val="162236"/>
            </a:solidFill>
            <a:prstDash val="solid"/>
          </a:ln>
        </p:spPr>
      </p:sp>
      <p:sp>
        <p:nvSpPr>
          <p:cNvPr id="25" name="Text 23"/>
          <p:cNvSpPr/>
          <p:nvPr/>
        </p:nvSpPr>
        <p:spPr>
          <a:xfrm>
            <a:off x="4846320" y="4617720"/>
            <a:ext cx="3931920" cy="384048"/>
          </a:xfrm>
          <a:prstGeom prst="rect">
            <a:avLst/>
          </a:prstGeom>
          <a:noFill/>
          <a:ln/>
        </p:spPr>
        <p:txBody>
          <a:bodyPr wrap="square" lIns="63500" tIns="63500" rIns="63500" bIns="63500" rtlCol="0" anchor="ctr"/>
          <a:lstStyle/>
          <a:p>
            <a:pPr indent="0" marL="0">
              <a:buNone/>
            </a:pPr>
            <a:r>
              <a:rPr lang="en-US" sz="1100" dirty="0">
                <a:solidFill>
                  <a:srgbClr val="F0F6FF"/>
                </a:solidFill>
              </a:rPr>
              <a:t>⚡ Flash Attention tích hợp sẵn để tối đa tốc độ tính toán</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7C3AED"/>
          </a:solidFill>
          <a:ln w="12700">
            <a:solidFill>
              <a:srgbClr val="7C3AED"/>
            </a:solidFill>
            <a:prstDash val="solid"/>
          </a:ln>
        </p:spPr>
      </p:sp>
      <p:sp>
        <p:nvSpPr>
          <p:cNvPr id="3" name="Text 1"/>
          <p:cNvSpPr/>
          <p:nvPr/>
        </p:nvSpPr>
        <p:spPr>
          <a:xfrm>
            <a:off x="365760" y="137160"/>
            <a:ext cx="8412480" cy="548640"/>
          </a:xfrm>
          <a:prstGeom prst="rect">
            <a:avLst/>
          </a:prstGeom>
          <a:noFill/>
          <a:ln/>
        </p:spPr>
        <p:txBody>
          <a:bodyPr wrap="square" lIns="0" tIns="0" rIns="0" bIns="0" rtlCol="0" anchor="ctr"/>
          <a:lstStyle/>
          <a:p>
            <a:pPr indent="0" marL="0">
              <a:buNone/>
            </a:pPr>
            <a:r>
              <a:rPr lang="en-US" sz="2600" b="1" dirty="0">
                <a:solidFill>
                  <a:srgbClr val="F0F6FF"/>
                </a:solidFill>
                <a:latin typeface="Calibri" pitchFamily="34" charset="0"/>
                <a:ea typeface="Calibri" pitchFamily="34" charset="-122"/>
                <a:cs typeface="Calibri" pitchFamily="34" charset="-120"/>
              </a:rPr>
              <a:t>⚖️  So Sánh vLLM Với Các Framework Khác</a:t>
            </a:r>
            <a:endParaRPr lang="en-US" sz="2600" dirty="0"/>
          </a:p>
        </p:txBody>
      </p:sp>
      <p:sp>
        <p:nvSpPr>
          <p:cNvPr id="4" name="Shape 2"/>
          <p:cNvSpPr/>
          <p:nvPr/>
        </p:nvSpPr>
        <p:spPr>
          <a:xfrm>
            <a:off x="365760" y="822960"/>
            <a:ext cx="2011680" cy="594360"/>
          </a:xfrm>
          <a:prstGeom prst="rect">
            <a:avLst/>
          </a:prstGeom>
          <a:solidFill>
            <a:srgbClr val="1E2F47"/>
          </a:solidFill>
          <a:ln w="12700">
            <a:solidFill>
              <a:srgbClr val="162236"/>
            </a:solidFill>
            <a:prstDash val="solid"/>
          </a:ln>
        </p:spPr>
      </p:sp>
      <p:sp>
        <p:nvSpPr>
          <p:cNvPr id="5" name="Text 3"/>
          <p:cNvSpPr/>
          <p:nvPr/>
        </p:nvSpPr>
        <p:spPr>
          <a:xfrm>
            <a:off x="365760" y="822960"/>
            <a:ext cx="2011680" cy="594360"/>
          </a:xfrm>
          <a:prstGeom prst="rect">
            <a:avLst/>
          </a:prstGeom>
          <a:noFill/>
          <a:ln/>
        </p:spPr>
        <p:txBody>
          <a:bodyPr wrap="square" lIns="0" tIns="0" rIns="0" bIns="0" rtlCol="0" anchor="ctr"/>
          <a:lstStyle/>
          <a:p>
            <a:pPr algn="ctr" indent="0" marL="0">
              <a:buNone/>
            </a:pPr>
            <a:r>
              <a:rPr lang="en-US" sz="1200" b="1" dirty="0">
                <a:solidFill>
                  <a:srgbClr val="94A3B8"/>
                </a:solidFill>
              </a:rPr>
              <a:t>Tiêu chí</a:t>
            </a:r>
            <a:endParaRPr lang="en-US" sz="1200" dirty="0"/>
          </a:p>
        </p:txBody>
      </p:sp>
      <p:sp>
        <p:nvSpPr>
          <p:cNvPr id="6" name="Shape 4"/>
          <p:cNvSpPr/>
          <p:nvPr/>
        </p:nvSpPr>
        <p:spPr>
          <a:xfrm>
            <a:off x="2423160" y="822960"/>
            <a:ext cx="2057400" cy="594360"/>
          </a:xfrm>
          <a:prstGeom prst="rect">
            <a:avLst/>
          </a:prstGeom>
          <a:solidFill>
            <a:srgbClr val="1A1A2E"/>
          </a:solidFill>
          <a:ln w="12700">
            <a:solidFill>
              <a:srgbClr val="162236"/>
            </a:solidFill>
            <a:prstDash val="solid"/>
          </a:ln>
        </p:spPr>
      </p:sp>
      <p:sp>
        <p:nvSpPr>
          <p:cNvPr id="7" name="Text 5"/>
          <p:cNvSpPr/>
          <p:nvPr/>
        </p:nvSpPr>
        <p:spPr>
          <a:xfrm>
            <a:off x="2423160" y="822960"/>
            <a:ext cx="2057400" cy="594360"/>
          </a:xfrm>
          <a:prstGeom prst="rect">
            <a:avLst/>
          </a:prstGeom>
          <a:noFill/>
          <a:ln/>
        </p:spPr>
        <p:txBody>
          <a:bodyPr wrap="square" lIns="0" tIns="0" rIns="0" bIns="0" rtlCol="0" anchor="ctr"/>
          <a:lstStyle/>
          <a:p>
            <a:pPr algn="ctr" indent="0" marL="0">
              <a:buNone/>
            </a:pPr>
            <a:r>
              <a:rPr lang="en-US" sz="1200" b="1" dirty="0">
                <a:solidFill>
                  <a:srgbClr val="EF4444"/>
                </a:solidFill>
              </a:rPr>
              <a:t>HuggingFace</a:t>
            </a:r>
            <a:endParaRPr lang="en-US" sz="1200" dirty="0"/>
          </a:p>
          <a:p>
            <a:pPr algn="ctr" indent="0" marL="0">
              <a:buNone/>
            </a:pPr>
            <a:r>
              <a:rPr lang="en-US" sz="1200" b="1" dirty="0">
                <a:solidFill>
                  <a:srgbClr val="EF4444"/>
                </a:solidFill>
              </a:rPr>
              <a:t>(Naive)</a:t>
            </a:r>
            <a:endParaRPr lang="en-US" sz="1200" dirty="0"/>
          </a:p>
        </p:txBody>
      </p:sp>
      <p:sp>
        <p:nvSpPr>
          <p:cNvPr id="8" name="Shape 6"/>
          <p:cNvSpPr/>
          <p:nvPr/>
        </p:nvSpPr>
        <p:spPr>
          <a:xfrm>
            <a:off x="4526280" y="822960"/>
            <a:ext cx="2057400" cy="594360"/>
          </a:xfrm>
          <a:prstGeom prst="rect">
            <a:avLst/>
          </a:prstGeom>
          <a:solidFill>
            <a:srgbClr val="1A2E1A"/>
          </a:solidFill>
          <a:ln w="12700">
            <a:solidFill>
              <a:srgbClr val="162236"/>
            </a:solidFill>
            <a:prstDash val="solid"/>
          </a:ln>
        </p:spPr>
      </p:sp>
      <p:sp>
        <p:nvSpPr>
          <p:cNvPr id="9" name="Text 7"/>
          <p:cNvSpPr/>
          <p:nvPr/>
        </p:nvSpPr>
        <p:spPr>
          <a:xfrm>
            <a:off x="4526280" y="822960"/>
            <a:ext cx="2057400" cy="594360"/>
          </a:xfrm>
          <a:prstGeom prst="rect">
            <a:avLst/>
          </a:prstGeom>
          <a:noFill/>
          <a:ln/>
        </p:spPr>
        <p:txBody>
          <a:bodyPr wrap="square" lIns="0" tIns="0" rIns="0" bIns="0" rtlCol="0" anchor="ctr"/>
          <a:lstStyle/>
          <a:p>
            <a:pPr algn="ctr" indent="0" marL="0">
              <a:buNone/>
            </a:pPr>
            <a:r>
              <a:rPr lang="en-US" sz="1200" b="1" dirty="0">
                <a:solidFill>
                  <a:srgbClr val="94A3B8"/>
                </a:solidFill>
              </a:rPr>
              <a:t>Ollama</a:t>
            </a:r>
            <a:endParaRPr lang="en-US" sz="1200" dirty="0"/>
          </a:p>
        </p:txBody>
      </p:sp>
      <p:sp>
        <p:nvSpPr>
          <p:cNvPr id="10" name="Shape 8"/>
          <p:cNvSpPr/>
          <p:nvPr/>
        </p:nvSpPr>
        <p:spPr>
          <a:xfrm>
            <a:off x="6629400" y="822960"/>
            <a:ext cx="2057400" cy="594360"/>
          </a:xfrm>
          <a:prstGeom prst="rect">
            <a:avLst/>
          </a:prstGeom>
          <a:solidFill>
            <a:srgbClr val="002244"/>
          </a:solidFill>
          <a:ln w="12700">
            <a:solidFill>
              <a:srgbClr val="162236"/>
            </a:solidFill>
            <a:prstDash val="solid"/>
          </a:ln>
        </p:spPr>
      </p:sp>
      <p:sp>
        <p:nvSpPr>
          <p:cNvPr id="11" name="Text 9"/>
          <p:cNvSpPr/>
          <p:nvPr/>
        </p:nvSpPr>
        <p:spPr>
          <a:xfrm>
            <a:off x="6629400" y="822960"/>
            <a:ext cx="2057400" cy="594360"/>
          </a:xfrm>
          <a:prstGeom prst="rect">
            <a:avLst/>
          </a:prstGeom>
          <a:noFill/>
          <a:ln/>
        </p:spPr>
        <p:txBody>
          <a:bodyPr wrap="square" lIns="0" tIns="0" rIns="0" bIns="0" rtlCol="0" anchor="ctr"/>
          <a:lstStyle/>
          <a:p>
            <a:pPr algn="ctr" indent="0" marL="0">
              <a:buNone/>
            </a:pPr>
            <a:r>
              <a:rPr lang="en-US" sz="1200" b="1" dirty="0">
                <a:solidFill>
                  <a:srgbClr val="00D4FF"/>
                </a:solidFill>
              </a:rPr>
              <a:t>vLLM</a:t>
            </a:r>
            <a:endParaRPr lang="en-US" sz="1200" dirty="0"/>
          </a:p>
        </p:txBody>
      </p:sp>
      <p:sp>
        <p:nvSpPr>
          <p:cNvPr id="12" name="Shape 10"/>
          <p:cNvSpPr/>
          <p:nvPr/>
        </p:nvSpPr>
        <p:spPr>
          <a:xfrm>
            <a:off x="365760" y="1463040"/>
            <a:ext cx="8321040" cy="658368"/>
          </a:xfrm>
          <a:prstGeom prst="rect">
            <a:avLst/>
          </a:prstGeom>
          <a:solidFill>
            <a:srgbClr val="1E2F47"/>
          </a:solidFill>
          <a:ln w="12700">
            <a:solidFill>
              <a:srgbClr val="162236"/>
            </a:solidFill>
            <a:prstDash val="solid"/>
          </a:ln>
        </p:spPr>
      </p:sp>
      <p:sp>
        <p:nvSpPr>
          <p:cNvPr id="13" name="Text 11"/>
          <p:cNvSpPr/>
          <p:nvPr/>
        </p:nvSpPr>
        <p:spPr>
          <a:xfrm>
            <a:off x="411480" y="1463040"/>
            <a:ext cx="1920240" cy="658368"/>
          </a:xfrm>
          <a:prstGeom prst="rect">
            <a:avLst/>
          </a:prstGeom>
          <a:noFill/>
          <a:ln/>
        </p:spPr>
        <p:txBody>
          <a:bodyPr wrap="square" lIns="63500" tIns="63500" rIns="63500" bIns="63500" rtlCol="0" anchor="ctr"/>
          <a:lstStyle/>
          <a:p>
            <a:pPr indent="0" marL="0">
              <a:buNone/>
            </a:pPr>
            <a:r>
              <a:rPr lang="en-US" sz="1200" b="1" dirty="0">
                <a:solidFill>
                  <a:srgbClr val="F0F6FF"/>
                </a:solidFill>
              </a:rPr>
              <a:t>Quản lý bộ nhớ</a:t>
            </a:r>
            <a:endParaRPr lang="en-US" sz="1200" dirty="0"/>
          </a:p>
        </p:txBody>
      </p:sp>
      <p:sp>
        <p:nvSpPr>
          <p:cNvPr id="14" name="Text 12"/>
          <p:cNvSpPr/>
          <p:nvPr/>
        </p:nvSpPr>
        <p:spPr>
          <a:xfrm>
            <a:off x="2468880" y="1463040"/>
            <a:ext cx="1965960" cy="658368"/>
          </a:xfrm>
          <a:prstGeom prst="rect">
            <a:avLst/>
          </a:prstGeom>
          <a:noFill/>
          <a:ln/>
        </p:spPr>
        <p:txBody>
          <a:bodyPr wrap="square" lIns="38100" tIns="38100" rIns="38100" bIns="38100" rtlCol="0" anchor="ctr"/>
          <a:lstStyle/>
          <a:p>
            <a:pPr algn="ctr" indent="0" marL="0">
              <a:buNone/>
            </a:pPr>
            <a:r>
              <a:rPr lang="en-US" sz="1050" dirty="0">
                <a:solidFill>
                  <a:srgbClr val="EF4444"/>
                </a:solidFill>
              </a:rPr>
              <a:t>❌ Cấp phát tĩnh</a:t>
            </a:r>
            <a:endParaRPr lang="en-US" sz="1050" dirty="0"/>
          </a:p>
          <a:p>
            <a:pPr algn="ctr" indent="0" marL="0">
              <a:buNone/>
            </a:pPr>
            <a:r>
              <a:rPr lang="en-US" sz="1050" dirty="0">
                <a:solidFill>
                  <a:srgbClr val="EF4444"/>
                </a:solidFill>
              </a:rPr>
              <a:t>(60-80% lãng phí)</a:t>
            </a:r>
            <a:endParaRPr lang="en-US" sz="1050" dirty="0"/>
          </a:p>
        </p:txBody>
      </p:sp>
      <p:sp>
        <p:nvSpPr>
          <p:cNvPr id="15" name="Text 13"/>
          <p:cNvSpPr/>
          <p:nvPr/>
        </p:nvSpPr>
        <p:spPr>
          <a:xfrm>
            <a:off x="4572000" y="1463040"/>
            <a:ext cx="1965960" cy="658368"/>
          </a:xfrm>
          <a:prstGeom prst="rect">
            <a:avLst/>
          </a:prstGeom>
          <a:noFill/>
          <a:ln/>
        </p:spPr>
        <p:txBody>
          <a:bodyPr wrap="square" lIns="38100" tIns="38100" rIns="38100" bIns="38100" rtlCol="0" anchor="ctr"/>
          <a:lstStyle/>
          <a:p>
            <a:pPr algn="ctr" indent="0" marL="0">
              <a:buNone/>
            </a:pPr>
            <a:r>
              <a:rPr lang="en-US" sz="1050" dirty="0">
                <a:solidFill>
                  <a:srgbClr val="94A3B8"/>
                </a:solidFill>
              </a:rPr>
              <a:t>✅ Tốt hơn</a:t>
            </a:r>
            <a:endParaRPr lang="en-US" sz="1050" dirty="0"/>
          </a:p>
          <a:p>
            <a:pPr algn="ctr" indent="0" marL="0">
              <a:buNone/>
            </a:pPr>
            <a:r>
              <a:rPr lang="en-US" sz="1050" dirty="0">
                <a:solidFill>
                  <a:srgbClr val="94A3B8"/>
                </a:solidFill>
              </a:rPr>
              <a:t>nhưng single-user</a:t>
            </a:r>
            <a:endParaRPr lang="en-US" sz="1050" dirty="0"/>
          </a:p>
        </p:txBody>
      </p:sp>
      <p:sp>
        <p:nvSpPr>
          <p:cNvPr id="16" name="Text 14"/>
          <p:cNvSpPr/>
          <p:nvPr/>
        </p:nvSpPr>
        <p:spPr>
          <a:xfrm>
            <a:off x="6675120" y="1463040"/>
            <a:ext cx="1965960" cy="658368"/>
          </a:xfrm>
          <a:prstGeom prst="rect">
            <a:avLst/>
          </a:prstGeom>
          <a:noFill/>
          <a:ln/>
        </p:spPr>
        <p:txBody>
          <a:bodyPr wrap="square" lIns="38100" tIns="38100" rIns="38100" bIns="38100" rtlCol="0" anchor="ctr"/>
          <a:lstStyle/>
          <a:p>
            <a:pPr algn="ctr" indent="0" marL="0">
              <a:buNone/>
            </a:pPr>
            <a:r>
              <a:rPr lang="en-US" sz="1050" dirty="0">
                <a:solidFill>
                  <a:srgbClr val="10B981"/>
                </a:solidFill>
              </a:rPr>
              <a:t>✅ PagedAttention</a:t>
            </a:r>
            <a:endParaRPr lang="en-US" sz="1050" dirty="0"/>
          </a:p>
          <a:p>
            <a:pPr algn="ctr" indent="0" marL="0">
              <a:buNone/>
            </a:pPr>
            <a:r>
              <a:rPr lang="en-US" sz="1050" dirty="0">
                <a:solidFill>
                  <a:srgbClr val="10B981"/>
                </a:solidFill>
              </a:rPr>
              <a:t>&lt;4% lãng phí</a:t>
            </a:r>
            <a:endParaRPr lang="en-US" sz="1050" dirty="0"/>
          </a:p>
        </p:txBody>
      </p:sp>
      <p:sp>
        <p:nvSpPr>
          <p:cNvPr id="17" name="Shape 15"/>
          <p:cNvSpPr/>
          <p:nvPr/>
        </p:nvSpPr>
        <p:spPr>
          <a:xfrm>
            <a:off x="365760" y="2157984"/>
            <a:ext cx="8321040" cy="658368"/>
          </a:xfrm>
          <a:prstGeom prst="rect">
            <a:avLst/>
          </a:prstGeom>
          <a:solidFill>
            <a:srgbClr val="162236"/>
          </a:solidFill>
          <a:ln w="12700">
            <a:solidFill>
              <a:srgbClr val="162236"/>
            </a:solidFill>
            <a:prstDash val="solid"/>
          </a:ln>
        </p:spPr>
      </p:sp>
      <p:sp>
        <p:nvSpPr>
          <p:cNvPr id="18" name="Text 16"/>
          <p:cNvSpPr/>
          <p:nvPr/>
        </p:nvSpPr>
        <p:spPr>
          <a:xfrm>
            <a:off x="411480" y="2157984"/>
            <a:ext cx="1920240" cy="658368"/>
          </a:xfrm>
          <a:prstGeom prst="rect">
            <a:avLst/>
          </a:prstGeom>
          <a:noFill/>
          <a:ln/>
        </p:spPr>
        <p:txBody>
          <a:bodyPr wrap="square" lIns="63500" tIns="63500" rIns="63500" bIns="63500" rtlCol="0" anchor="ctr"/>
          <a:lstStyle/>
          <a:p>
            <a:pPr indent="0" marL="0">
              <a:buNone/>
            </a:pPr>
            <a:r>
              <a:rPr lang="en-US" sz="1200" b="1" dirty="0">
                <a:solidFill>
                  <a:srgbClr val="F0F6FF"/>
                </a:solidFill>
              </a:rPr>
              <a:t>Batching</a:t>
            </a:r>
            <a:endParaRPr lang="en-US" sz="1200" dirty="0"/>
          </a:p>
        </p:txBody>
      </p:sp>
      <p:sp>
        <p:nvSpPr>
          <p:cNvPr id="19" name="Text 17"/>
          <p:cNvSpPr/>
          <p:nvPr/>
        </p:nvSpPr>
        <p:spPr>
          <a:xfrm>
            <a:off x="2468880" y="2157984"/>
            <a:ext cx="1965960" cy="658368"/>
          </a:xfrm>
          <a:prstGeom prst="rect">
            <a:avLst/>
          </a:prstGeom>
          <a:noFill/>
          <a:ln/>
        </p:spPr>
        <p:txBody>
          <a:bodyPr wrap="square" lIns="38100" tIns="38100" rIns="38100" bIns="38100" rtlCol="0" anchor="ctr"/>
          <a:lstStyle/>
          <a:p>
            <a:pPr algn="ctr" indent="0" marL="0">
              <a:buNone/>
            </a:pPr>
            <a:r>
              <a:rPr lang="en-US" sz="1050" dirty="0">
                <a:solidFill>
                  <a:srgbClr val="EF4444"/>
                </a:solidFill>
              </a:rPr>
              <a:t>❌ Static batching</a:t>
            </a:r>
            <a:endParaRPr lang="en-US" sz="1050" dirty="0"/>
          </a:p>
          <a:p>
            <a:pPr algn="ctr" indent="0" marL="0">
              <a:buNone/>
            </a:pPr>
            <a:r>
              <a:rPr lang="en-US" sz="1050" dirty="0">
                <a:solidFill>
                  <a:srgbClr val="EF4444"/>
                </a:solidFill>
              </a:rPr>
              <a:t>(kém hiệu quả)</a:t>
            </a:r>
            <a:endParaRPr lang="en-US" sz="1050" dirty="0"/>
          </a:p>
        </p:txBody>
      </p:sp>
      <p:sp>
        <p:nvSpPr>
          <p:cNvPr id="20" name="Text 18"/>
          <p:cNvSpPr/>
          <p:nvPr/>
        </p:nvSpPr>
        <p:spPr>
          <a:xfrm>
            <a:off x="4572000" y="2157984"/>
            <a:ext cx="1965960" cy="658368"/>
          </a:xfrm>
          <a:prstGeom prst="rect">
            <a:avLst/>
          </a:prstGeom>
          <a:noFill/>
          <a:ln/>
        </p:spPr>
        <p:txBody>
          <a:bodyPr wrap="square" lIns="38100" tIns="38100" rIns="38100" bIns="38100" rtlCol="0" anchor="ctr"/>
          <a:lstStyle/>
          <a:p>
            <a:pPr algn="ctr" indent="0" marL="0">
              <a:buNone/>
            </a:pPr>
            <a:r>
              <a:rPr lang="en-US" sz="1050" dirty="0">
                <a:solidFill>
                  <a:srgbClr val="94A3B8"/>
                </a:solidFill>
              </a:rPr>
              <a:t>⚠️ Single-user</a:t>
            </a:r>
            <a:endParaRPr lang="en-US" sz="1050" dirty="0"/>
          </a:p>
          <a:p>
            <a:pPr algn="ctr" indent="0" marL="0">
              <a:buNone/>
            </a:pPr>
            <a:r>
              <a:rPr lang="en-US" sz="1050" dirty="0">
                <a:solidFill>
                  <a:srgbClr val="94A3B8"/>
                </a:solidFill>
              </a:rPr>
              <a:t>optimized</a:t>
            </a:r>
            <a:endParaRPr lang="en-US" sz="1050" dirty="0"/>
          </a:p>
        </p:txBody>
      </p:sp>
      <p:sp>
        <p:nvSpPr>
          <p:cNvPr id="21" name="Text 19"/>
          <p:cNvSpPr/>
          <p:nvPr/>
        </p:nvSpPr>
        <p:spPr>
          <a:xfrm>
            <a:off x="6675120" y="2157984"/>
            <a:ext cx="1965960" cy="658368"/>
          </a:xfrm>
          <a:prstGeom prst="rect">
            <a:avLst/>
          </a:prstGeom>
          <a:noFill/>
          <a:ln/>
        </p:spPr>
        <p:txBody>
          <a:bodyPr wrap="square" lIns="38100" tIns="38100" rIns="38100" bIns="38100" rtlCol="0" anchor="ctr"/>
          <a:lstStyle/>
          <a:p>
            <a:pPr algn="ctr" indent="0" marL="0">
              <a:buNone/>
            </a:pPr>
            <a:r>
              <a:rPr lang="en-US" sz="1050" dirty="0">
                <a:solidFill>
                  <a:srgbClr val="10B981"/>
                </a:solidFill>
              </a:rPr>
              <a:t>✅ Continuous</a:t>
            </a:r>
            <a:endParaRPr lang="en-US" sz="1050" dirty="0"/>
          </a:p>
          <a:p>
            <a:pPr algn="ctr" indent="0" marL="0">
              <a:buNone/>
            </a:pPr>
            <a:r>
              <a:rPr lang="en-US" sz="1050" dirty="0">
                <a:solidFill>
                  <a:srgbClr val="10B981"/>
                </a:solidFill>
              </a:rPr>
              <a:t>Batching</a:t>
            </a:r>
            <a:endParaRPr lang="en-US" sz="1050" dirty="0"/>
          </a:p>
        </p:txBody>
      </p:sp>
      <p:sp>
        <p:nvSpPr>
          <p:cNvPr id="22" name="Shape 20"/>
          <p:cNvSpPr/>
          <p:nvPr/>
        </p:nvSpPr>
        <p:spPr>
          <a:xfrm>
            <a:off x="365760" y="2852928"/>
            <a:ext cx="8321040" cy="658368"/>
          </a:xfrm>
          <a:prstGeom prst="rect">
            <a:avLst/>
          </a:prstGeom>
          <a:solidFill>
            <a:srgbClr val="1E2F47"/>
          </a:solidFill>
          <a:ln w="12700">
            <a:solidFill>
              <a:srgbClr val="162236"/>
            </a:solidFill>
            <a:prstDash val="solid"/>
          </a:ln>
        </p:spPr>
      </p:sp>
      <p:sp>
        <p:nvSpPr>
          <p:cNvPr id="23" name="Text 21"/>
          <p:cNvSpPr/>
          <p:nvPr/>
        </p:nvSpPr>
        <p:spPr>
          <a:xfrm>
            <a:off x="411480" y="2852928"/>
            <a:ext cx="1920240" cy="658368"/>
          </a:xfrm>
          <a:prstGeom prst="rect">
            <a:avLst/>
          </a:prstGeom>
          <a:noFill/>
          <a:ln/>
        </p:spPr>
        <p:txBody>
          <a:bodyPr wrap="square" lIns="63500" tIns="63500" rIns="63500" bIns="63500" rtlCol="0" anchor="ctr"/>
          <a:lstStyle/>
          <a:p>
            <a:pPr indent="0" marL="0">
              <a:buNone/>
            </a:pPr>
            <a:r>
              <a:rPr lang="en-US" sz="1200" b="1" dirty="0">
                <a:solidFill>
                  <a:srgbClr val="F0F6FF"/>
                </a:solidFill>
              </a:rPr>
              <a:t>Throughput</a:t>
            </a:r>
            <a:endParaRPr lang="en-US" sz="1200" dirty="0"/>
          </a:p>
        </p:txBody>
      </p:sp>
      <p:sp>
        <p:nvSpPr>
          <p:cNvPr id="24" name="Text 22"/>
          <p:cNvSpPr/>
          <p:nvPr/>
        </p:nvSpPr>
        <p:spPr>
          <a:xfrm>
            <a:off x="2468880" y="2852928"/>
            <a:ext cx="1965960" cy="658368"/>
          </a:xfrm>
          <a:prstGeom prst="rect">
            <a:avLst/>
          </a:prstGeom>
          <a:noFill/>
          <a:ln/>
        </p:spPr>
        <p:txBody>
          <a:bodyPr wrap="square" lIns="38100" tIns="38100" rIns="38100" bIns="38100" rtlCol="0" anchor="ctr"/>
          <a:lstStyle/>
          <a:p>
            <a:pPr algn="ctr" indent="0" marL="0">
              <a:buNone/>
            </a:pPr>
            <a:r>
              <a:rPr lang="en-US" sz="1050" dirty="0">
                <a:solidFill>
                  <a:srgbClr val="EF4444"/>
                </a:solidFill>
              </a:rPr>
              <a:t>❌ Thấp</a:t>
            </a:r>
            <a:endParaRPr lang="en-US" sz="1050" dirty="0"/>
          </a:p>
          <a:p>
            <a:pPr algn="ctr" indent="0" marL="0">
              <a:buNone/>
            </a:pPr>
            <a:r>
              <a:rPr lang="en-US" sz="1050" dirty="0">
                <a:solidFill>
                  <a:srgbClr val="EF4444"/>
                </a:solidFill>
              </a:rPr>
              <a:t>(baseline)</a:t>
            </a:r>
            <a:endParaRPr lang="en-US" sz="1050" dirty="0"/>
          </a:p>
        </p:txBody>
      </p:sp>
      <p:sp>
        <p:nvSpPr>
          <p:cNvPr id="25" name="Text 23"/>
          <p:cNvSpPr/>
          <p:nvPr/>
        </p:nvSpPr>
        <p:spPr>
          <a:xfrm>
            <a:off x="4572000" y="2852928"/>
            <a:ext cx="1965960" cy="658368"/>
          </a:xfrm>
          <a:prstGeom prst="rect">
            <a:avLst/>
          </a:prstGeom>
          <a:noFill/>
          <a:ln/>
        </p:spPr>
        <p:txBody>
          <a:bodyPr wrap="square" lIns="38100" tIns="38100" rIns="38100" bIns="38100" rtlCol="0" anchor="ctr"/>
          <a:lstStyle/>
          <a:p>
            <a:pPr algn="ctr" indent="0" marL="0">
              <a:buNone/>
            </a:pPr>
            <a:r>
              <a:rPr lang="en-US" sz="1050" dirty="0">
                <a:solidFill>
                  <a:srgbClr val="94A3B8"/>
                </a:solidFill>
              </a:rPr>
              <a:t>⚠️ Trung bình</a:t>
            </a:r>
            <a:endParaRPr lang="en-US" sz="1050" dirty="0"/>
          </a:p>
          <a:p>
            <a:pPr algn="ctr" indent="0" marL="0">
              <a:buNone/>
            </a:pPr>
            <a:r>
              <a:rPr lang="en-US" sz="1050" dirty="0">
                <a:solidFill>
                  <a:srgbClr val="94A3B8"/>
                </a:solidFill>
              </a:rPr>
              <a:t>(offline ok)</a:t>
            </a:r>
            <a:endParaRPr lang="en-US" sz="1050" dirty="0"/>
          </a:p>
        </p:txBody>
      </p:sp>
      <p:sp>
        <p:nvSpPr>
          <p:cNvPr id="26" name="Text 24"/>
          <p:cNvSpPr/>
          <p:nvPr/>
        </p:nvSpPr>
        <p:spPr>
          <a:xfrm>
            <a:off x="6675120" y="2852928"/>
            <a:ext cx="1965960" cy="658368"/>
          </a:xfrm>
          <a:prstGeom prst="rect">
            <a:avLst/>
          </a:prstGeom>
          <a:noFill/>
          <a:ln/>
        </p:spPr>
        <p:txBody>
          <a:bodyPr wrap="square" lIns="38100" tIns="38100" rIns="38100" bIns="38100" rtlCol="0" anchor="ctr"/>
          <a:lstStyle/>
          <a:p>
            <a:pPr algn="ctr" indent="0" marL="0">
              <a:buNone/>
            </a:pPr>
            <a:r>
              <a:rPr lang="en-US" sz="1050" dirty="0">
                <a:solidFill>
                  <a:srgbClr val="10B981"/>
                </a:solidFill>
              </a:rPr>
              <a:t>✅ Cao nhất</a:t>
            </a:r>
            <a:endParaRPr lang="en-US" sz="1050" dirty="0"/>
          </a:p>
          <a:p>
            <a:pPr algn="ctr" indent="0" marL="0">
              <a:buNone/>
            </a:pPr>
            <a:r>
              <a:rPr lang="en-US" sz="1050" dirty="0">
                <a:solidFill>
                  <a:srgbClr val="10B981"/>
                </a:solidFill>
              </a:rPr>
              <a:t>(2-10× HF)</a:t>
            </a:r>
            <a:endParaRPr lang="en-US" sz="1050" dirty="0"/>
          </a:p>
        </p:txBody>
      </p:sp>
      <p:sp>
        <p:nvSpPr>
          <p:cNvPr id="27" name="Shape 25"/>
          <p:cNvSpPr/>
          <p:nvPr/>
        </p:nvSpPr>
        <p:spPr>
          <a:xfrm>
            <a:off x="365760" y="3547872"/>
            <a:ext cx="8321040" cy="658368"/>
          </a:xfrm>
          <a:prstGeom prst="rect">
            <a:avLst/>
          </a:prstGeom>
          <a:solidFill>
            <a:srgbClr val="162236"/>
          </a:solidFill>
          <a:ln w="12700">
            <a:solidFill>
              <a:srgbClr val="162236"/>
            </a:solidFill>
            <a:prstDash val="solid"/>
          </a:ln>
        </p:spPr>
      </p:sp>
      <p:sp>
        <p:nvSpPr>
          <p:cNvPr id="28" name="Text 26"/>
          <p:cNvSpPr/>
          <p:nvPr/>
        </p:nvSpPr>
        <p:spPr>
          <a:xfrm>
            <a:off x="411480" y="3547872"/>
            <a:ext cx="1920240" cy="658368"/>
          </a:xfrm>
          <a:prstGeom prst="rect">
            <a:avLst/>
          </a:prstGeom>
          <a:noFill/>
          <a:ln/>
        </p:spPr>
        <p:txBody>
          <a:bodyPr wrap="square" lIns="63500" tIns="63500" rIns="63500" bIns="63500" rtlCol="0" anchor="ctr"/>
          <a:lstStyle/>
          <a:p>
            <a:pPr indent="0" marL="0">
              <a:buNone/>
            </a:pPr>
            <a:r>
              <a:rPr lang="en-US" sz="1200" b="1" dirty="0">
                <a:solidFill>
                  <a:srgbClr val="F0F6FF"/>
                </a:solidFill>
              </a:rPr>
              <a:t>Multi-GPU</a:t>
            </a:r>
            <a:endParaRPr lang="en-US" sz="1200" dirty="0"/>
          </a:p>
        </p:txBody>
      </p:sp>
      <p:sp>
        <p:nvSpPr>
          <p:cNvPr id="29" name="Text 27"/>
          <p:cNvSpPr/>
          <p:nvPr/>
        </p:nvSpPr>
        <p:spPr>
          <a:xfrm>
            <a:off x="2468880" y="3547872"/>
            <a:ext cx="1965960" cy="658368"/>
          </a:xfrm>
          <a:prstGeom prst="rect">
            <a:avLst/>
          </a:prstGeom>
          <a:noFill/>
          <a:ln/>
        </p:spPr>
        <p:txBody>
          <a:bodyPr wrap="square" lIns="38100" tIns="38100" rIns="38100" bIns="38100" rtlCol="0" anchor="ctr"/>
          <a:lstStyle/>
          <a:p>
            <a:pPr algn="ctr" indent="0" marL="0">
              <a:buNone/>
            </a:pPr>
            <a:r>
              <a:rPr lang="en-US" sz="1050" dirty="0">
                <a:solidFill>
                  <a:srgbClr val="EF4444"/>
                </a:solidFill>
              </a:rPr>
              <a:t>⚠️ Có nhưng phức tạp</a:t>
            </a:r>
            <a:endParaRPr lang="en-US" sz="1050" dirty="0"/>
          </a:p>
        </p:txBody>
      </p:sp>
      <p:sp>
        <p:nvSpPr>
          <p:cNvPr id="30" name="Text 28"/>
          <p:cNvSpPr/>
          <p:nvPr/>
        </p:nvSpPr>
        <p:spPr>
          <a:xfrm>
            <a:off x="4572000" y="3547872"/>
            <a:ext cx="1965960" cy="658368"/>
          </a:xfrm>
          <a:prstGeom prst="rect">
            <a:avLst/>
          </a:prstGeom>
          <a:noFill/>
          <a:ln/>
        </p:spPr>
        <p:txBody>
          <a:bodyPr wrap="square" lIns="38100" tIns="38100" rIns="38100" bIns="38100" rtlCol="0" anchor="ctr"/>
          <a:lstStyle/>
          <a:p>
            <a:pPr algn="ctr" indent="0" marL="0">
              <a:buNone/>
            </a:pPr>
            <a:r>
              <a:rPr lang="en-US" sz="1050" dirty="0">
                <a:solidFill>
                  <a:srgbClr val="94A3B8"/>
                </a:solidFill>
              </a:rPr>
              <a:t>❌ Không</a:t>
            </a:r>
            <a:endParaRPr lang="en-US" sz="1050" dirty="0"/>
          </a:p>
          <a:p>
            <a:pPr algn="ctr" indent="0" marL="0">
              <a:buNone/>
            </a:pPr>
            <a:r>
              <a:rPr lang="en-US" sz="1050" dirty="0">
                <a:solidFill>
                  <a:srgbClr val="94A3B8"/>
                </a:solidFill>
              </a:rPr>
              <a:t>(single GPU)</a:t>
            </a:r>
            <a:endParaRPr lang="en-US" sz="1050" dirty="0"/>
          </a:p>
        </p:txBody>
      </p:sp>
      <p:sp>
        <p:nvSpPr>
          <p:cNvPr id="31" name="Text 29"/>
          <p:cNvSpPr/>
          <p:nvPr/>
        </p:nvSpPr>
        <p:spPr>
          <a:xfrm>
            <a:off x="6675120" y="3547872"/>
            <a:ext cx="1965960" cy="658368"/>
          </a:xfrm>
          <a:prstGeom prst="rect">
            <a:avLst/>
          </a:prstGeom>
          <a:noFill/>
          <a:ln/>
        </p:spPr>
        <p:txBody>
          <a:bodyPr wrap="square" lIns="38100" tIns="38100" rIns="38100" bIns="38100" rtlCol="0" anchor="ctr"/>
          <a:lstStyle/>
          <a:p>
            <a:pPr algn="ctr" indent="0" marL="0">
              <a:buNone/>
            </a:pPr>
            <a:r>
              <a:rPr lang="en-US" sz="1050" dirty="0">
                <a:solidFill>
                  <a:srgbClr val="10B981"/>
                </a:solidFill>
              </a:rPr>
              <a:t>✅ Tensor + Pipeline</a:t>
            </a:r>
            <a:endParaRPr lang="en-US" sz="1050" dirty="0"/>
          </a:p>
          <a:p>
            <a:pPr algn="ctr" indent="0" marL="0">
              <a:buNone/>
            </a:pPr>
            <a:r>
              <a:rPr lang="en-US" sz="1050" dirty="0">
                <a:solidFill>
                  <a:srgbClr val="10B981"/>
                </a:solidFill>
              </a:rPr>
              <a:t>Parallelism</a:t>
            </a:r>
            <a:endParaRPr lang="en-US" sz="1050" dirty="0"/>
          </a:p>
        </p:txBody>
      </p:sp>
      <p:sp>
        <p:nvSpPr>
          <p:cNvPr id="32" name="Shape 30"/>
          <p:cNvSpPr/>
          <p:nvPr/>
        </p:nvSpPr>
        <p:spPr>
          <a:xfrm>
            <a:off x="365760" y="4242816"/>
            <a:ext cx="8321040" cy="658368"/>
          </a:xfrm>
          <a:prstGeom prst="rect">
            <a:avLst/>
          </a:prstGeom>
          <a:solidFill>
            <a:srgbClr val="1E2F47"/>
          </a:solidFill>
          <a:ln w="12700">
            <a:solidFill>
              <a:srgbClr val="162236"/>
            </a:solidFill>
            <a:prstDash val="solid"/>
          </a:ln>
        </p:spPr>
      </p:sp>
      <p:sp>
        <p:nvSpPr>
          <p:cNvPr id="33" name="Text 31"/>
          <p:cNvSpPr/>
          <p:nvPr/>
        </p:nvSpPr>
        <p:spPr>
          <a:xfrm>
            <a:off x="411480" y="4242816"/>
            <a:ext cx="1920240" cy="658368"/>
          </a:xfrm>
          <a:prstGeom prst="rect">
            <a:avLst/>
          </a:prstGeom>
          <a:noFill/>
          <a:ln/>
        </p:spPr>
        <p:txBody>
          <a:bodyPr wrap="square" lIns="63500" tIns="63500" rIns="63500" bIns="63500" rtlCol="0" anchor="ctr"/>
          <a:lstStyle/>
          <a:p>
            <a:pPr indent="0" marL="0">
              <a:buNone/>
            </a:pPr>
            <a:r>
              <a:rPr lang="en-US" sz="1200" b="1" dirty="0">
                <a:solidFill>
                  <a:srgbClr val="F0F6FF"/>
                </a:solidFill>
              </a:rPr>
              <a:t>Ứng dụng phù hợp</a:t>
            </a:r>
            <a:endParaRPr lang="en-US" sz="1200" dirty="0"/>
          </a:p>
        </p:txBody>
      </p:sp>
      <p:sp>
        <p:nvSpPr>
          <p:cNvPr id="34" name="Text 32"/>
          <p:cNvSpPr/>
          <p:nvPr/>
        </p:nvSpPr>
        <p:spPr>
          <a:xfrm>
            <a:off x="2468880" y="4242816"/>
            <a:ext cx="1965960" cy="658368"/>
          </a:xfrm>
          <a:prstGeom prst="rect">
            <a:avLst/>
          </a:prstGeom>
          <a:noFill/>
          <a:ln/>
        </p:spPr>
        <p:txBody>
          <a:bodyPr wrap="square" lIns="38100" tIns="38100" rIns="38100" bIns="38100" rtlCol="0" anchor="ctr"/>
          <a:lstStyle/>
          <a:p>
            <a:pPr algn="ctr" indent="0" marL="0">
              <a:buNone/>
            </a:pPr>
            <a:r>
              <a:rPr lang="en-US" sz="1050" dirty="0">
                <a:solidFill>
                  <a:srgbClr val="F0F6FF"/>
                </a:solidFill>
              </a:rPr>
              <a:t>🔬 Nghiên cứu</a:t>
            </a:r>
            <a:endParaRPr lang="en-US" sz="1050" dirty="0"/>
          </a:p>
          <a:p>
            <a:pPr algn="ctr" indent="0" marL="0">
              <a:buNone/>
            </a:pPr>
            <a:r>
              <a:rPr lang="en-US" sz="1050" dirty="0">
                <a:solidFill>
                  <a:srgbClr val="F0F6FF"/>
                </a:solidFill>
              </a:rPr>
              <a:t>&amp; Thử nghiệm</a:t>
            </a:r>
            <a:endParaRPr lang="en-US" sz="1050" dirty="0"/>
          </a:p>
        </p:txBody>
      </p:sp>
      <p:sp>
        <p:nvSpPr>
          <p:cNvPr id="35" name="Text 33"/>
          <p:cNvSpPr/>
          <p:nvPr/>
        </p:nvSpPr>
        <p:spPr>
          <a:xfrm>
            <a:off x="4572000" y="4242816"/>
            <a:ext cx="1965960" cy="658368"/>
          </a:xfrm>
          <a:prstGeom prst="rect">
            <a:avLst/>
          </a:prstGeom>
          <a:noFill/>
          <a:ln/>
        </p:spPr>
        <p:txBody>
          <a:bodyPr wrap="square" lIns="38100" tIns="38100" rIns="38100" bIns="38100" rtlCol="0" anchor="ctr"/>
          <a:lstStyle/>
          <a:p>
            <a:pPr algn="ctr" indent="0" marL="0">
              <a:buNone/>
            </a:pPr>
            <a:r>
              <a:rPr lang="en-US" sz="1050" dirty="0">
                <a:solidFill>
                  <a:srgbClr val="F0F6FF"/>
                </a:solidFill>
              </a:rPr>
              <a:t>💻 Dev local</a:t>
            </a:r>
            <a:endParaRPr lang="en-US" sz="1050" dirty="0"/>
          </a:p>
          <a:p>
            <a:pPr algn="ctr" indent="0" marL="0">
              <a:buNone/>
            </a:pPr>
            <a:r>
              <a:rPr lang="en-US" sz="1050" dirty="0">
                <a:solidFill>
                  <a:srgbClr val="F0F6FF"/>
                </a:solidFill>
              </a:rPr>
              <a:t>Prototyping</a:t>
            </a:r>
            <a:endParaRPr lang="en-US" sz="1050" dirty="0"/>
          </a:p>
        </p:txBody>
      </p:sp>
      <p:sp>
        <p:nvSpPr>
          <p:cNvPr id="36" name="Text 34"/>
          <p:cNvSpPr/>
          <p:nvPr/>
        </p:nvSpPr>
        <p:spPr>
          <a:xfrm>
            <a:off x="6675120" y="4242816"/>
            <a:ext cx="1965960" cy="658368"/>
          </a:xfrm>
          <a:prstGeom prst="rect">
            <a:avLst/>
          </a:prstGeom>
          <a:noFill/>
          <a:ln/>
        </p:spPr>
        <p:txBody>
          <a:bodyPr wrap="square" lIns="38100" tIns="38100" rIns="38100" bIns="38100" rtlCol="0" anchor="ctr"/>
          <a:lstStyle/>
          <a:p>
            <a:pPr algn="ctr" indent="0" marL="0">
              <a:buNone/>
            </a:pPr>
            <a:r>
              <a:rPr lang="en-US" sz="1050" dirty="0">
                <a:solidFill>
                  <a:srgbClr val="F0F6FF"/>
                </a:solidFill>
              </a:rPr>
              <a:t>🏭 Production</a:t>
            </a:r>
            <a:endParaRPr lang="en-US" sz="1050" dirty="0"/>
          </a:p>
          <a:p>
            <a:pPr algn="ctr" indent="0" marL="0">
              <a:buNone/>
            </a:pPr>
            <a:r>
              <a:rPr lang="en-US" sz="1050" dirty="0">
                <a:solidFill>
                  <a:srgbClr val="F0F6FF"/>
                </a:solidFill>
              </a:rPr>
              <a:t>High concurrency</a:t>
            </a:r>
            <a:endParaRPr lang="en-US" sz="1050" dirty="0"/>
          </a:p>
        </p:txBody>
      </p:sp>
      <p:sp>
        <p:nvSpPr>
          <p:cNvPr id="37" name="Shape 35"/>
          <p:cNvSpPr/>
          <p:nvPr/>
        </p:nvSpPr>
        <p:spPr>
          <a:xfrm>
            <a:off x="365760" y="4983480"/>
            <a:ext cx="8412480" cy="0"/>
          </a:xfrm>
          <a:prstGeom prst="rect">
            <a:avLst/>
          </a:prstGeom>
          <a:solidFill>
            <a:srgbClr val="1E2F47"/>
          </a:solidFill>
          <a:ln w="12700">
            <a:solidFill>
              <a:srgbClr val="1E2F47"/>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w="12700">
            <a:solidFill>
              <a:srgbClr val="10B981"/>
            </a:solidFill>
            <a:prstDash val="solid"/>
          </a:ln>
        </p:spPr>
      </p:sp>
      <p:sp>
        <p:nvSpPr>
          <p:cNvPr id="3" name="Text 1"/>
          <p:cNvSpPr/>
          <p:nvPr/>
        </p:nvSpPr>
        <p:spPr>
          <a:xfrm>
            <a:off x="365760" y="137160"/>
            <a:ext cx="8412480" cy="548640"/>
          </a:xfrm>
          <a:prstGeom prst="rect">
            <a:avLst/>
          </a:prstGeom>
          <a:noFill/>
          <a:ln/>
        </p:spPr>
        <p:txBody>
          <a:bodyPr wrap="square" lIns="0" tIns="0" rIns="0" bIns="0" rtlCol="0" anchor="ctr"/>
          <a:lstStyle/>
          <a:p>
            <a:pPr indent="0" marL="0">
              <a:buNone/>
            </a:pPr>
            <a:r>
              <a:rPr lang="en-US" sz="2400" b="1" dirty="0">
                <a:solidFill>
                  <a:srgbClr val="F0F6FF"/>
                </a:solidFill>
                <a:latin typeface="Calibri" pitchFamily="34" charset="0"/>
                <a:ea typeface="Calibri" pitchFamily="34" charset="-122"/>
                <a:cs typeface="Calibri" pitchFamily="34" charset="-120"/>
              </a:rPr>
              <a:t>✂️  Chunked Prefill — Giảm Độ Trễ Cho Prompt Dài</a:t>
            </a:r>
            <a:endParaRPr lang="en-US" sz="2400" dirty="0"/>
          </a:p>
        </p:txBody>
      </p:sp>
      <p:sp>
        <p:nvSpPr>
          <p:cNvPr id="4" name="Shape 2"/>
          <p:cNvSpPr/>
          <p:nvPr/>
        </p:nvSpPr>
        <p:spPr>
          <a:xfrm>
            <a:off x="365760" y="822960"/>
            <a:ext cx="8412480" cy="685800"/>
          </a:xfrm>
          <a:prstGeom prst="rect">
            <a:avLst/>
          </a:prstGeom>
          <a:solidFill>
            <a:srgbClr val="1A0000"/>
          </a:solidFill>
          <a:ln w="12700">
            <a:solidFill>
              <a:srgbClr val="EF4444"/>
            </a:solidFill>
            <a:prstDash val="solid"/>
          </a:ln>
          <a:effectLst>
            <a:outerShdw sx="100000" sy="100000" kx="0" ky="0" algn="bl" rotWithShape="0" blurRad="101600" dist="38100" dir="8100000">
              <a:srgbClr val="000000">
                <a:alpha val="25000"/>
              </a:srgbClr>
            </a:outerShdw>
          </a:effectLst>
        </p:spPr>
      </p:sp>
      <p:sp>
        <p:nvSpPr>
          <p:cNvPr id="5" name="Text 3"/>
          <p:cNvSpPr/>
          <p:nvPr/>
        </p:nvSpPr>
        <p:spPr>
          <a:xfrm>
            <a:off x="502920" y="859536"/>
            <a:ext cx="1188720" cy="320040"/>
          </a:xfrm>
          <a:prstGeom prst="rect">
            <a:avLst/>
          </a:prstGeom>
          <a:noFill/>
          <a:ln/>
        </p:spPr>
        <p:txBody>
          <a:bodyPr wrap="square" lIns="0" tIns="0" rIns="0" bIns="0" rtlCol="0" anchor="ctr"/>
          <a:lstStyle/>
          <a:p>
            <a:pPr indent="0" marL="0">
              <a:buNone/>
            </a:pPr>
            <a:r>
              <a:rPr lang="en-US" sz="1300" b="1" dirty="0">
                <a:solidFill>
                  <a:srgbClr val="EF4444"/>
                </a:solidFill>
              </a:rPr>
              <a:t>❌  Vấn đề:</a:t>
            </a:r>
            <a:endParaRPr lang="en-US" sz="1300" dirty="0"/>
          </a:p>
        </p:txBody>
      </p:sp>
      <p:sp>
        <p:nvSpPr>
          <p:cNvPr id="6" name="Text 4"/>
          <p:cNvSpPr/>
          <p:nvPr/>
        </p:nvSpPr>
        <p:spPr>
          <a:xfrm>
            <a:off x="1554480" y="859536"/>
            <a:ext cx="7040880" cy="594360"/>
          </a:xfrm>
          <a:prstGeom prst="rect">
            <a:avLst/>
          </a:prstGeom>
          <a:noFill/>
          <a:ln/>
        </p:spPr>
        <p:txBody>
          <a:bodyPr wrap="square" lIns="0" tIns="0" rIns="0" bIns="0" rtlCol="0" anchor="ctr"/>
          <a:lstStyle/>
          <a:p>
            <a:pPr indent="0" marL="0">
              <a:buNone/>
            </a:pPr>
            <a:r>
              <a:rPr lang="en-US" sz="1200" dirty="0">
                <a:solidFill>
                  <a:srgbClr val="F0F6FF"/>
                </a:solidFill>
              </a:rPr>
              <a:t>Một prompt dài 32K token sẽ chiếm toàn bộ tài nguyên GPU trong suốt giai đoạn prefill (tính KV Cache ban đầu) → mọi request khác phải chờ → TTFT tăng vọt → trải nghiệm xấu.</a:t>
            </a:r>
            <a:endParaRPr lang="en-US" sz="1200" dirty="0"/>
          </a:p>
        </p:txBody>
      </p:sp>
      <p:sp>
        <p:nvSpPr>
          <p:cNvPr id="7" name="Text 5"/>
          <p:cNvSpPr/>
          <p:nvPr/>
        </p:nvSpPr>
        <p:spPr>
          <a:xfrm>
            <a:off x="365760" y="1691640"/>
            <a:ext cx="4114800" cy="320040"/>
          </a:xfrm>
          <a:prstGeom prst="rect">
            <a:avLst/>
          </a:prstGeom>
          <a:noFill/>
          <a:ln/>
        </p:spPr>
        <p:txBody>
          <a:bodyPr wrap="square" lIns="0" tIns="0" rIns="0" bIns="0" rtlCol="0" anchor="ctr"/>
          <a:lstStyle/>
          <a:p>
            <a:pPr indent="0" marL="0">
              <a:buNone/>
            </a:pPr>
            <a:r>
              <a:rPr lang="en-US" sz="1200" b="1" dirty="0">
                <a:solidFill>
                  <a:srgbClr val="EF4444"/>
                </a:solidFill>
              </a:rPr>
              <a:t>KHÔNG có Chunked Prefill:</a:t>
            </a:r>
            <a:endParaRPr lang="en-US" sz="1200" dirty="0"/>
          </a:p>
        </p:txBody>
      </p:sp>
      <p:sp>
        <p:nvSpPr>
          <p:cNvPr id="8" name="Shape 6"/>
          <p:cNvSpPr/>
          <p:nvPr/>
        </p:nvSpPr>
        <p:spPr>
          <a:xfrm>
            <a:off x="365760" y="2057400"/>
            <a:ext cx="5029200" cy="457200"/>
          </a:xfrm>
          <a:prstGeom prst="rect">
            <a:avLst/>
          </a:prstGeom>
          <a:solidFill>
            <a:srgbClr val="EF4444"/>
          </a:solidFill>
          <a:ln w="12700">
            <a:solidFill>
              <a:srgbClr val="EF4444"/>
            </a:solidFill>
            <a:prstDash val="solid"/>
          </a:ln>
        </p:spPr>
      </p:sp>
      <p:sp>
        <p:nvSpPr>
          <p:cNvPr id="9" name="Text 7"/>
          <p:cNvSpPr/>
          <p:nvPr/>
        </p:nvSpPr>
        <p:spPr>
          <a:xfrm>
            <a:off x="365760" y="2057400"/>
            <a:ext cx="5029200" cy="457200"/>
          </a:xfrm>
          <a:prstGeom prst="rect">
            <a:avLst/>
          </a:prstGeom>
          <a:noFill/>
          <a:ln/>
        </p:spPr>
        <p:txBody>
          <a:bodyPr wrap="square" lIns="0" tIns="0" rIns="0" bIns="0" rtlCol="0" anchor="ctr"/>
          <a:lstStyle/>
          <a:p>
            <a:pPr algn="ctr" indent="0" marL="0">
              <a:buNone/>
            </a:pPr>
            <a:r>
              <a:rPr lang="en-US" sz="1100" b="1" dirty="0">
                <a:solidFill>
                  <a:srgbClr val="FFFFFF"/>
                </a:solidFill>
              </a:rPr>
              <a:t>PREFILL (Prompt 32K) — Chiếm trọn GPU</a:t>
            </a:r>
            <a:endParaRPr lang="en-US" sz="1100" dirty="0"/>
          </a:p>
        </p:txBody>
      </p:sp>
      <p:sp>
        <p:nvSpPr>
          <p:cNvPr id="10" name="Shape 8"/>
          <p:cNvSpPr/>
          <p:nvPr/>
        </p:nvSpPr>
        <p:spPr>
          <a:xfrm>
            <a:off x="5440680" y="2057400"/>
            <a:ext cx="3337560" cy="457200"/>
          </a:xfrm>
          <a:prstGeom prst="rect">
            <a:avLst/>
          </a:prstGeom>
          <a:solidFill>
            <a:srgbClr val="3A3A3A"/>
          </a:solidFill>
          <a:ln w="12700">
            <a:solidFill>
              <a:srgbClr val="5A5A5A"/>
            </a:solidFill>
            <a:prstDash val="solid"/>
          </a:ln>
        </p:spPr>
      </p:sp>
      <p:sp>
        <p:nvSpPr>
          <p:cNvPr id="11" name="Text 9"/>
          <p:cNvSpPr/>
          <p:nvPr/>
        </p:nvSpPr>
        <p:spPr>
          <a:xfrm>
            <a:off x="5440680" y="2057400"/>
            <a:ext cx="3337560" cy="457200"/>
          </a:xfrm>
          <a:prstGeom prst="rect">
            <a:avLst/>
          </a:prstGeom>
          <a:noFill/>
          <a:ln/>
        </p:spPr>
        <p:txBody>
          <a:bodyPr wrap="square" lIns="0" tIns="0" rIns="0" bIns="0" rtlCol="0" anchor="ctr"/>
          <a:lstStyle/>
          <a:p>
            <a:pPr algn="ctr" indent="0" marL="0">
              <a:buNone/>
            </a:pPr>
            <a:r>
              <a:rPr lang="en-US" sz="1100" dirty="0">
                <a:solidFill>
                  <a:srgbClr val="94A3B8"/>
                </a:solidFill>
              </a:rPr>
              <a:t>Req B, C, D phải chờ... 😤</a:t>
            </a:r>
            <a:endParaRPr lang="en-US" sz="1100" dirty="0"/>
          </a:p>
        </p:txBody>
      </p:sp>
      <p:sp>
        <p:nvSpPr>
          <p:cNvPr id="12" name="Text 10"/>
          <p:cNvSpPr/>
          <p:nvPr/>
        </p:nvSpPr>
        <p:spPr>
          <a:xfrm>
            <a:off x="365760" y="2743200"/>
            <a:ext cx="4114800" cy="320040"/>
          </a:xfrm>
          <a:prstGeom prst="rect">
            <a:avLst/>
          </a:prstGeom>
          <a:noFill/>
          <a:ln/>
        </p:spPr>
        <p:txBody>
          <a:bodyPr wrap="square" lIns="0" tIns="0" rIns="0" bIns="0" rtlCol="0" anchor="ctr"/>
          <a:lstStyle/>
          <a:p>
            <a:pPr indent="0" marL="0">
              <a:buNone/>
            </a:pPr>
            <a:r>
              <a:rPr lang="en-US" sz="1200" b="1" dirty="0">
                <a:solidFill>
                  <a:srgbClr val="10B981"/>
                </a:solidFill>
              </a:rPr>
              <a:t>CÓ Chunked Prefill:</a:t>
            </a:r>
            <a:endParaRPr lang="en-US" sz="1200" dirty="0"/>
          </a:p>
        </p:txBody>
      </p:sp>
      <p:sp>
        <p:nvSpPr>
          <p:cNvPr id="13" name="Shape 11"/>
          <p:cNvSpPr/>
          <p:nvPr/>
        </p:nvSpPr>
        <p:spPr>
          <a:xfrm>
            <a:off x="365760" y="3108960"/>
            <a:ext cx="1097280" cy="457200"/>
          </a:xfrm>
          <a:prstGeom prst="rect">
            <a:avLst/>
          </a:prstGeom>
          <a:solidFill>
            <a:srgbClr val="EF4444"/>
          </a:solidFill>
          <a:ln w="12700">
            <a:solidFill>
              <a:srgbClr val="0F1B2D"/>
            </a:solidFill>
            <a:prstDash val="solid"/>
          </a:ln>
        </p:spPr>
      </p:sp>
      <p:sp>
        <p:nvSpPr>
          <p:cNvPr id="14" name="Text 12"/>
          <p:cNvSpPr/>
          <p:nvPr/>
        </p:nvSpPr>
        <p:spPr>
          <a:xfrm>
            <a:off x="365760" y="3108960"/>
            <a:ext cx="1097280" cy="457200"/>
          </a:xfrm>
          <a:prstGeom prst="rect">
            <a:avLst/>
          </a:prstGeom>
          <a:noFill/>
          <a:ln/>
        </p:spPr>
        <p:txBody>
          <a:bodyPr wrap="square" lIns="0" tIns="0" rIns="0" bIns="0" rtlCol="0" anchor="ctr"/>
          <a:lstStyle/>
          <a:p>
            <a:pPr algn="ctr" indent="0" marL="0">
              <a:buNone/>
            </a:pPr>
            <a:r>
              <a:rPr lang="en-US" sz="900" b="1" dirty="0">
                <a:solidFill>
                  <a:srgbClr val="FFFFFF"/>
                </a:solidFill>
              </a:rPr>
              <a:t>P.chunk 1</a:t>
            </a:r>
            <a:endParaRPr lang="en-US" sz="900" dirty="0"/>
          </a:p>
        </p:txBody>
      </p:sp>
      <p:sp>
        <p:nvSpPr>
          <p:cNvPr id="15" name="Shape 13"/>
          <p:cNvSpPr/>
          <p:nvPr/>
        </p:nvSpPr>
        <p:spPr>
          <a:xfrm>
            <a:off x="1508760" y="3108960"/>
            <a:ext cx="822960" cy="457200"/>
          </a:xfrm>
          <a:prstGeom prst="rect">
            <a:avLst/>
          </a:prstGeom>
          <a:solidFill>
            <a:srgbClr val="7C3AED"/>
          </a:solidFill>
          <a:ln w="12700">
            <a:solidFill>
              <a:srgbClr val="0F1B2D"/>
            </a:solidFill>
            <a:prstDash val="solid"/>
          </a:ln>
        </p:spPr>
      </p:sp>
      <p:sp>
        <p:nvSpPr>
          <p:cNvPr id="16" name="Text 14"/>
          <p:cNvSpPr/>
          <p:nvPr/>
        </p:nvSpPr>
        <p:spPr>
          <a:xfrm>
            <a:off x="1508760" y="3108960"/>
            <a:ext cx="822960" cy="457200"/>
          </a:xfrm>
          <a:prstGeom prst="rect">
            <a:avLst/>
          </a:prstGeom>
          <a:noFill/>
          <a:ln/>
        </p:spPr>
        <p:txBody>
          <a:bodyPr wrap="square" lIns="0" tIns="0" rIns="0" bIns="0" rtlCol="0" anchor="ctr"/>
          <a:lstStyle/>
          <a:p>
            <a:pPr algn="ctr" indent="0" marL="0">
              <a:buNone/>
            </a:pPr>
            <a:r>
              <a:rPr lang="en-US" sz="900" b="1" dirty="0">
                <a:solidFill>
                  <a:srgbClr val="FFFFFF"/>
                </a:solidFill>
              </a:rPr>
              <a:t>Gen B</a:t>
            </a:r>
            <a:endParaRPr lang="en-US" sz="900" dirty="0"/>
          </a:p>
        </p:txBody>
      </p:sp>
      <p:sp>
        <p:nvSpPr>
          <p:cNvPr id="17" name="Shape 15"/>
          <p:cNvSpPr/>
          <p:nvPr/>
        </p:nvSpPr>
        <p:spPr>
          <a:xfrm>
            <a:off x="2377440" y="3108960"/>
            <a:ext cx="1097280" cy="457200"/>
          </a:xfrm>
          <a:prstGeom prst="rect">
            <a:avLst/>
          </a:prstGeom>
          <a:solidFill>
            <a:srgbClr val="EF4444"/>
          </a:solidFill>
          <a:ln w="12700">
            <a:solidFill>
              <a:srgbClr val="0F1B2D"/>
            </a:solidFill>
            <a:prstDash val="solid"/>
          </a:ln>
        </p:spPr>
      </p:sp>
      <p:sp>
        <p:nvSpPr>
          <p:cNvPr id="18" name="Text 16"/>
          <p:cNvSpPr/>
          <p:nvPr/>
        </p:nvSpPr>
        <p:spPr>
          <a:xfrm>
            <a:off x="2377440" y="3108960"/>
            <a:ext cx="1097280" cy="457200"/>
          </a:xfrm>
          <a:prstGeom prst="rect">
            <a:avLst/>
          </a:prstGeom>
          <a:noFill/>
          <a:ln/>
        </p:spPr>
        <p:txBody>
          <a:bodyPr wrap="square" lIns="0" tIns="0" rIns="0" bIns="0" rtlCol="0" anchor="ctr"/>
          <a:lstStyle/>
          <a:p>
            <a:pPr algn="ctr" indent="0" marL="0">
              <a:buNone/>
            </a:pPr>
            <a:r>
              <a:rPr lang="en-US" sz="900" b="1" dirty="0">
                <a:solidFill>
                  <a:srgbClr val="FFFFFF"/>
                </a:solidFill>
              </a:rPr>
              <a:t>P.chunk 2</a:t>
            </a:r>
            <a:endParaRPr lang="en-US" sz="900" dirty="0"/>
          </a:p>
        </p:txBody>
      </p:sp>
      <p:sp>
        <p:nvSpPr>
          <p:cNvPr id="19" name="Shape 17"/>
          <p:cNvSpPr/>
          <p:nvPr/>
        </p:nvSpPr>
        <p:spPr>
          <a:xfrm>
            <a:off x="3520440" y="3108960"/>
            <a:ext cx="822960" cy="457200"/>
          </a:xfrm>
          <a:prstGeom prst="rect">
            <a:avLst/>
          </a:prstGeom>
          <a:solidFill>
            <a:srgbClr val="10B981"/>
          </a:solidFill>
          <a:ln w="12700">
            <a:solidFill>
              <a:srgbClr val="0F1B2D"/>
            </a:solidFill>
            <a:prstDash val="solid"/>
          </a:ln>
        </p:spPr>
      </p:sp>
      <p:sp>
        <p:nvSpPr>
          <p:cNvPr id="20" name="Text 18"/>
          <p:cNvSpPr/>
          <p:nvPr/>
        </p:nvSpPr>
        <p:spPr>
          <a:xfrm>
            <a:off x="3520440" y="3108960"/>
            <a:ext cx="822960" cy="457200"/>
          </a:xfrm>
          <a:prstGeom prst="rect">
            <a:avLst/>
          </a:prstGeom>
          <a:noFill/>
          <a:ln/>
        </p:spPr>
        <p:txBody>
          <a:bodyPr wrap="square" lIns="0" tIns="0" rIns="0" bIns="0" rtlCol="0" anchor="ctr"/>
          <a:lstStyle/>
          <a:p>
            <a:pPr algn="ctr" indent="0" marL="0">
              <a:buNone/>
            </a:pPr>
            <a:r>
              <a:rPr lang="en-US" sz="900" b="1" dirty="0">
                <a:solidFill>
                  <a:srgbClr val="FFFFFF"/>
                </a:solidFill>
              </a:rPr>
              <a:t>Gen C</a:t>
            </a:r>
            <a:endParaRPr lang="en-US" sz="900" dirty="0"/>
          </a:p>
        </p:txBody>
      </p:sp>
      <p:sp>
        <p:nvSpPr>
          <p:cNvPr id="21" name="Shape 19"/>
          <p:cNvSpPr/>
          <p:nvPr/>
        </p:nvSpPr>
        <p:spPr>
          <a:xfrm>
            <a:off x="4389120" y="3108960"/>
            <a:ext cx="1097280" cy="457200"/>
          </a:xfrm>
          <a:prstGeom prst="rect">
            <a:avLst/>
          </a:prstGeom>
          <a:solidFill>
            <a:srgbClr val="EF4444"/>
          </a:solidFill>
          <a:ln w="12700">
            <a:solidFill>
              <a:srgbClr val="0F1B2D"/>
            </a:solidFill>
            <a:prstDash val="solid"/>
          </a:ln>
        </p:spPr>
      </p:sp>
      <p:sp>
        <p:nvSpPr>
          <p:cNvPr id="22" name="Text 20"/>
          <p:cNvSpPr/>
          <p:nvPr/>
        </p:nvSpPr>
        <p:spPr>
          <a:xfrm>
            <a:off x="4389120" y="3108960"/>
            <a:ext cx="1097280" cy="457200"/>
          </a:xfrm>
          <a:prstGeom prst="rect">
            <a:avLst/>
          </a:prstGeom>
          <a:noFill/>
          <a:ln/>
        </p:spPr>
        <p:txBody>
          <a:bodyPr wrap="square" lIns="0" tIns="0" rIns="0" bIns="0" rtlCol="0" anchor="ctr"/>
          <a:lstStyle/>
          <a:p>
            <a:pPr algn="ctr" indent="0" marL="0">
              <a:buNone/>
            </a:pPr>
            <a:r>
              <a:rPr lang="en-US" sz="900" b="1" dirty="0">
                <a:solidFill>
                  <a:srgbClr val="FFFFFF"/>
                </a:solidFill>
              </a:rPr>
              <a:t>P.chunk 3</a:t>
            </a:r>
            <a:endParaRPr lang="en-US" sz="900" dirty="0"/>
          </a:p>
        </p:txBody>
      </p:sp>
      <p:sp>
        <p:nvSpPr>
          <p:cNvPr id="23" name="Shape 21"/>
          <p:cNvSpPr/>
          <p:nvPr/>
        </p:nvSpPr>
        <p:spPr>
          <a:xfrm>
            <a:off x="5532120" y="3108960"/>
            <a:ext cx="822960" cy="457200"/>
          </a:xfrm>
          <a:prstGeom prst="rect">
            <a:avLst/>
          </a:prstGeom>
          <a:solidFill>
            <a:srgbClr val="7C3AED"/>
          </a:solidFill>
          <a:ln w="12700">
            <a:solidFill>
              <a:srgbClr val="0F1B2D"/>
            </a:solidFill>
            <a:prstDash val="solid"/>
          </a:ln>
        </p:spPr>
      </p:sp>
      <p:sp>
        <p:nvSpPr>
          <p:cNvPr id="24" name="Text 22"/>
          <p:cNvSpPr/>
          <p:nvPr/>
        </p:nvSpPr>
        <p:spPr>
          <a:xfrm>
            <a:off x="5532120" y="3108960"/>
            <a:ext cx="822960" cy="457200"/>
          </a:xfrm>
          <a:prstGeom prst="rect">
            <a:avLst/>
          </a:prstGeom>
          <a:noFill/>
          <a:ln/>
        </p:spPr>
        <p:txBody>
          <a:bodyPr wrap="square" lIns="0" tIns="0" rIns="0" bIns="0" rtlCol="0" anchor="ctr"/>
          <a:lstStyle/>
          <a:p>
            <a:pPr algn="ctr" indent="0" marL="0">
              <a:buNone/>
            </a:pPr>
            <a:r>
              <a:rPr lang="en-US" sz="900" b="1" dirty="0">
                <a:solidFill>
                  <a:srgbClr val="FFFFFF"/>
                </a:solidFill>
              </a:rPr>
              <a:t>Gen D</a:t>
            </a:r>
            <a:endParaRPr lang="en-US" sz="900" dirty="0"/>
          </a:p>
        </p:txBody>
      </p:sp>
      <p:sp>
        <p:nvSpPr>
          <p:cNvPr id="25" name="Shape 23"/>
          <p:cNvSpPr/>
          <p:nvPr/>
        </p:nvSpPr>
        <p:spPr>
          <a:xfrm>
            <a:off x="6400800" y="3108960"/>
            <a:ext cx="1097280" cy="457200"/>
          </a:xfrm>
          <a:prstGeom prst="rect">
            <a:avLst/>
          </a:prstGeom>
          <a:solidFill>
            <a:srgbClr val="EF4444"/>
          </a:solidFill>
          <a:ln w="12700">
            <a:solidFill>
              <a:srgbClr val="0F1B2D"/>
            </a:solidFill>
            <a:prstDash val="solid"/>
          </a:ln>
        </p:spPr>
      </p:sp>
      <p:sp>
        <p:nvSpPr>
          <p:cNvPr id="26" name="Text 24"/>
          <p:cNvSpPr/>
          <p:nvPr/>
        </p:nvSpPr>
        <p:spPr>
          <a:xfrm>
            <a:off x="6400800" y="3108960"/>
            <a:ext cx="1097280" cy="457200"/>
          </a:xfrm>
          <a:prstGeom prst="rect">
            <a:avLst/>
          </a:prstGeom>
          <a:noFill/>
          <a:ln/>
        </p:spPr>
        <p:txBody>
          <a:bodyPr wrap="square" lIns="0" tIns="0" rIns="0" bIns="0" rtlCol="0" anchor="ctr"/>
          <a:lstStyle/>
          <a:p>
            <a:pPr algn="ctr" indent="0" marL="0">
              <a:buNone/>
            </a:pPr>
            <a:r>
              <a:rPr lang="en-US" sz="900" b="1" dirty="0">
                <a:solidFill>
                  <a:srgbClr val="FFFFFF"/>
                </a:solidFill>
              </a:rPr>
              <a:t>P.chunk 4</a:t>
            </a:r>
            <a:endParaRPr lang="en-US" sz="900" dirty="0"/>
          </a:p>
        </p:txBody>
      </p:sp>
      <p:sp>
        <p:nvSpPr>
          <p:cNvPr id="27" name="Shape 25"/>
          <p:cNvSpPr/>
          <p:nvPr/>
        </p:nvSpPr>
        <p:spPr>
          <a:xfrm>
            <a:off x="7543800" y="3108960"/>
            <a:ext cx="822960" cy="457200"/>
          </a:xfrm>
          <a:prstGeom prst="rect">
            <a:avLst/>
          </a:prstGeom>
          <a:solidFill>
            <a:srgbClr val="10B981"/>
          </a:solidFill>
          <a:ln w="12700">
            <a:solidFill>
              <a:srgbClr val="0F1B2D"/>
            </a:solidFill>
            <a:prstDash val="solid"/>
          </a:ln>
        </p:spPr>
      </p:sp>
      <p:sp>
        <p:nvSpPr>
          <p:cNvPr id="28" name="Text 26"/>
          <p:cNvSpPr/>
          <p:nvPr/>
        </p:nvSpPr>
        <p:spPr>
          <a:xfrm>
            <a:off x="7543800" y="3108960"/>
            <a:ext cx="822960" cy="457200"/>
          </a:xfrm>
          <a:prstGeom prst="rect">
            <a:avLst/>
          </a:prstGeom>
          <a:noFill/>
          <a:ln/>
        </p:spPr>
        <p:txBody>
          <a:bodyPr wrap="square" lIns="0" tIns="0" rIns="0" bIns="0" rtlCol="0" anchor="ctr"/>
          <a:lstStyle/>
          <a:p>
            <a:pPr algn="ctr" indent="0" marL="0">
              <a:buNone/>
            </a:pPr>
            <a:r>
              <a:rPr lang="en-US" sz="900" b="1" dirty="0">
                <a:solidFill>
                  <a:srgbClr val="FFFFFF"/>
                </a:solidFill>
              </a:rPr>
              <a:t>Gen B</a:t>
            </a:r>
            <a:endParaRPr lang="en-US" sz="900" dirty="0"/>
          </a:p>
        </p:txBody>
      </p:sp>
      <p:sp>
        <p:nvSpPr>
          <p:cNvPr id="29" name="Text 27"/>
          <p:cNvSpPr/>
          <p:nvPr/>
        </p:nvSpPr>
        <p:spPr>
          <a:xfrm>
            <a:off x="365760" y="3639312"/>
            <a:ext cx="8412480" cy="320040"/>
          </a:xfrm>
          <a:prstGeom prst="rect">
            <a:avLst/>
          </a:prstGeom>
          <a:noFill/>
          <a:ln/>
        </p:spPr>
        <p:txBody>
          <a:bodyPr wrap="square" lIns="0" tIns="0" rIns="0" bIns="0" rtlCol="0" anchor="ctr"/>
          <a:lstStyle/>
          <a:p>
            <a:pPr indent="0" marL="0">
              <a:buNone/>
            </a:pPr>
            <a:r>
              <a:rPr lang="en-US" sz="1200" dirty="0">
                <a:solidFill>
                  <a:srgbClr val="10B981"/>
                </a:solidFill>
              </a:rPr>
              <a:t>Xen kẽ linh hoạt → Mọi request đều tiến triển cùng lúc ✅</a:t>
            </a:r>
            <a:endParaRPr lang="en-US" sz="1200" dirty="0"/>
          </a:p>
        </p:txBody>
      </p:sp>
      <p:sp>
        <p:nvSpPr>
          <p:cNvPr id="30" name="Shape 28"/>
          <p:cNvSpPr/>
          <p:nvPr/>
        </p:nvSpPr>
        <p:spPr>
          <a:xfrm>
            <a:off x="365760" y="4069080"/>
            <a:ext cx="8412480" cy="822960"/>
          </a:xfrm>
          <a:prstGeom prst="rect">
            <a:avLst/>
          </a:prstGeom>
          <a:solidFill>
            <a:srgbClr val="1E2F47"/>
          </a:solidFill>
          <a:ln w="12700">
            <a:solidFill>
              <a:srgbClr val="00D4FF"/>
            </a:solidFill>
            <a:prstDash val="solid"/>
          </a:ln>
        </p:spPr>
      </p:sp>
      <p:sp>
        <p:nvSpPr>
          <p:cNvPr id="31" name="Text 29"/>
          <p:cNvSpPr/>
          <p:nvPr/>
        </p:nvSpPr>
        <p:spPr>
          <a:xfrm>
            <a:off x="502920" y="4114800"/>
            <a:ext cx="2743200" cy="320040"/>
          </a:xfrm>
          <a:prstGeom prst="rect">
            <a:avLst/>
          </a:prstGeom>
          <a:noFill/>
          <a:ln/>
        </p:spPr>
        <p:txBody>
          <a:bodyPr wrap="square" lIns="0" tIns="0" rIns="0" bIns="0" rtlCol="0" anchor="ctr"/>
          <a:lstStyle/>
          <a:p>
            <a:pPr indent="0" marL="0">
              <a:buNone/>
            </a:pPr>
            <a:r>
              <a:rPr lang="en-US" sz="1300" b="1" dirty="0">
                <a:solidFill>
                  <a:srgbClr val="00D4FF"/>
                </a:solidFill>
              </a:rPr>
              <a:t>⚙️  Cấu hình trong vLLM:</a:t>
            </a:r>
            <a:endParaRPr lang="en-US" sz="1300" dirty="0"/>
          </a:p>
        </p:txBody>
      </p:sp>
      <p:sp>
        <p:nvSpPr>
          <p:cNvPr id="32" name="Shape 30"/>
          <p:cNvSpPr/>
          <p:nvPr/>
        </p:nvSpPr>
        <p:spPr>
          <a:xfrm>
            <a:off x="3200400" y="4133088"/>
            <a:ext cx="5394960" cy="320040"/>
          </a:xfrm>
          <a:prstGeom prst="rect">
            <a:avLst/>
          </a:prstGeom>
          <a:solidFill>
            <a:srgbClr val="0D1B2D"/>
          </a:solidFill>
          <a:ln w="12700">
            <a:solidFill>
              <a:srgbClr val="00D4FF"/>
            </a:solidFill>
            <a:prstDash val="solid"/>
          </a:ln>
        </p:spPr>
      </p:sp>
      <p:sp>
        <p:nvSpPr>
          <p:cNvPr id="33" name="Text 31"/>
          <p:cNvSpPr/>
          <p:nvPr/>
        </p:nvSpPr>
        <p:spPr>
          <a:xfrm>
            <a:off x="3200400" y="4133088"/>
            <a:ext cx="5394960" cy="320040"/>
          </a:xfrm>
          <a:prstGeom prst="rect">
            <a:avLst/>
          </a:prstGeom>
          <a:noFill/>
          <a:ln/>
        </p:spPr>
        <p:txBody>
          <a:bodyPr wrap="square" lIns="0" tIns="0" rIns="0" bIns="0" rtlCol="0" anchor="ctr"/>
          <a:lstStyle/>
          <a:p>
            <a:pPr algn="ctr" indent="0" marL="0">
              <a:buNone/>
            </a:pPr>
            <a:r>
              <a:rPr lang="en-US" sz="1200" dirty="0">
                <a:solidFill>
                  <a:srgbClr val="00D4FF"/>
                </a:solidFill>
                <a:latin typeface="Consolas" pitchFamily="34" charset="0"/>
                <a:ea typeface="Consolas" pitchFamily="34" charset="-122"/>
                <a:cs typeface="Consolas" pitchFamily="34" charset="-120"/>
              </a:rPr>
              <a:t>--enable-chunked-prefill  --max-num-batched-tokens 4096</a:t>
            </a:r>
            <a:endParaRPr lang="en-US" sz="1200" dirty="0"/>
          </a:p>
        </p:txBody>
      </p:sp>
      <p:sp>
        <p:nvSpPr>
          <p:cNvPr id="34" name="Text 32"/>
          <p:cNvSpPr/>
          <p:nvPr/>
        </p:nvSpPr>
        <p:spPr>
          <a:xfrm>
            <a:off x="502920" y="4462272"/>
            <a:ext cx="8229600" cy="365760"/>
          </a:xfrm>
          <a:prstGeom prst="rect">
            <a:avLst/>
          </a:prstGeom>
          <a:noFill/>
          <a:ln/>
        </p:spPr>
        <p:txBody>
          <a:bodyPr wrap="square" lIns="0" tIns="0" rIns="0" bIns="0" rtlCol="0" anchor="ctr"/>
          <a:lstStyle/>
          <a:p>
            <a:pPr indent="0" marL="0">
              <a:buNone/>
            </a:pPr>
            <a:r>
              <a:rPr lang="en-US" sz="1200" dirty="0">
                <a:solidFill>
                  <a:srgbClr val="94A3B8"/>
                </a:solidFill>
              </a:rPr>
              <a:t>Mỗi iteration xử lý tối đa 4096 tokens từ mọi request — chia đều thay vì ưu tiên request nào.</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7C3AED"/>
          </a:solidFill>
          <a:ln w="12700">
            <a:solidFill>
              <a:srgbClr val="7C3AED"/>
            </a:solidFill>
            <a:prstDash val="solid"/>
          </a:ln>
        </p:spPr>
      </p:sp>
      <p:sp>
        <p:nvSpPr>
          <p:cNvPr id="3" name="Text 1"/>
          <p:cNvSpPr/>
          <p:nvPr/>
        </p:nvSpPr>
        <p:spPr>
          <a:xfrm>
            <a:off x="365760" y="137160"/>
            <a:ext cx="8412480" cy="548640"/>
          </a:xfrm>
          <a:prstGeom prst="rect">
            <a:avLst/>
          </a:prstGeom>
          <a:noFill/>
          <a:ln/>
        </p:spPr>
        <p:txBody>
          <a:bodyPr wrap="square" lIns="0" tIns="0" rIns="0" bIns="0" rtlCol="0" anchor="ctr"/>
          <a:lstStyle/>
          <a:p>
            <a:pPr indent="0" marL="0">
              <a:buNone/>
            </a:pPr>
            <a:r>
              <a:rPr lang="en-US" sz="2400" b="1" dirty="0">
                <a:solidFill>
                  <a:srgbClr val="F0F6FF"/>
                </a:solidFill>
                <a:latin typeface="Calibri" pitchFamily="34" charset="0"/>
                <a:ea typeface="Calibri" pitchFamily="34" charset="-122"/>
                <a:cs typeface="Calibri" pitchFamily="34" charset="-120"/>
              </a:rPr>
              <a:t>🗜️  Lượng Tử Hóa KV Cache (KV Cache Quantization)</a:t>
            </a:r>
            <a:endParaRPr lang="en-US" sz="2400" dirty="0"/>
          </a:p>
        </p:txBody>
      </p:sp>
      <p:sp>
        <p:nvSpPr>
          <p:cNvPr id="4" name="Shape 2"/>
          <p:cNvSpPr/>
          <p:nvPr/>
        </p:nvSpPr>
        <p:spPr>
          <a:xfrm>
            <a:off x="365760" y="822960"/>
            <a:ext cx="8412480" cy="640080"/>
          </a:xfrm>
          <a:prstGeom prst="rect">
            <a:avLst/>
          </a:prstGeom>
          <a:solidFill>
            <a:srgbClr val="1E2F47"/>
          </a:solidFill>
          <a:ln w="12700">
            <a:solidFill>
              <a:srgbClr val="7C3AED"/>
            </a:solidFill>
            <a:prstDash val="solid"/>
          </a:ln>
        </p:spPr>
      </p:sp>
      <p:sp>
        <p:nvSpPr>
          <p:cNvPr id="5" name="Text 3"/>
          <p:cNvSpPr/>
          <p:nvPr/>
        </p:nvSpPr>
        <p:spPr>
          <a:xfrm>
            <a:off x="502920" y="868680"/>
            <a:ext cx="1097280" cy="320040"/>
          </a:xfrm>
          <a:prstGeom prst="rect">
            <a:avLst/>
          </a:prstGeom>
          <a:noFill/>
          <a:ln/>
        </p:spPr>
        <p:txBody>
          <a:bodyPr wrap="square" lIns="0" tIns="0" rIns="0" bIns="0" rtlCol="0" anchor="ctr"/>
          <a:lstStyle/>
          <a:p>
            <a:pPr indent="0" marL="0">
              <a:buNone/>
            </a:pPr>
            <a:r>
              <a:rPr lang="en-US" sz="1300" b="1" dirty="0">
                <a:solidFill>
                  <a:srgbClr val="7C3AED"/>
                </a:solidFill>
              </a:rPr>
              <a:t>Ý tưởng:</a:t>
            </a:r>
            <a:endParaRPr lang="en-US" sz="1300" dirty="0"/>
          </a:p>
        </p:txBody>
      </p:sp>
      <p:sp>
        <p:nvSpPr>
          <p:cNvPr id="6" name="Text 4"/>
          <p:cNvSpPr/>
          <p:nvPr/>
        </p:nvSpPr>
        <p:spPr>
          <a:xfrm>
            <a:off x="1463040" y="868680"/>
            <a:ext cx="7132320" cy="502920"/>
          </a:xfrm>
          <a:prstGeom prst="rect">
            <a:avLst/>
          </a:prstGeom>
          <a:noFill/>
          <a:ln/>
        </p:spPr>
        <p:txBody>
          <a:bodyPr wrap="square" lIns="0" tIns="0" rIns="0" bIns="0" rtlCol="0" anchor="ctr"/>
          <a:lstStyle/>
          <a:p>
            <a:pPr indent="0" marL="0">
              <a:buNone/>
            </a:pPr>
            <a:r>
              <a:rPr lang="en-US" sz="1200" dirty="0">
                <a:solidFill>
                  <a:srgbClr val="F0F6FF"/>
                </a:solidFill>
              </a:rPr>
              <a:t>Thay vì lưu KV Cache ở định dạng FP32 (4 byte/số) hay FP16 (2 byte/số), ta nén xuống FP8 hoặc INT8 (1 byte/số) với sai số tối thiểu.</a:t>
            </a:r>
            <a:endParaRPr lang="en-US" sz="1200" dirty="0"/>
          </a:p>
        </p:txBody>
      </p:sp>
      <p:sp>
        <p:nvSpPr>
          <p:cNvPr id="7" name="Shape 5"/>
          <p:cNvSpPr/>
          <p:nvPr/>
        </p:nvSpPr>
        <p:spPr>
          <a:xfrm>
            <a:off x="365760" y="1627632"/>
            <a:ext cx="8412480" cy="731520"/>
          </a:xfrm>
          <a:prstGeom prst="rect">
            <a:avLst/>
          </a:prstGeom>
          <a:solidFill>
            <a:srgbClr val="1E2F47"/>
          </a:solidFill>
          <a:ln w="12700">
            <a:solidFill>
              <a:srgbClr val="EF4444"/>
            </a:solidFill>
            <a:prstDash val="solid"/>
          </a:ln>
        </p:spPr>
      </p:sp>
      <p:sp>
        <p:nvSpPr>
          <p:cNvPr id="8" name="Text 6"/>
          <p:cNvSpPr/>
          <p:nvPr/>
        </p:nvSpPr>
        <p:spPr>
          <a:xfrm>
            <a:off x="457200" y="1627632"/>
            <a:ext cx="1188720" cy="731520"/>
          </a:xfrm>
          <a:prstGeom prst="rect">
            <a:avLst/>
          </a:prstGeom>
          <a:noFill/>
          <a:ln/>
        </p:spPr>
        <p:txBody>
          <a:bodyPr wrap="square" lIns="0" tIns="0" rIns="0" bIns="0" rtlCol="0" anchor="ctr"/>
          <a:lstStyle/>
          <a:p>
            <a:pPr algn="ctr" indent="0" marL="0">
              <a:buNone/>
            </a:pPr>
            <a:r>
              <a:rPr lang="en-US" sz="1600" b="1" dirty="0">
                <a:solidFill>
                  <a:srgbClr val="EF4444"/>
                </a:solidFill>
              </a:rPr>
              <a:t>FP32</a:t>
            </a:r>
            <a:endParaRPr lang="en-US" sz="1600" dirty="0"/>
          </a:p>
        </p:txBody>
      </p:sp>
      <p:sp>
        <p:nvSpPr>
          <p:cNvPr id="9" name="Text 7"/>
          <p:cNvSpPr/>
          <p:nvPr/>
        </p:nvSpPr>
        <p:spPr>
          <a:xfrm>
            <a:off x="1691640" y="1673352"/>
            <a:ext cx="1371600" cy="320040"/>
          </a:xfrm>
          <a:prstGeom prst="rect">
            <a:avLst/>
          </a:prstGeom>
          <a:noFill/>
          <a:ln/>
        </p:spPr>
        <p:txBody>
          <a:bodyPr wrap="square" lIns="0" tIns="0" rIns="0" bIns="0" rtlCol="0" anchor="ctr"/>
          <a:lstStyle/>
          <a:p>
            <a:pPr indent="0" marL="0">
              <a:buNone/>
            </a:pPr>
            <a:r>
              <a:rPr lang="en-US" sz="1100" dirty="0">
                <a:solidFill>
                  <a:srgbClr val="94A3B8"/>
                </a:solidFill>
              </a:rPr>
              <a:t>4 byte/value</a:t>
            </a:r>
            <a:endParaRPr lang="en-US" sz="1100" dirty="0"/>
          </a:p>
        </p:txBody>
      </p:sp>
      <p:sp>
        <p:nvSpPr>
          <p:cNvPr id="10" name="Text 8"/>
          <p:cNvSpPr/>
          <p:nvPr/>
        </p:nvSpPr>
        <p:spPr>
          <a:xfrm>
            <a:off x="1691640" y="1993392"/>
            <a:ext cx="1371600" cy="274320"/>
          </a:xfrm>
          <a:prstGeom prst="rect">
            <a:avLst/>
          </a:prstGeom>
          <a:noFill/>
          <a:ln/>
        </p:spPr>
        <p:txBody>
          <a:bodyPr wrap="square" lIns="0" tIns="0" rIns="0" bIns="0" rtlCol="0" anchor="ctr"/>
          <a:lstStyle/>
          <a:p>
            <a:pPr indent="0" marL="0">
              <a:buNone/>
            </a:pPr>
            <a:r>
              <a:rPr lang="en-US" sz="1100" b="1" dirty="0">
                <a:solidFill>
                  <a:srgbClr val="EF4444"/>
                </a:solidFill>
              </a:rPr>
              <a:t>100% dung lượng</a:t>
            </a:r>
            <a:endParaRPr lang="en-US" sz="1100" dirty="0"/>
          </a:p>
        </p:txBody>
      </p:sp>
      <p:sp>
        <p:nvSpPr>
          <p:cNvPr id="11" name="Shape 9"/>
          <p:cNvSpPr/>
          <p:nvPr/>
        </p:nvSpPr>
        <p:spPr>
          <a:xfrm>
            <a:off x="3200400" y="1810512"/>
            <a:ext cx="4572000" cy="320040"/>
          </a:xfrm>
          <a:prstGeom prst="rect">
            <a:avLst/>
          </a:prstGeom>
          <a:solidFill>
            <a:srgbClr val="EF4444"/>
          </a:solidFill>
          <a:ln w="12700">
            <a:solidFill>
              <a:srgbClr val="EF4444"/>
            </a:solidFill>
            <a:prstDash val="solid"/>
          </a:ln>
        </p:spPr>
      </p:sp>
      <p:sp>
        <p:nvSpPr>
          <p:cNvPr id="12" name="Text 10"/>
          <p:cNvSpPr/>
          <p:nvPr/>
        </p:nvSpPr>
        <p:spPr>
          <a:xfrm>
            <a:off x="7909560" y="1810512"/>
            <a:ext cx="2286000" cy="320040"/>
          </a:xfrm>
          <a:prstGeom prst="rect">
            <a:avLst/>
          </a:prstGeom>
          <a:noFill/>
          <a:ln/>
        </p:spPr>
        <p:txBody>
          <a:bodyPr wrap="square" lIns="0" tIns="0" rIns="0" bIns="0" rtlCol="0" anchor="ctr"/>
          <a:lstStyle/>
          <a:p>
            <a:pPr indent="0" marL="0">
              <a:buNone/>
            </a:pPr>
            <a:r>
              <a:rPr lang="en-US" sz="1100" dirty="0">
                <a:solidFill>
                  <a:srgbClr val="94A3B8"/>
                </a:solidFill>
              </a:rPr>
              <a:t>Cao nhất</a:t>
            </a:r>
            <a:endParaRPr lang="en-US" sz="1100" dirty="0"/>
          </a:p>
        </p:txBody>
      </p:sp>
      <p:sp>
        <p:nvSpPr>
          <p:cNvPr id="13" name="Shape 11"/>
          <p:cNvSpPr/>
          <p:nvPr/>
        </p:nvSpPr>
        <p:spPr>
          <a:xfrm>
            <a:off x="365760" y="2468880"/>
            <a:ext cx="8412480" cy="731520"/>
          </a:xfrm>
          <a:prstGeom prst="rect">
            <a:avLst/>
          </a:prstGeom>
          <a:solidFill>
            <a:srgbClr val="1E2F47"/>
          </a:solidFill>
          <a:ln w="12700">
            <a:solidFill>
              <a:srgbClr val="F59E0B"/>
            </a:solidFill>
            <a:prstDash val="solid"/>
          </a:ln>
        </p:spPr>
      </p:sp>
      <p:sp>
        <p:nvSpPr>
          <p:cNvPr id="14" name="Text 12"/>
          <p:cNvSpPr/>
          <p:nvPr/>
        </p:nvSpPr>
        <p:spPr>
          <a:xfrm>
            <a:off x="457200" y="2468880"/>
            <a:ext cx="1188720" cy="731520"/>
          </a:xfrm>
          <a:prstGeom prst="rect">
            <a:avLst/>
          </a:prstGeom>
          <a:noFill/>
          <a:ln/>
        </p:spPr>
        <p:txBody>
          <a:bodyPr wrap="square" lIns="0" tIns="0" rIns="0" bIns="0" rtlCol="0" anchor="ctr"/>
          <a:lstStyle/>
          <a:p>
            <a:pPr algn="ctr" indent="0" marL="0">
              <a:buNone/>
            </a:pPr>
            <a:r>
              <a:rPr lang="en-US" sz="1600" b="1" dirty="0">
                <a:solidFill>
                  <a:srgbClr val="F59E0B"/>
                </a:solidFill>
              </a:rPr>
              <a:t>FP16</a:t>
            </a:r>
            <a:endParaRPr lang="en-US" sz="1600" dirty="0"/>
          </a:p>
        </p:txBody>
      </p:sp>
      <p:sp>
        <p:nvSpPr>
          <p:cNvPr id="15" name="Text 13"/>
          <p:cNvSpPr/>
          <p:nvPr/>
        </p:nvSpPr>
        <p:spPr>
          <a:xfrm>
            <a:off x="1691640" y="2514600"/>
            <a:ext cx="1371600" cy="320040"/>
          </a:xfrm>
          <a:prstGeom prst="rect">
            <a:avLst/>
          </a:prstGeom>
          <a:noFill/>
          <a:ln/>
        </p:spPr>
        <p:txBody>
          <a:bodyPr wrap="square" lIns="0" tIns="0" rIns="0" bIns="0" rtlCol="0" anchor="ctr"/>
          <a:lstStyle/>
          <a:p>
            <a:pPr indent="0" marL="0">
              <a:buNone/>
            </a:pPr>
            <a:r>
              <a:rPr lang="en-US" sz="1100" dirty="0">
                <a:solidFill>
                  <a:srgbClr val="94A3B8"/>
                </a:solidFill>
              </a:rPr>
              <a:t>2 byte/value</a:t>
            </a:r>
            <a:endParaRPr lang="en-US" sz="1100" dirty="0"/>
          </a:p>
        </p:txBody>
      </p:sp>
      <p:sp>
        <p:nvSpPr>
          <p:cNvPr id="16" name="Text 14"/>
          <p:cNvSpPr/>
          <p:nvPr/>
        </p:nvSpPr>
        <p:spPr>
          <a:xfrm>
            <a:off x="1691640" y="2834640"/>
            <a:ext cx="1371600" cy="274320"/>
          </a:xfrm>
          <a:prstGeom prst="rect">
            <a:avLst/>
          </a:prstGeom>
          <a:noFill/>
          <a:ln/>
        </p:spPr>
        <p:txBody>
          <a:bodyPr wrap="square" lIns="0" tIns="0" rIns="0" bIns="0" rtlCol="0" anchor="ctr"/>
          <a:lstStyle/>
          <a:p>
            <a:pPr indent="0" marL="0">
              <a:buNone/>
            </a:pPr>
            <a:r>
              <a:rPr lang="en-US" sz="1100" b="1" dirty="0">
                <a:solidFill>
                  <a:srgbClr val="F59E0B"/>
                </a:solidFill>
              </a:rPr>
              <a:t>50% dung lượng</a:t>
            </a:r>
            <a:endParaRPr lang="en-US" sz="1100" dirty="0"/>
          </a:p>
        </p:txBody>
      </p:sp>
      <p:sp>
        <p:nvSpPr>
          <p:cNvPr id="17" name="Shape 15"/>
          <p:cNvSpPr/>
          <p:nvPr/>
        </p:nvSpPr>
        <p:spPr>
          <a:xfrm>
            <a:off x="3200400" y="2651760"/>
            <a:ext cx="2286000" cy="320040"/>
          </a:xfrm>
          <a:prstGeom prst="rect">
            <a:avLst/>
          </a:prstGeom>
          <a:solidFill>
            <a:srgbClr val="F59E0B"/>
          </a:solidFill>
          <a:ln w="12700">
            <a:solidFill>
              <a:srgbClr val="F59E0B"/>
            </a:solidFill>
            <a:prstDash val="solid"/>
          </a:ln>
        </p:spPr>
      </p:sp>
      <p:sp>
        <p:nvSpPr>
          <p:cNvPr id="18" name="Text 16"/>
          <p:cNvSpPr/>
          <p:nvPr/>
        </p:nvSpPr>
        <p:spPr>
          <a:xfrm>
            <a:off x="5623560" y="2651760"/>
            <a:ext cx="2286000" cy="320040"/>
          </a:xfrm>
          <a:prstGeom prst="rect">
            <a:avLst/>
          </a:prstGeom>
          <a:noFill/>
          <a:ln/>
        </p:spPr>
        <p:txBody>
          <a:bodyPr wrap="square" lIns="0" tIns="0" rIns="0" bIns="0" rtlCol="0" anchor="ctr"/>
          <a:lstStyle/>
          <a:p>
            <a:pPr indent="0" marL="0">
              <a:buNone/>
            </a:pPr>
            <a:r>
              <a:rPr lang="en-US" sz="1100" dirty="0">
                <a:solidFill>
                  <a:srgbClr val="94A3B8"/>
                </a:solidFill>
              </a:rPr>
              <a:t>Rất tốt</a:t>
            </a:r>
            <a:endParaRPr lang="en-US" sz="1100" dirty="0"/>
          </a:p>
        </p:txBody>
      </p:sp>
      <p:sp>
        <p:nvSpPr>
          <p:cNvPr id="19" name="Shape 17"/>
          <p:cNvSpPr/>
          <p:nvPr/>
        </p:nvSpPr>
        <p:spPr>
          <a:xfrm>
            <a:off x="365760" y="3310128"/>
            <a:ext cx="8412480" cy="731520"/>
          </a:xfrm>
          <a:prstGeom prst="rect">
            <a:avLst/>
          </a:prstGeom>
          <a:solidFill>
            <a:srgbClr val="1E2F47"/>
          </a:solidFill>
          <a:ln w="12700">
            <a:solidFill>
              <a:srgbClr val="10B981"/>
            </a:solidFill>
            <a:prstDash val="solid"/>
          </a:ln>
        </p:spPr>
      </p:sp>
      <p:sp>
        <p:nvSpPr>
          <p:cNvPr id="20" name="Text 18"/>
          <p:cNvSpPr/>
          <p:nvPr/>
        </p:nvSpPr>
        <p:spPr>
          <a:xfrm>
            <a:off x="457200" y="3310128"/>
            <a:ext cx="1188720" cy="731520"/>
          </a:xfrm>
          <a:prstGeom prst="rect">
            <a:avLst/>
          </a:prstGeom>
          <a:noFill/>
          <a:ln/>
        </p:spPr>
        <p:txBody>
          <a:bodyPr wrap="square" lIns="0" tIns="0" rIns="0" bIns="0" rtlCol="0" anchor="ctr"/>
          <a:lstStyle/>
          <a:p>
            <a:pPr algn="ctr" indent="0" marL="0">
              <a:buNone/>
            </a:pPr>
            <a:r>
              <a:rPr lang="en-US" sz="1600" b="1" dirty="0">
                <a:solidFill>
                  <a:srgbClr val="10B981"/>
                </a:solidFill>
              </a:rPr>
              <a:t>FP8 / INT8</a:t>
            </a:r>
            <a:endParaRPr lang="en-US" sz="1600" dirty="0"/>
          </a:p>
        </p:txBody>
      </p:sp>
      <p:sp>
        <p:nvSpPr>
          <p:cNvPr id="21" name="Text 19"/>
          <p:cNvSpPr/>
          <p:nvPr/>
        </p:nvSpPr>
        <p:spPr>
          <a:xfrm>
            <a:off x="1691640" y="3355848"/>
            <a:ext cx="1371600" cy="320040"/>
          </a:xfrm>
          <a:prstGeom prst="rect">
            <a:avLst/>
          </a:prstGeom>
          <a:noFill/>
          <a:ln/>
        </p:spPr>
        <p:txBody>
          <a:bodyPr wrap="square" lIns="0" tIns="0" rIns="0" bIns="0" rtlCol="0" anchor="ctr"/>
          <a:lstStyle/>
          <a:p>
            <a:pPr indent="0" marL="0">
              <a:buNone/>
            </a:pPr>
            <a:r>
              <a:rPr lang="en-US" sz="1100" dirty="0">
                <a:solidFill>
                  <a:srgbClr val="94A3B8"/>
                </a:solidFill>
              </a:rPr>
              <a:t>1 byte/value</a:t>
            </a:r>
            <a:endParaRPr lang="en-US" sz="1100" dirty="0"/>
          </a:p>
        </p:txBody>
      </p:sp>
      <p:sp>
        <p:nvSpPr>
          <p:cNvPr id="22" name="Text 20"/>
          <p:cNvSpPr/>
          <p:nvPr/>
        </p:nvSpPr>
        <p:spPr>
          <a:xfrm>
            <a:off x="1691640" y="3675888"/>
            <a:ext cx="1371600" cy="274320"/>
          </a:xfrm>
          <a:prstGeom prst="rect">
            <a:avLst/>
          </a:prstGeom>
          <a:noFill/>
          <a:ln/>
        </p:spPr>
        <p:txBody>
          <a:bodyPr wrap="square" lIns="0" tIns="0" rIns="0" bIns="0" rtlCol="0" anchor="ctr"/>
          <a:lstStyle/>
          <a:p>
            <a:pPr indent="0" marL="0">
              <a:buNone/>
            </a:pPr>
            <a:r>
              <a:rPr lang="en-US" sz="1100" b="1" dirty="0">
                <a:solidFill>
                  <a:srgbClr val="10B981"/>
                </a:solidFill>
              </a:rPr>
              <a:t>25% dung lượng</a:t>
            </a:r>
            <a:endParaRPr lang="en-US" sz="1100" dirty="0"/>
          </a:p>
        </p:txBody>
      </p:sp>
      <p:sp>
        <p:nvSpPr>
          <p:cNvPr id="23" name="Shape 21"/>
          <p:cNvSpPr/>
          <p:nvPr/>
        </p:nvSpPr>
        <p:spPr>
          <a:xfrm>
            <a:off x="3200400" y="3493008"/>
            <a:ext cx="1143000" cy="320040"/>
          </a:xfrm>
          <a:prstGeom prst="rect">
            <a:avLst/>
          </a:prstGeom>
          <a:solidFill>
            <a:srgbClr val="10B981"/>
          </a:solidFill>
          <a:ln w="12700">
            <a:solidFill>
              <a:srgbClr val="10B981"/>
            </a:solidFill>
            <a:prstDash val="solid"/>
          </a:ln>
        </p:spPr>
      </p:sp>
      <p:sp>
        <p:nvSpPr>
          <p:cNvPr id="24" name="Text 22"/>
          <p:cNvSpPr/>
          <p:nvPr/>
        </p:nvSpPr>
        <p:spPr>
          <a:xfrm>
            <a:off x="4480560" y="3493008"/>
            <a:ext cx="2286000" cy="320040"/>
          </a:xfrm>
          <a:prstGeom prst="rect">
            <a:avLst/>
          </a:prstGeom>
          <a:noFill/>
          <a:ln/>
        </p:spPr>
        <p:txBody>
          <a:bodyPr wrap="square" lIns="0" tIns="0" rIns="0" bIns="0" rtlCol="0" anchor="ctr"/>
          <a:lstStyle/>
          <a:p>
            <a:pPr indent="0" marL="0">
              <a:buNone/>
            </a:pPr>
            <a:r>
              <a:rPr lang="en-US" sz="1100" dirty="0">
                <a:solidFill>
                  <a:srgbClr val="94A3B8"/>
                </a:solidFill>
              </a:rPr>
              <a:t>Tốt (hầu như không đổi)</a:t>
            </a:r>
            <a:endParaRPr lang="en-US" sz="1100" dirty="0"/>
          </a:p>
        </p:txBody>
      </p:sp>
      <p:sp>
        <p:nvSpPr>
          <p:cNvPr id="25" name="Shape 23"/>
          <p:cNvSpPr/>
          <p:nvPr/>
        </p:nvSpPr>
        <p:spPr>
          <a:xfrm>
            <a:off x="365760" y="4251960"/>
            <a:ext cx="8412480" cy="685800"/>
          </a:xfrm>
          <a:prstGeom prst="rect">
            <a:avLst/>
          </a:prstGeom>
          <a:solidFill>
            <a:srgbClr val="1E2F47"/>
          </a:solidFill>
          <a:ln w="12700">
            <a:solidFill>
              <a:srgbClr val="00D4FF"/>
            </a:solidFill>
            <a:prstDash val="solid"/>
          </a:ln>
        </p:spPr>
      </p:sp>
      <p:sp>
        <p:nvSpPr>
          <p:cNvPr id="26" name="Text 24"/>
          <p:cNvSpPr/>
          <p:nvPr/>
        </p:nvSpPr>
        <p:spPr>
          <a:xfrm>
            <a:off x="502920" y="4297680"/>
            <a:ext cx="1828800" cy="320040"/>
          </a:xfrm>
          <a:prstGeom prst="rect">
            <a:avLst/>
          </a:prstGeom>
          <a:noFill/>
          <a:ln/>
        </p:spPr>
        <p:txBody>
          <a:bodyPr wrap="square" lIns="0" tIns="0" rIns="0" bIns="0" rtlCol="0" anchor="ctr"/>
          <a:lstStyle/>
          <a:p>
            <a:pPr indent="0" marL="0">
              <a:buNone/>
            </a:pPr>
            <a:r>
              <a:rPr lang="en-US" sz="1200" b="1" dirty="0">
                <a:solidFill>
                  <a:srgbClr val="00D4FF"/>
                </a:solidFill>
              </a:rPr>
              <a:t>Bật trong vLLM:</a:t>
            </a:r>
            <a:endParaRPr lang="en-US" sz="1200" dirty="0"/>
          </a:p>
        </p:txBody>
      </p:sp>
      <p:sp>
        <p:nvSpPr>
          <p:cNvPr id="27" name="Shape 25"/>
          <p:cNvSpPr/>
          <p:nvPr/>
        </p:nvSpPr>
        <p:spPr>
          <a:xfrm>
            <a:off x="2286000" y="4325112"/>
            <a:ext cx="6400800" cy="274320"/>
          </a:xfrm>
          <a:prstGeom prst="rect">
            <a:avLst/>
          </a:prstGeom>
          <a:solidFill>
            <a:srgbClr val="0D1B2D"/>
          </a:solidFill>
          <a:ln w="12700">
            <a:solidFill>
              <a:srgbClr val="00D4FF"/>
            </a:solidFill>
            <a:prstDash val="solid"/>
          </a:ln>
        </p:spPr>
      </p:sp>
      <p:sp>
        <p:nvSpPr>
          <p:cNvPr id="28" name="Text 26"/>
          <p:cNvSpPr/>
          <p:nvPr/>
        </p:nvSpPr>
        <p:spPr>
          <a:xfrm>
            <a:off x="2286000" y="4325112"/>
            <a:ext cx="6400800" cy="274320"/>
          </a:xfrm>
          <a:prstGeom prst="rect">
            <a:avLst/>
          </a:prstGeom>
          <a:noFill/>
          <a:ln/>
        </p:spPr>
        <p:txBody>
          <a:bodyPr wrap="square" lIns="63500" tIns="63500" rIns="63500" bIns="63500" rtlCol="0" anchor="ctr"/>
          <a:lstStyle/>
          <a:p>
            <a:pPr indent="0" marL="0">
              <a:buNone/>
            </a:pPr>
            <a:r>
              <a:rPr lang="en-US" sz="1100" dirty="0">
                <a:solidFill>
                  <a:srgbClr val="00D4FF"/>
                </a:solidFill>
                <a:latin typeface="Consolas" pitchFamily="34" charset="0"/>
                <a:ea typeface="Consolas" pitchFamily="34" charset="-122"/>
                <a:cs typeface="Consolas" pitchFamily="34" charset="-120"/>
              </a:rPr>
              <a:t>--kv-cache-dtype fp8  # Giảm 50% VRAM cho KV Cache</a:t>
            </a:r>
            <a:endParaRPr lang="en-US" sz="1100" dirty="0"/>
          </a:p>
        </p:txBody>
      </p:sp>
      <p:sp>
        <p:nvSpPr>
          <p:cNvPr id="29" name="Text 27"/>
          <p:cNvSpPr/>
          <p:nvPr/>
        </p:nvSpPr>
        <p:spPr>
          <a:xfrm>
            <a:off x="502920" y="4636008"/>
            <a:ext cx="8138160" cy="274320"/>
          </a:xfrm>
          <a:prstGeom prst="rect">
            <a:avLst/>
          </a:prstGeom>
          <a:noFill/>
          <a:ln/>
        </p:spPr>
        <p:txBody>
          <a:bodyPr wrap="square" lIns="0" tIns="0" rIns="0" bIns="0" rtlCol="0" anchor="ctr"/>
          <a:lstStyle/>
          <a:p>
            <a:pPr indent="0" marL="0">
              <a:buNone/>
            </a:pPr>
            <a:r>
              <a:rPr lang="en-US" sz="1100" dirty="0">
                <a:solidFill>
                  <a:srgbClr val="94A3B8"/>
                </a:solidFill>
              </a:rPr>
              <a:t>Đặc biệt quan trọng cho Long Context (128K+ tokens) — không thể phục vụ nếu không có KV quantization.</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59E0B"/>
          </a:solidFill>
          <a:ln w="12700">
            <a:solidFill>
              <a:srgbClr val="F59E0B"/>
            </a:solidFill>
            <a:prstDash val="solid"/>
          </a:ln>
        </p:spPr>
      </p:sp>
      <p:sp>
        <p:nvSpPr>
          <p:cNvPr id="3" name="Text 1"/>
          <p:cNvSpPr/>
          <p:nvPr/>
        </p:nvSpPr>
        <p:spPr>
          <a:xfrm>
            <a:off x="365760" y="137160"/>
            <a:ext cx="8412480" cy="548640"/>
          </a:xfrm>
          <a:prstGeom prst="rect">
            <a:avLst/>
          </a:prstGeom>
          <a:noFill/>
          <a:ln/>
        </p:spPr>
        <p:txBody>
          <a:bodyPr wrap="square" lIns="0" tIns="0" rIns="0" bIns="0" rtlCol="0" anchor="ctr"/>
          <a:lstStyle/>
          <a:p>
            <a:pPr indent="0" marL="0">
              <a:buNone/>
            </a:pPr>
            <a:r>
              <a:rPr lang="en-US" sz="2600" b="1" dirty="0">
                <a:solidFill>
                  <a:srgbClr val="F0F6FF"/>
                </a:solidFill>
                <a:latin typeface="Calibri" pitchFamily="34" charset="0"/>
                <a:ea typeface="Calibri" pitchFamily="34" charset="-122"/>
                <a:cs typeface="Calibri" pitchFamily="34" charset="-120"/>
              </a:rPr>
              <a:t>⚙️  Cấu Hình &amp; Giám Sát vLLM</a:t>
            </a:r>
            <a:endParaRPr lang="en-US" sz="2600" dirty="0"/>
          </a:p>
        </p:txBody>
      </p:sp>
      <p:sp>
        <p:nvSpPr>
          <p:cNvPr id="4" name="Shape 2"/>
          <p:cNvSpPr/>
          <p:nvPr/>
        </p:nvSpPr>
        <p:spPr>
          <a:xfrm>
            <a:off x="365760" y="822960"/>
            <a:ext cx="8412480" cy="960120"/>
          </a:xfrm>
          <a:prstGeom prst="rect">
            <a:avLst/>
          </a:prstGeom>
          <a:solidFill>
            <a:srgbClr val="0D1B2D"/>
          </a:solidFill>
          <a:ln w="12700">
            <a:solidFill>
              <a:srgbClr val="00D4FF"/>
            </a:solidFill>
            <a:prstDash val="solid"/>
          </a:ln>
        </p:spPr>
      </p:sp>
      <p:sp>
        <p:nvSpPr>
          <p:cNvPr id="5" name="Text 3"/>
          <p:cNvSpPr/>
          <p:nvPr/>
        </p:nvSpPr>
        <p:spPr>
          <a:xfrm>
            <a:off x="548640" y="868680"/>
            <a:ext cx="8046720" cy="256032"/>
          </a:xfrm>
          <a:prstGeom prst="rect">
            <a:avLst/>
          </a:prstGeom>
          <a:noFill/>
          <a:ln/>
        </p:spPr>
        <p:txBody>
          <a:bodyPr wrap="square" lIns="0" tIns="0" rIns="0" bIns="0" rtlCol="0" anchor="ctr"/>
          <a:lstStyle/>
          <a:p>
            <a:pPr indent="0" marL="0">
              <a:buNone/>
            </a:pPr>
            <a:r>
              <a:rPr lang="en-US" sz="1100" dirty="0">
                <a:solidFill>
                  <a:srgbClr val="00D4FF"/>
                </a:solidFill>
                <a:latin typeface="Consolas" pitchFamily="34" charset="0"/>
                <a:ea typeface="Consolas" pitchFamily="34" charset="-122"/>
                <a:cs typeface="Consolas" pitchFamily="34" charset="-120"/>
              </a:rPr>
              <a:t>$ vllm serve meta-llama/Llama-3-70B-Instruct \</a:t>
            </a:r>
            <a:endParaRPr lang="en-US" sz="1100" dirty="0"/>
          </a:p>
        </p:txBody>
      </p:sp>
      <p:sp>
        <p:nvSpPr>
          <p:cNvPr id="6" name="Text 4"/>
          <p:cNvSpPr/>
          <p:nvPr/>
        </p:nvSpPr>
        <p:spPr>
          <a:xfrm>
            <a:off x="548640" y="1115568"/>
            <a:ext cx="8046720" cy="256032"/>
          </a:xfrm>
          <a:prstGeom prst="rect">
            <a:avLst/>
          </a:prstGeom>
          <a:noFill/>
          <a:ln/>
        </p:spPr>
        <p:txBody>
          <a:bodyPr wrap="square" lIns="0" tIns="0" rIns="0" bIns="0" rtlCol="0" anchor="ctr"/>
          <a:lstStyle/>
          <a:p>
            <a:pPr indent="0" marL="0">
              <a:buNone/>
            </a:pPr>
            <a:r>
              <a:rPr lang="en-US" sz="1100" dirty="0">
                <a:solidFill>
                  <a:srgbClr val="F59E0B"/>
                </a:solidFill>
                <a:latin typeface="Consolas" pitchFamily="34" charset="0"/>
                <a:ea typeface="Consolas" pitchFamily="34" charset="-122"/>
                <a:cs typeface="Consolas" pitchFamily="34" charset="-120"/>
              </a:rPr>
              <a:t>    --gpu-memory-utilization 0.90 \</a:t>
            </a:r>
            <a:endParaRPr lang="en-US" sz="1100" dirty="0"/>
          </a:p>
        </p:txBody>
      </p:sp>
      <p:sp>
        <p:nvSpPr>
          <p:cNvPr id="7" name="Text 5"/>
          <p:cNvSpPr/>
          <p:nvPr/>
        </p:nvSpPr>
        <p:spPr>
          <a:xfrm>
            <a:off x="548640" y="1371600"/>
            <a:ext cx="8046720" cy="256032"/>
          </a:xfrm>
          <a:prstGeom prst="rect">
            <a:avLst/>
          </a:prstGeom>
          <a:noFill/>
          <a:ln/>
        </p:spPr>
        <p:txBody>
          <a:bodyPr wrap="square" lIns="0" tIns="0" rIns="0" bIns="0" rtlCol="0" anchor="ctr"/>
          <a:lstStyle/>
          <a:p>
            <a:pPr indent="0" marL="0">
              <a:buNone/>
            </a:pPr>
            <a:r>
              <a:rPr lang="en-US" sz="1100" dirty="0">
                <a:solidFill>
                  <a:srgbClr val="10B981"/>
                </a:solidFill>
                <a:latin typeface="Consolas" pitchFamily="34" charset="0"/>
                <a:ea typeface="Consolas" pitchFamily="34" charset="-122"/>
                <a:cs typeface="Consolas" pitchFamily="34" charset="-120"/>
              </a:rPr>
              <a:t>    --max-num-batched-tokens 8192 --tensor-parallel-size 4</a:t>
            </a:r>
            <a:endParaRPr lang="en-US" sz="1100" dirty="0"/>
          </a:p>
        </p:txBody>
      </p:sp>
      <p:sp>
        <p:nvSpPr>
          <p:cNvPr id="8" name="Shape 6"/>
          <p:cNvSpPr/>
          <p:nvPr/>
        </p:nvSpPr>
        <p:spPr>
          <a:xfrm>
            <a:off x="365760" y="1920240"/>
            <a:ext cx="8412480" cy="548640"/>
          </a:xfrm>
          <a:prstGeom prst="rect">
            <a:avLst/>
          </a:prstGeom>
          <a:solidFill>
            <a:srgbClr val="1E2F47"/>
          </a:solidFill>
          <a:ln w="12700">
            <a:solidFill>
              <a:srgbClr val="162236"/>
            </a:solidFill>
            <a:prstDash val="solid"/>
          </a:ln>
        </p:spPr>
      </p:sp>
      <p:sp>
        <p:nvSpPr>
          <p:cNvPr id="9" name="Text 7"/>
          <p:cNvSpPr/>
          <p:nvPr/>
        </p:nvSpPr>
        <p:spPr>
          <a:xfrm>
            <a:off x="457200" y="1920240"/>
            <a:ext cx="2926080" cy="548640"/>
          </a:xfrm>
          <a:prstGeom prst="rect">
            <a:avLst/>
          </a:prstGeom>
          <a:noFill/>
          <a:ln/>
        </p:spPr>
        <p:txBody>
          <a:bodyPr wrap="square" lIns="63500" tIns="63500" rIns="63500" bIns="63500" rtlCol="0" anchor="ctr"/>
          <a:lstStyle/>
          <a:p>
            <a:pPr indent="0" marL="0">
              <a:buNone/>
            </a:pPr>
            <a:r>
              <a:rPr lang="en-US" sz="1100" b="1" dirty="0">
                <a:solidFill>
                  <a:srgbClr val="F59E0B"/>
                </a:solidFill>
                <a:latin typeface="Consolas" pitchFamily="34" charset="0"/>
                <a:ea typeface="Consolas" pitchFamily="34" charset="-122"/>
                <a:cs typeface="Consolas" pitchFamily="34" charset="-120"/>
              </a:rPr>
              <a:t>--gpu-memory-utilization</a:t>
            </a:r>
            <a:endParaRPr lang="en-US" sz="1100" dirty="0"/>
          </a:p>
        </p:txBody>
      </p:sp>
      <p:sp>
        <p:nvSpPr>
          <p:cNvPr id="10" name="Shape 8"/>
          <p:cNvSpPr/>
          <p:nvPr/>
        </p:nvSpPr>
        <p:spPr>
          <a:xfrm>
            <a:off x="3429000" y="2029968"/>
            <a:ext cx="685800" cy="329184"/>
          </a:xfrm>
          <a:prstGeom prst="rect">
            <a:avLst/>
          </a:prstGeom>
          <a:solidFill>
            <a:srgbClr val="F59E0B">
              <a:alpha val="70000"/>
            </a:srgbClr>
          </a:solidFill>
          <a:ln w="12700">
            <a:solidFill>
              <a:srgbClr val="F59E0B"/>
            </a:solidFill>
            <a:prstDash val="solid"/>
          </a:ln>
        </p:spPr>
      </p:sp>
      <p:sp>
        <p:nvSpPr>
          <p:cNvPr id="11" name="Text 9"/>
          <p:cNvSpPr/>
          <p:nvPr/>
        </p:nvSpPr>
        <p:spPr>
          <a:xfrm>
            <a:off x="3429000" y="2029968"/>
            <a:ext cx="685800" cy="329184"/>
          </a:xfrm>
          <a:prstGeom prst="rect">
            <a:avLst/>
          </a:prstGeom>
          <a:noFill/>
          <a:ln/>
        </p:spPr>
        <p:txBody>
          <a:bodyPr wrap="square" lIns="0" tIns="0" rIns="0" bIns="0" rtlCol="0" anchor="ctr"/>
          <a:lstStyle/>
          <a:p>
            <a:pPr algn="ctr" indent="0" marL="0">
              <a:buNone/>
            </a:pPr>
            <a:r>
              <a:rPr lang="en-US" sz="1100" b="1" dirty="0">
                <a:solidFill>
                  <a:srgbClr val="FFFFFF"/>
                </a:solidFill>
              </a:rPr>
              <a:t>0.90</a:t>
            </a:r>
            <a:endParaRPr lang="en-US" sz="1100" dirty="0"/>
          </a:p>
        </p:txBody>
      </p:sp>
      <p:sp>
        <p:nvSpPr>
          <p:cNvPr id="12" name="Text 10"/>
          <p:cNvSpPr/>
          <p:nvPr/>
        </p:nvSpPr>
        <p:spPr>
          <a:xfrm>
            <a:off x="4206240" y="1920240"/>
            <a:ext cx="4434840" cy="548640"/>
          </a:xfrm>
          <a:prstGeom prst="rect">
            <a:avLst/>
          </a:prstGeom>
          <a:noFill/>
          <a:ln/>
        </p:spPr>
        <p:txBody>
          <a:bodyPr wrap="square" lIns="63500" tIns="63500" rIns="63500" bIns="63500" rtlCol="0" anchor="ctr"/>
          <a:lstStyle/>
          <a:p>
            <a:pPr indent="0" marL="0">
              <a:buNone/>
            </a:pPr>
            <a:r>
              <a:rPr lang="en-US" sz="1100" dirty="0">
                <a:solidFill>
                  <a:srgbClr val="94A3B8"/>
                </a:solidFill>
              </a:rPr>
              <a:t>Tỉ lệ VRAM dành cho vLLM engine (0.0–1.0). Đặt quá cao → OOM. Thường dùng 0.85–0.92.</a:t>
            </a:r>
            <a:endParaRPr lang="en-US" sz="1100" dirty="0"/>
          </a:p>
        </p:txBody>
      </p:sp>
      <p:sp>
        <p:nvSpPr>
          <p:cNvPr id="13" name="Shape 11"/>
          <p:cNvSpPr/>
          <p:nvPr/>
        </p:nvSpPr>
        <p:spPr>
          <a:xfrm>
            <a:off x="365760" y="2542032"/>
            <a:ext cx="8412480" cy="548640"/>
          </a:xfrm>
          <a:prstGeom prst="rect">
            <a:avLst/>
          </a:prstGeom>
          <a:solidFill>
            <a:srgbClr val="1E2F47"/>
          </a:solidFill>
          <a:ln w="12700">
            <a:solidFill>
              <a:srgbClr val="162236"/>
            </a:solidFill>
            <a:prstDash val="solid"/>
          </a:ln>
        </p:spPr>
      </p:sp>
      <p:sp>
        <p:nvSpPr>
          <p:cNvPr id="14" name="Text 12"/>
          <p:cNvSpPr/>
          <p:nvPr/>
        </p:nvSpPr>
        <p:spPr>
          <a:xfrm>
            <a:off x="457200" y="2542032"/>
            <a:ext cx="2926080" cy="548640"/>
          </a:xfrm>
          <a:prstGeom prst="rect">
            <a:avLst/>
          </a:prstGeom>
          <a:noFill/>
          <a:ln/>
        </p:spPr>
        <p:txBody>
          <a:bodyPr wrap="square" lIns="63500" tIns="63500" rIns="63500" bIns="63500" rtlCol="0" anchor="ctr"/>
          <a:lstStyle/>
          <a:p>
            <a:pPr indent="0" marL="0">
              <a:buNone/>
            </a:pPr>
            <a:r>
              <a:rPr lang="en-US" sz="1100" b="1" dirty="0">
                <a:solidFill>
                  <a:srgbClr val="10B981"/>
                </a:solidFill>
                <a:latin typeface="Consolas" pitchFamily="34" charset="0"/>
                <a:ea typeface="Consolas" pitchFamily="34" charset="-122"/>
                <a:cs typeface="Consolas" pitchFamily="34" charset="-120"/>
              </a:rPr>
              <a:t>--max-num-batched-tokens</a:t>
            </a:r>
            <a:endParaRPr lang="en-US" sz="1100" dirty="0"/>
          </a:p>
        </p:txBody>
      </p:sp>
      <p:sp>
        <p:nvSpPr>
          <p:cNvPr id="15" name="Shape 13"/>
          <p:cNvSpPr/>
          <p:nvPr/>
        </p:nvSpPr>
        <p:spPr>
          <a:xfrm>
            <a:off x="3429000" y="2651760"/>
            <a:ext cx="685800" cy="329184"/>
          </a:xfrm>
          <a:prstGeom prst="rect">
            <a:avLst/>
          </a:prstGeom>
          <a:solidFill>
            <a:srgbClr val="10B981">
              <a:alpha val="70000"/>
            </a:srgbClr>
          </a:solidFill>
          <a:ln w="12700">
            <a:solidFill>
              <a:srgbClr val="10B981"/>
            </a:solidFill>
            <a:prstDash val="solid"/>
          </a:ln>
        </p:spPr>
      </p:sp>
      <p:sp>
        <p:nvSpPr>
          <p:cNvPr id="16" name="Text 14"/>
          <p:cNvSpPr/>
          <p:nvPr/>
        </p:nvSpPr>
        <p:spPr>
          <a:xfrm>
            <a:off x="3429000" y="2651760"/>
            <a:ext cx="685800" cy="329184"/>
          </a:xfrm>
          <a:prstGeom prst="rect">
            <a:avLst/>
          </a:prstGeom>
          <a:noFill/>
          <a:ln/>
        </p:spPr>
        <p:txBody>
          <a:bodyPr wrap="square" lIns="0" tIns="0" rIns="0" bIns="0" rtlCol="0" anchor="ctr"/>
          <a:lstStyle/>
          <a:p>
            <a:pPr algn="ctr" indent="0" marL="0">
              <a:buNone/>
            </a:pPr>
            <a:r>
              <a:rPr lang="en-US" sz="1100" b="1" dirty="0">
                <a:solidFill>
                  <a:srgbClr val="FFFFFF"/>
                </a:solidFill>
              </a:rPr>
              <a:t>8192</a:t>
            </a:r>
            <a:endParaRPr lang="en-US" sz="1100" dirty="0"/>
          </a:p>
        </p:txBody>
      </p:sp>
      <p:sp>
        <p:nvSpPr>
          <p:cNvPr id="17" name="Text 15"/>
          <p:cNvSpPr/>
          <p:nvPr/>
        </p:nvSpPr>
        <p:spPr>
          <a:xfrm>
            <a:off x="4206240" y="2542032"/>
            <a:ext cx="4434840" cy="548640"/>
          </a:xfrm>
          <a:prstGeom prst="rect">
            <a:avLst/>
          </a:prstGeom>
          <a:noFill/>
          <a:ln/>
        </p:spPr>
        <p:txBody>
          <a:bodyPr wrap="square" lIns="63500" tIns="63500" rIns="63500" bIns="63500" rtlCol="0" anchor="ctr"/>
          <a:lstStyle/>
          <a:p>
            <a:pPr indent="0" marL="0">
              <a:buNone/>
            </a:pPr>
            <a:r>
              <a:rPr lang="en-US" sz="1100" dirty="0">
                <a:solidFill>
                  <a:srgbClr val="94A3B8"/>
                </a:solidFill>
              </a:rPr>
              <a:t>Ngân sách token tổng cho mỗi iteration. Tăng → throughput tốt hơn nhưng latency cao hơn.</a:t>
            </a:r>
            <a:endParaRPr lang="en-US" sz="1100" dirty="0"/>
          </a:p>
        </p:txBody>
      </p:sp>
      <p:sp>
        <p:nvSpPr>
          <p:cNvPr id="18" name="Shape 16"/>
          <p:cNvSpPr/>
          <p:nvPr/>
        </p:nvSpPr>
        <p:spPr>
          <a:xfrm>
            <a:off x="365760" y="3163824"/>
            <a:ext cx="8412480" cy="548640"/>
          </a:xfrm>
          <a:prstGeom prst="rect">
            <a:avLst/>
          </a:prstGeom>
          <a:solidFill>
            <a:srgbClr val="1E2F47"/>
          </a:solidFill>
          <a:ln w="12700">
            <a:solidFill>
              <a:srgbClr val="162236"/>
            </a:solidFill>
            <a:prstDash val="solid"/>
          </a:ln>
        </p:spPr>
      </p:sp>
      <p:sp>
        <p:nvSpPr>
          <p:cNvPr id="19" name="Text 17"/>
          <p:cNvSpPr/>
          <p:nvPr/>
        </p:nvSpPr>
        <p:spPr>
          <a:xfrm>
            <a:off x="457200" y="3163824"/>
            <a:ext cx="2926080" cy="548640"/>
          </a:xfrm>
          <a:prstGeom prst="rect">
            <a:avLst/>
          </a:prstGeom>
          <a:noFill/>
          <a:ln/>
        </p:spPr>
        <p:txBody>
          <a:bodyPr wrap="square" lIns="63500" tIns="63500" rIns="63500" bIns="63500" rtlCol="0" anchor="ctr"/>
          <a:lstStyle/>
          <a:p>
            <a:pPr indent="0" marL="0">
              <a:buNone/>
            </a:pPr>
            <a:r>
              <a:rPr lang="en-US" sz="1100" b="1" dirty="0">
                <a:solidFill>
                  <a:srgbClr val="00D4FF"/>
                </a:solidFill>
                <a:latin typeface="Consolas" pitchFamily="34" charset="0"/>
                <a:ea typeface="Consolas" pitchFamily="34" charset="-122"/>
                <a:cs typeface="Consolas" pitchFamily="34" charset="-120"/>
              </a:rPr>
              <a:t>--tensor-parallel-size</a:t>
            </a:r>
            <a:endParaRPr lang="en-US" sz="1100" dirty="0"/>
          </a:p>
        </p:txBody>
      </p:sp>
      <p:sp>
        <p:nvSpPr>
          <p:cNvPr id="20" name="Shape 18"/>
          <p:cNvSpPr/>
          <p:nvPr/>
        </p:nvSpPr>
        <p:spPr>
          <a:xfrm>
            <a:off x="3429000" y="3273552"/>
            <a:ext cx="685800" cy="329184"/>
          </a:xfrm>
          <a:prstGeom prst="rect">
            <a:avLst/>
          </a:prstGeom>
          <a:solidFill>
            <a:srgbClr val="00D4FF">
              <a:alpha val="70000"/>
            </a:srgbClr>
          </a:solidFill>
          <a:ln w="12700">
            <a:solidFill>
              <a:srgbClr val="00D4FF"/>
            </a:solidFill>
            <a:prstDash val="solid"/>
          </a:ln>
        </p:spPr>
      </p:sp>
      <p:sp>
        <p:nvSpPr>
          <p:cNvPr id="21" name="Text 19"/>
          <p:cNvSpPr/>
          <p:nvPr/>
        </p:nvSpPr>
        <p:spPr>
          <a:xfrm>
            <a:off x="3429000" y="3273552"/>
            <a:ext cx="685800" cy="329184"/>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22" name="Text 20"/>
          <p:cNvSpPr/>
          <p:nvPr/>
        </p:nvSpPr>
        <p:spPr>
          <a:xfrm>
            <a:off x="4206240" y="3163824"/>
            <a:ext cx="4434840" cy="548640"/>
          </a:xfrm>
          <a:prstGeom prst="rect">
            <a:avLst/>
          </a:prstGeom>
          <a:noFill/>
          <a:ln/>
        </p:spPr>
        <p:txBody>
          <a:bodyPr wrap="square" lIns="63500" tIns="63500" rIns="63500" bIns="63500" rtlCol="0" anchor="ctr"/>
          <a:lstStyle/>
          <a:p>
            <a:pPr indent="0" marL="0">
              <a:buNone/>
            </a:pPr>
            <a:r>
              <a:rPr lang="en-US" sz="1100" dirty="0">
                <a:solidFill>
                  <a:srgbClr val="94A3B8"/>
                </a:solidFill>
              </a:rPr>
              <a:t>Số GPU để chia model theo chiều Tensor Parallelism. Phải là ước số của num_attention_heads.</a:t>
            </a:r>
            <a:endParaRPr lang="en-US" sz="1100" dirty="0"/>
          </a:p>
        </p:txBody>
      </p:sp>
      <p:sp>
        <p:nvSpPr>
          <p:cNvPr id="23" name="Shape 21"/>
          <p:cNvSpPr/>
          <p:nvPr/>
        </p:nvSpPr>
        <p:spPr>
          <a:xfrm>
            <a:off x="365760" y="3785616"/>
            <a:ext cx="8412480" cy="548640"/>
          </a:xfrm>
          <a:prstGeom prst="rect">
            <a:avLst/>
          </a:prstGeom>
          <a:solidFill>
            <a:srgbClr val="1E2F47"/>
          </a:solidFill>
          <a:ln w="12700">
            <a:solidFill>
              <a:srgbClr val="162236"/>
            </a:solidFill>
            <a:prstDash val="solid"/>
          </a:ln>
        </p:spPr>
      </p:sp>
      <p:sp>
        <p:nvSpPr>
          <p:cNvPr id="24" name="Text 22"/>
          <p:cNvSpPr/>
          <p:nvPr/>
        </p:nvSpPr>
        <p:spPr>
          <a:xfrm>
            <a:off x="457200" y="3785616"/>
            <a:ext cx="2926080" cy="548640"/>
          </a:xfrm>
          <a:prstGeom prst="rect">
            <a:avLst/>
          </a:prstGeom>
          <a:noFill/>
          <a:ln/>
        </p:spPr>
        <p:txBody>
          <a:bodyPr wrap="square" lIns="63500" tIns="63500" rIns="63500" bIns="63500" rtlCol="0" anchor="ctr"/>
          <a:lstStyle/>
          <a:p>
            <a:pPr indent="0" marL="0">
              <a:buNone/>
            </a:pPr>
            <a:r>
              <a:rPr lang="en-US" sz="1100" b="1" dirty="0">
                <a:solidFill>
                  <a:srgbClr val="7C3AED"/>
                </a:solidFill>
                <a:latin typeface="Consolas" pitchFamily="34" charset="0"/>
                <a:ea typeface="Consolas" pitchFamily="34" charset="-122"/>
                <a:cs typeface="Consolas" pitchFamily="34" charset="-120"/>
              </a:rPr>
              <a:t>--max-model-len</a:t>
            </a:r>
            <a:endParaRPr lang="en-US" sz="1100" dirty="0"/>
          </a:p>
        </p:txBody>
      </p:sp>
      <p:sp>
        <p:nvSpPr>
          <p:cNvPr id="25" name="Shape 23"/>
          <p:cNvSpPr/>
          <p:nvPr/>
        </p:nvSpPr>
        <p:spPr>
          <a:xfrm>
            <a:off x="3429000" y="3895344"/>
            <a:ext cx="685800" cy="329184"/>
          </a:xfrm>
          <a:prstGeom prst="rect">
            <a:avLst/>
          </a:prstGeom>
          <a:solidFill>
            <a:srgbClr val="7C3AED">
              <a:alpha val="70000"/>
            </a:srgbClr>
          </a:solidFill>
          <a:ln w="12700">
            <a:solidFill>
              <a:srgbClr val="7C3AED"/>
            </a:solidFill>
            <a:prstDash val="solid"/>
          </a:ln>
        </p:spPr>
      </p:sp>
      <p:sp>
        <p:nvSpPr>
          <p:cNvPr id="26" name="Text 24"/>
          <p:cNvSpPr/>
          <p:nvPr/>
        </p:nvSpPr>
        <p:spPr>
          <a:xfrm>
            <a:off x="3429000" y="3895344"/>
            <a:ext cx="685800" cy="329184"/>
          </a:xfrm>
          <a:prstGeom prst="rect">
            <a:avLst/>
          </a:prstGeom>
          <a:noFill/>
          <a:ln/>
        </p:spPr>
        <p:txBody>
          <a:bodyPr wrap="square" lIns="0" tIns="0" rIns="0" bIns="0" rtlCol="0" anchor="ctr"/>
          <a:lstStyle/>
          <a:p>
            <a:pPr algn="ctr" indent="0" marL="0">
              <a:buNone/>
            </a:pPr>
            <a:r>
              <a:rPr lang="en-US" sz="1100" b="1" dirty="0">
                <a:solidFill>
                  <a:srgbClr val="FFFFFF"/>
                </a:solidFill>
              </a:rPr>
              <a:t>32768</a:t>
            </a:r>
            <a:endParaRPr lang="en-US" sz="1100" dirty="0"/>
          </a:p>
        </p:txBody>
      </p:sp>
      <p:sp>
        <p:nvSpPr>
          <p:cNvPr id="27" name="Text 25"/>
          <p:cNvSpPr/>
          <p:nvPr/>
        </p:nvSpPr>
        <p:spPr>
          <a:xfrm>
            <a:off x="4206240" y="3785616"/>
            <a:ext cx="4434840" cy="548640"/>
          </a:xfrm>
          <a:prstGeom prst="rect">
            <a:avLst/>
          </a:prstGeom>
          <a:noFill/>
          <a:ln/>
        </p:spPr>
        <p:txBody>
          <a:bodyPr wrap="square" lIns="63500" tIns="63500" rIns="63500" bIns="63500" rtlCol="0" anchor="ctr"/>
          <a:lstStyle/>
          <a:p>
            <a:pPr indent="0" marL="0">
              <a:buNone/>
            </a:pPr>
            <a:r>
              <a:rPr lang="en-US" sz="1100" dirty="0">
                <a:solidFill>
                  <a:srgbClr val="94A3B8"/>
                </a:solidFill>
              </a:rPr>
              <a:t>Context length tối đa mà server chấp nhận. Giảm để tiết kiệm KV Cache VRAM.</a:t>
            </a:r>
            <a:endParaRPr lang="en-US" sz="1100" dirty="0"/>
          </a:p>
        </p:txBody>
      </p:sp>
      <p:sp>
        <p:nvSpPr>
          <p:cNvPr id="28" name="Text 26"/>
          <p:cNvSpPr/>
          <p:nvPr/>
        </p:nvSpPr>
        <p:spPr>
          <a:xfrm>
            <a:off x="365760" y="4480560"/>
            <a:ext cx="4114800" cy="320040"/>
          </a:xfrm>
          <a:prstGeom prst="rect">
            <a:avLst/>
          </a:prstGeom>
          <a:noFill/>
          <a:ln/>
        </p:spPr>
        <p:txBody>
          <a:bodyPr wrap="square" lIns="0" tIns="0" rIns="0" bIns="0" rtlCol="0" anchor="ctr"/>
          <a:lstStyle/>
          <a:p>
            <a:pPr indent="0" marL="0">
              <a:buNone/>
            </a:pPr>
            <a:r>
              <a:rPr lang="en-US" sz="1300" b="1" dirty="0">
                <a:solidFill>
                  <a:srgbClr val="F59E0B"/>
                </a:solidFill>
              </a:rPr>
              <a:t>📊 Metrics quan trọng cần theo dõi:</a:t>
            </a:r>
            <a:endParaRPr lang="en-US" sz="1300" dirty="0"/>
          </a:p>
        </p:txBody>
      </p:sp>
      <p:sp>
        <p:nvSpPr>
          <p:cNvPr id="29" name="Shape 27"/>
          <p:cNvSpPr/>
          <p:nvPr/>
        </p:nvSpPr>
        <p:spPr>
          <a:xfrm>
            <a:off x="365760" y="4828032"/>
            <a:ext cx="2697480" cy="0"/>
          </a:xfrm>
          <a:prstGeom prst="rect">
            <a:avLst/>
          </a:prstGeom>
          <a:solidFill>
            <a:srgbClr val="EF4444"/>
          </a:solidFill>
          <a:ln w="12700">
            <a:solidFill>
              <a:srgbClr val="EF4444"/>
            </a:solidFill>
            <a:prstDash val="solid"/>
          </a:ln>
        </p:spPr>
      </p:sp>
      <p:sp>
        <p:nvSpPr>
          <p:cNvPr id="30" name="Text 28"/>
          <p:cNvSpPr/>
          <p:nvPr/>
        </p:nvSpPr>
        <p:spPr>
          <a:xfrm>
            <a:off x="365760" y="4846320"/>
            <a:ext cx="2697480" cy="256032"/>
          </a:xfrm>
          <a:prstGeom prst="rect">
            <a:avLst/>
          </a:prstGeom>
          <a:noFill/>
          <a:ln/>
        </p:spPr>
        <p:txBody>
          <a:bodyPr wrap="square" lIns="0" tIns="0" rIns="0" bIns="0" rtlCol="0" anchor="ctr"/>
          <a:lstStyle/>
          <a:p>
            <a:pPr indent="0" marL="0">
              <a:buNone/>
            </a:pPr>
            <a:r>
              <a:rPr lang="en-US" sz="1000" b="1" dirty="0">
                <a:solidFill>
                  <a:srgbClr val="EF4444"/>
                </a:solidFill>
                <a:latin typeface="Consolas" pitchFamily="34" charset="0"/>
                <a:ea typeface="Consolas" pitchFamily="34" charset="-122"/>
                <a:cs typeface="Consolas" pitchFamily="34" charset="-120"/>
              </a:rPr>
              <a:t>gpu_cache_usage_perc</a:t>
            </a:r>
            <a:endParaRPr lang="en-US" sz="1000" dirty="0"/>
          </a:p>
        </p:txBody>
      </p:sp>
      <p:sp>
        <p:nvSpPr>
          <p:cNvPr id="31" name="Shape 29"/>
          <p:cNvSpPr/>
          <p:nvPr/>
        </p:nvSpPr>
        <p:spPr>
          <a:xfrm>
            <a:off x="3200400" y="4828032"/>
            <a:ext cx="2697480" cy="0"/>
          </a:xfrm>
          <a:prstGeom prst="rect">
            <a:avLst/>
          </a:prstGeom>
          <a:solidFill>
            <a:srgbClr val="F59E0B"/>
          </a:solidFill>
          <a:ln w="12700">
            <a:solidFill>
              <a:srgbClr val="F59E0B"/>
            </a:solidFill>
            <a:prstDash val="solid"/>
          </a:ln>
        </p:spPr>
      </p:sp>
      <p:sp>
        <p:nvSpPr>
          <p:cNvPr id="32" name="Text 30"/>
          <p:cNvSpPr/>
          <p:nvPr/>
        </p:nvSpPr>
        <p:spPr>
          <a:xfrm>
            <a:off x="3200400" y="4846320"/>
            <a:ext cx="2697480" cy="256032"/>
          </a:xfrm>
          <a:prstGeom prst="rect">
            <a:avLst/>
          </a:prstGeom>
          <a:noFill/>
          <a:ln/>
        </p:spPr>
        <p:txBody>
          <a:bodyPr wrap="square" lIns="0" tIns="0" rIns="0" bIns="0" rtlCol="0" anchor="ctr"/>
          <a:lstStyle/>
          <a:p>
            <a:pPr indent="0" marL="0">
              <a:buNone/>
            </a:pPr>
            <a:r>
              <a:rPr lang="en-US" sz="1000" b="1" dirty="0">
                <a:solidFill>
                  <a:srgbClr val="F59E0B"/>
                </a:solidFill>
                <a:latin typeface="Consolas" pitchFamily="34" charset="0"/>
                <a:ea typeface="Consolas" pitchFamily="34" charset="-122"/>
                <a:cs typeface="Consolas" pitchFamily="34" charset="-120"/>
              </a:rPr>
              <a:t>num_requests_waiting</a:t>
            </a:r>
            <a:endParaRPr lang="en-US" sz="1000" dirty="0"/>
          </a:p>
        </p:txBody>
      </p:sp>
      <p:sp>
        <p:nvSpPr>
          <p:cNvPr id="33" name="Shape 31"/>
          <p:cNvSpPr/>
          <p:nvPr/>
        </p:nvSpPr>
        <p:spPr>
          <a:xfrm>
            <a:off x="6035040" y="4828032"/>
            <a:ext cx="2697480" cy="0"/>
          </a:xfrm>
          <a:prstGeom prst="rect">
            <a:avLst/>
          </a:prstGeom>
          <a:solidFill>
            <a:srgbClr val="10B981"/>
          </a:solidFill>
          <a:ln w="12700">
            <a:solidFill>
              <a:srgbClr val="10B981"/>
            </a:solidFill>
            <a:prstDash val="solid"/>
          </a:ln>
        </p:spPr>
      </p:sp>
      <p:sp>
        <p:nvSpPr>
          <p:cNvPr id="34" name="Text 32"/>
          <p:cNvSpPr/>
          <p:nvPr/>
        </p:nvSpPr>
        <p:spPr>
          <a:xfrm>
            <a:off x="6035040" y="4846320"/>
            <a:ext cx="2697480" cy="256032"/>
          </a:xfrm>
          <a:prstGeom prst="rect">
            <a:avLst/>
          </a:prstGeom>
          <a:noFill/>
          <a:ln/>
        </p:spPr>
        <p:txBody>
          <a:bodyPr wrap="square" lIns="0" tIns="0" rIns="0" bIns="0" rtlCol="0" anchor="ctr"/>
          <a:lstStyle/>
          <a:p>
            <a:pPr indent="0" marL="0">
              <a:buNone/>
            </a:pPr>
            <a:r>
              <a:rPr lang="en-US" sz="1000" b="1" dirty="0">
                <a:solidFill>
                  <a:srgbClr val="10B981"/>
                </a:solidFill>
                <a:latin typeface="Consolas" pitchFamily="34" charset="0"/>
                <a:ea typeface="Consolas" pitchFamily="34" charset="-122"/>
                <a:cs typeface="Consolas" pitchFamily="34" charset="-120"/>
              </a:rPr>
              <a:t>time_to_first_token</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w="12700">
            <a:solidFill>
              <a:srgbClr val="00D4FF"/>
            </a:solidFill>
            <a:prstDash val="solid"/>
          </a:ln>
        </p:spPr>
      </p:sp>
      <p:sp>
        <p:nvSpPr>
          <p:cNvPr id="3" name="Text 1"/>
          <p:cNvSpPr/>
          <p:nvPr/>
        </p:nvSpPr>
        <p:spPr>
          <a:xfrm>
            <a:off x="365760" y="137160"/>
            <a:ext cx="8412480" cy="548640"/>
          </a:xfrm>
          <a:prstGeom prst="rect">
            <a:avLst/>
          </a:prstGeom>
          <a:noFill/>
          <a:ln/>
        </p:spPr>
        <p:txBody>
          <a:bodyPr wrap="square" lIns="0" tIns="0" rIns="0" bIns="0" rtlCol="0" anchor="ctr"/>
          <a:lstStyle/>
          <a:p>
            <a:pPr indent="0" marL="0">
              <a:buNone/>
            </a:pPr>
            <a:r>
              <a:rPr lang="en-US" sz="2800" b="1" dirty="0">
                <a:solidFill>
                  <a:srgbClr val="F0F6FF"/>
                </a:solidFill>
                <a:latin typeface="Calibri" pitchFamily="34" charset="0"/>
                <a:ea typeface="Calibri" pitchFamily="34" charset="-122"/>
                <a:cs typeface="Calibri" pitchFamily="34" charset="-120"/>
              </a:rPr>
              <a:t>🎯 Kết Luận &amp; Câu Hỏi Thảo Luận</a:t>
            </a:r>
            <a:endParaRPr lang="en-US" sz="2800" dirty="0"/>
          </a:p>
        </p:txBody>
      </p:sp>
      <p:sp>
        <p:nvSpPr>
          <p:cNvPr id="4" name="Shape 2"/>
          <p:cNvSpPr/>
          <p:nvPr/>
        </p:nvSpPr>
        <p:spPr>
          <a:xfrm>
            <a:off x="365760" y="868680"/>
            <a:ext cx="6400800" cy="749808"/>
          </a:xfrm>
          <a:prstGeom prst="rect">
            <a:avLst/>
          </a:prstGeom>
          <a:solidFill>
            <a:srgbClr val="1E2F47"/>
          </a:solidFill>
          <a:ln w="12700">
            <a:solidFill>
              <a:srgbClr val="00D4FF"/>
            </a:solidFill>
            <a:prstDash val="solid"/>
          </a:ln>
          <a:effectLst>
            <a:outerShdw sx="100000" sy="100000" kx="0" ky="0" algn="bl" rotWithShape="0" blurRad="101600" dist="38100" dir="8100000">
              <a:srgbClr val="000000">
                <a:alpha val="25000"/>
              </a:srgbClr>
            </a:outerShdw>
          </a:effectLst>
        </p:spPr>
      </p:sp>
      <p:sp>
        <p:nvSpPr>
          <p:cNvPr id="5" name="Shape 3"/>
          <p:cNvSpPr/>
          <p:nvPr/>
        </p:nvSpPr>
        <p:spPr>
          <a:xfrm>
            <a:off x="457200" y="978408"/>
            <a:ext cx="502920" cy="502920"/>
          </a:xfrm>
          <a:prstGeom prst="ellipse">
            <a:avLst/>
          </a:prstGeom>
          <a:solidFill>
            <a:srgbClr val="00D4FF"/>
          </a:solidFill>
          <a:ln w="12700">
            <a:solidFill>
              <a:srgbClr val="00D4FF"/>
            </a:solidFill>
            <a:prstDash val="solid"/>
          </a:ln>
        </p:spPr>
      </p:sp>
      <p:sp>
        <p:nvSpPr>
          <p:cNvPr id="6" name="Text 4"/>
          <p:cNvSpPr/>
          <p:nvPr/>
        </p:nvSpPr>
        <p:spPr>
          <a:xfrm>
            <a:off x="457200" y="978408"/>
            <a:ext cx="502920" cy="502920"/>
          </a:xfrm>
          <a:prstGeom prst="rect">
            <a:avLst/>
          </a:prstGeom>
          <a:noFill/>
          <a:ln/>
        </p:spPr>
        <p:txBody>
          <a:bodyPr wrap="square" lIns="0" tIns="0" rIns="0" bIns="0" rtlCol="0" anchor="ctr"/>
          <a:lstStyle/>
          <a:p>
            <a:pPr algn="ctr" indent="0" marL="0">
              <a:buNone/>
            </a:pPr>
            <a:r>
              <a:rPr lang="en-US" sz="1600" b="1" dirty="0">
                <a:solidFill>
                  <a:srgbClr val="0F1B2D"/>
                </a:solidFill>
              </a:rPr>
              <a:t>1</a:t>
            </a:r>
            <a:endParaRPr lang="en-US" sz="1600" dirty="0"/>
          </a:p>
        </p:txBody>
      </p:sp>
      <p:sp>
        <p:nvSpPr>
          <p:cNvPr id="7" name="Text 5"/>
          <p:cNvSpPr/>
          <p:nvPr/>
        </p:nvSpPr>
        <p:spPr>
          <a:xfrm>
            <a:off x="1051560" y="914400"/>
            <a:ext cx="5577840" cy="301752"/>
          </a:xfrm>
          <a:prstGeom prst="rect">
            <a:avLst/>
          </a:prstGeom>
          <a:noFill/>
          <a:ln/>
        </p:spPr>
        <p:txBody>
          <a:bodyPr wrap="square" lIns="0" tIns="0" rIns="0" bIns="0" rtlCol="0" anchor="ctr"/>
          <a:lstStyle/>
          <a:p>
            <a:pPr indent="0" marL="0">
              <a:buNone/>
            </a:pPr>
            <a:r>
              <a:rPr lang="en-US" sz="1300" b="1" dirty="0">
                <a:solidFill>
                  <a:srgbClr val="00D4FF"/>
                </a:solidFill>
              </a:rPr>
              <a:t>PagedAttention = Bộ nhớ ảo cho LLM</a:t>
            </a:r>
            <a:endParaRPr lang="en-US" sz="1300" dirty="0"/>
          </a:p>
        </p:txBody>
      </p:sp>
      <p:sp>
        <p:nvSpPr>
          <p:cNvPr id="8" name="Text 6"/>
          <p:cNvSpPr/>
          <p:nvPr/>
        </p:nvSpPr>
        <p:spPr>
          <a:xfrm>
            <a:off x="1051560" y="1216152"/>
            <a:ext cx="5577840" cy="347472"/>
          </a:xfrm>
          <a:prstGeom prst="rect">
            <a:avLst/>
          </a:prstGeom>
          <a:noFill/>
          <a:ln/>
        </p:spPr>
        <p:txBody>
          <a:bodyPr wrap="square" lIns="0" tIns="0" rIns="0" bIns="0" rtlCol="0" anchor="ctr"/>
          <a:lstStyle/>
          <a:p>
            <a:pPr indent="0" marL="0">
              <a:buNone/>
            </a:pPr>
            <a:r>
              <a:rPr lang="en-US" sz="1100" dirty="0">
                <a:solidFill>
                  <a:srgbClr val="94A3B8"/>
                </a:solidFill>
              </a:rPr>
              <a:t>Biến VRAM từ tài nguyên cấp phát tĩnh thành pool bộ nhớ ảo động — loại bỏ 60–80% lãng phí.</a:t>
            </a:r>
            <a:endParaRPr lang="en-US" sz="1100" dirty="0"/>
          </a:p>
        </p:txBody>
      </p:sp>
      <p:sp>
        <p:nvSpPr>
          <p:cNvPr id="9" name="Shape 7"/>
          <p:cNvSpPr/>
          <p:nvPr/>
        </p:nvSpPr>
        <p:spPr>
          <a:xfrm>
            <a:off x="365760" y="1737360"/>
            <a:ext cx="6400800" cy="749808"/>
          </a:xfrm>
          <a:prstGeom prst="rect">
            <a:avLst/>
          </a:prstGeom>
          <a:solidFill>
            <a:srgbClr val="1E2F47"/>
          </a:solidFill>
          <a:ln w="12700">
            <a:solidFill>
              <a:srgbClr val="10B981"/>
            </a:solidFill>
            <a:prstDash val="solid"/>
          </a:ln>
          <a:effectLst>
            <a:outerShdw sx="100000" sy="100000" kx="0" ky="0" algn="bl" rotWithShape="0" blurRad="101600" dist="38100" dir="8100000">
              <a:srgbClr val="000000">
                <a:alpha val="25000"/>
              </a:srgbClr>
            </a:outerShdw>
          </a:effectLst>
        </p:spPr>
      </p:sp>
      <p:sp>
        <p:nvSpPr>
          <p:cNvPr id="10" name="Shape 8"/>
          <p:cNvSpPr/>
          <p:nvPr/>
        </p:nvSpPr>
        <p:spPr>
          <a:xfrm>
            <a:off x="457200" y="1847088"/>
            <a:ext cx="502920" cy="502920"/>
          </a:xfrm>
          <a:prstGeom prst="ellipse">
            <a:avLst/>
          </a:prstGeom>
          <a:solidFill>
            <a:srgbClr val="10B981"/>
          </a:solidFill>
          <a:ln w="12700">
            <a:solidFill>
              <a:srgbClr val="10B981"/>
            </a:solidFill>
            <a:prstDash val="solid"/>
          </a:ln>
        </p:spPr>
      </p:sp>
      <p:sp>
        <p:nvSpPr>
          <p:cNvPr id="11" name="Text 9"/>
          <p:cNvSpPr/>
          <p:nvPr/>
        </p:nvSpPr>
        <p:spPr>
          <a:xfrm>
            <a:off x="457200" y="1847088"/>
            <a:ext cx="502920" cy="502920"/>
          </a:xfrm>
          <a:prstGeom prst="rect">
            <a:avLst/>
          </a:prstGeom>
          <a:noFill/>
          <a:ln/>
        </p:spPr>
        <p:txBody>
          <a:bodyPr wrap="square" lIns="0" tIns="0" rIns="0" bIns="0" rtlCol="0" anchor="ctr"/>
          <a:lstStyle/>
          <a:p>
            <a:pPr algn="ctr" indent="0" marL="0">
              <a:buNone/>
            </a:pPr>
            <a:r>
              <a:rPr lang="en-US" sz="1600" b="1" dirty="0">
                <a:solidFill>
                  <a:srgbClr val="0F1B2D"/>
                </a:solidFill>
              </a:rPr>
              <a:t>2</a:t>
            </a:r>
            <a:endParaRPr lang="en-US" sz="1600" dirty="0"/>
          </a:p>
        </p:txBody>
      </p:sp>
      <p:sp>
        <p:nvSpPr>
          <p:cNvPr id="12" name="Text 10"/>
          <p:cNvSpPr/>
          <p:nvPr/>
        </p:nvSpPr>
        <p:spPr>
          <a:xfrm>
            <a:off x="1051560" y="1783080"/>
            <a:ext cx="5577840" cy="301752"/>
          </a:xfrm>
          <a:prstGeom prst="rect">
            <a:avLst/>
          </a:prstGeom>
          <a:noFill/>
          <a:ln/>
        </p:spPr>
        <p:txBody>
          <a:bodyPr wrap="square" lIns="0" tIns="0" rIns="0" bIns="0" rtlCol="0" anchor="ctr"/>
          <a:lstStyle/>
          <a:p>
            <a:pPr indent="0" marL="0">
              <a:buNone/>
            </a:pPr>
            <a:r>
              <a:rPr lang="en-US" sz="1300" b="1" dirty="0">
                <a:solidFill>
                  <a:srgbClr val="10B981"/>
                </a:solidFill>
              </a:rPr>
              <a:t>vLLM = Lựa chọn Production hàng đầu</a:t>
            </a:r>
            <a:endParaRPr lang="en-US" sz="1300" dirty="0"/>
          </a:p>
        </p:txBody>
      </p:sp>
      <p:sp>
        <p:nvSpPr>
          <p:cNvPr id="13" name="Text 11"/>
          <p:cNvSpPr/>
          <p:nvPr/>
        </p:nvSpPr>
        <p:spPr>
          <a:xfrm>
            <a:off x="1051560" y="2084832"/>
            <a:ext cx="5577840" cy="347472"/>
          </a:xfrm>
          <a:prstGeom prst="rect">
            <a:avLst/>
          </a:prstGeom>
          <a:noFill/>
          <a:ln/>
        </p:spPr>
        <p:txBody>
          <a:bodyPr wrap="square" lIns="0" tIns="0" rIns="0" bIns="0" rtlCol="0" anchor="ctr"/>
          <a:lstStyle/>
          <a:p>
            <a:pPr indent="0" marL="0">
              <a:buNone/>
            </a:pPr>
            <a:r>
              <a:rPr lang="en-US" sz="1100" dirty="0">
                <a:solidFill>
                  <a:srgbClr val="94A3B8"/>
                </a:solidFill>
              </a:rPr>
              <a:t>Throughput cao nhất, hỗ trợ nhiều model, API tương thích OpenAI, dễ tích hợp vào hệ thống thực.</a:t>
            </a:r>
            <a:endParaRPr lang="en-US" sz="1100" dirty="0"/>
          </a:p>
        </p:txBody>
      </p:sp>
      <p:sp>
        <p:nvSpPr>
          <p:cNvPr id="14" name="Shape 12"/>
          <p:cNvSpPr/>
          <p:nvPr/>
        </p:nvSpPr>
        <p:spPr>
          <a:xfrm>
            <a:off x="365760" y="2606040"/>
            <a:ext cx="6400800" cy="749808"/>
          </a:xfrm>
          <a:prstGeom prst="rect">
            <a:avLst/>
          </a:prstGeom>
          <a:solidFill>
            <a:srgbClr val="1E2F47"/>
          </a:solidFill>
          <a:ln w="12700">
            <a:solidFill>
              <a:srgbClr val="7C3AED"/>
            </a:solidFill>
            <a:prstDash val="solid"/>
          </a:ln>
          <a:effectLst>
            <a:outerShdw sx="100000" sy="100000" kx="0" ky="0" algn="bl" rotWithShape="0" blurRad="101600" dist="38100" dir="8100000">
              <a:srgbClr val="000000">
                <a:alpha val="25000"/>
              </a:srgbClr>
            </a:outerShdw>
          </a:effectLst>
        </p:spPr>
      </p:sp>
      <p:sp>
        <p:nvSpPr>
          <p:cNvPr id="15" name="Shape 13"/>
          <p:cNvSpPr/>
          <p:nvPr/>
        </p:nvSpPr>
        <p:spPr>
          <a:xfrm>
            <a:off x="457200" y="2715768"/>
            <a:ext cx="502920" cy="502920"/>
          </a:xfrm>
          <a:prstGeom prst="ellipse">
            <a:avLst/>
          </a:prstGeom>
          <a:solidFill>
            <a:srgbClr val="7C3AED"/>
          </a:solidFill>
          <a:ln w="12700">
            <a:solidFill>
              <a:srgbClr val="7C3AED"/>
            </a:solidFill>
            <a:prstDash val="solid"/>
          </a:ln>
        </p:spPr>
      </p:sp>
      <p:sp>
        <p:nvSpPr>
          <p:cNvPr id="16" name="Text 14"/>
          <p:cNvSpPr/>
          <p:nvPr/>
        </p:nvSpPr>
        <p:spPr>
          <a:xfrm>
            <a:off x="457200" y="2715768"/>
            <a:ext cx="502920" cy="502920"/>
          </a:xfrm>
          <a:prstGeom prst="rect">
            <a:avLst/>
          </a:prstGeom>
          <a:noFill/>
          <a:ln/>
        </p:spPr>
        <p:txBody>
          <a:bodyPr wrap="square" lIns="0" tIns="0" rIns="0" bIns="0" rtlCol="0" anchor="ctr"/>
          <a:lstStyle/>
          <a:p>
            <a:pPr algn="ctr" indent="0" marL="0">
              <a:buNone/>
            </a:pPr>
            <a:r>
              <a:rPr lang="en-US" sz="1600" b="1" dirty="0">
                <a:solidFill>
                  <a:srgbClr val="0F1B2D"/>
                </a:solidFill>
              </a:rPr>
              <a:t>3</a:t>
            </a:r>
            <a:endParaRPr lang="en-US" sz="1600" dirty="0"/>
          </a:p>
        </p:txBody>
      </p:sp>
      <p:sp>
        <p:nvSpPr>
          <p:cNvPr id="17" name="Text 15"/>
          <p:cNvSpPr/>
          <p:nvPr/>
        </p:nvSpPr>
        <p:spPr>
          <a:xfrm>
            <a:off x="1051560" y="2651760"/>
            <a:ext cx="5577840" cy="301752"/>
          </a:xfrm>
          <a:prstGeom prst="rect">
            <a:avLst/>
          </a:prstGeom>
          <a:noFill/>
          <a:ln/>
        </p:spPr>
        <p:txBody>
          <a:bodyPr wrap="square" lIns="0" tIns="0" rIns="0" bIns="0" rtlCol="0" anchor="ctr"/>
          <a:lstStyle/>
          <a:p>
            <a:pPr indent="0" marL="0">
              <a:buNone/>
            </a:pPr>
            <a:r>
              <a:rPr lang="en-US" sz="1300" b="1" dirty="0">
                <a:solidFill>
                  <a:srgbClr val="7C3AED"/>
                </a:solidFill>
              </a:rPr>
              <a:t>Prefix Caching = Sức mạnh Chatbot</a:t>
            </a:r>
            <a:endParaRPr lang="en-US" sz="1300" dirty="0"/>
          </a:p>
        </p:txBody>
      </p:sp>
      <p:sp>
        <p:nvSpPr>
          <p:cNvPr id="18" name="Text 16"/>
          <p:cNvSpPr/>
          <p:nvPr/>
        </p:nvSpPr>
        <p:spPr>
          <a:xfrm>
            <a:off x="1051560" y="2953512"/>
            <a:ext cx="5577840" cy="347472"/>
          </a:xfrm>
          <a:prstGeom prst="rect">
            <a:avLst/>
          </a:prstGeom>
          <a:noFill/>
          <a:ln/>
        </p:spPr>
        <p:txBody>
          <a:bodyPr wrap="square" lIns="0" tIns="0" rIns="0" bIns="0" rtlCol="0" anchor="ctr"/>
          <a:lstStyle/>
          <a:p>
            <a:pPr indent="0" marL="0">
              <a:buNone/>
            </a:pPr>
            <a:r>
              <a:rPr lang="en-US" sz="1100" dirty="0">
                <a:solidFill>
                  <a:srgbClr val="94A3B8"/>
                </a:solidFill>
              </a:rPr>
              <a:t>Tái sử dụng KV Cache của system prompt → giảm TTFT và VRAM cho ứng dụng hội thoại nhiều lượt.</a:t>
            </a:r>
            <a:endParaRPr lang="en-US" sz="1100" dirty="0"/>
          </a:p>
        </p:txBody>
      </p:sp>
      <p:sp>
        <p:nvSpPr>
          <p:cNvPr id="19" name="Shape 17"/>
          <p:cNvSpPr/>
          <p:nvPr/>
        </p:nvSpPr>
        <p:spPr>
          <a:xfrm>
            <a:off x="365760" y="3474720"/>
            <a:ext cx="6400800" cy="749808"/>
          </a:xfrm>
          <a:prstGeom prst="rect">
            <a:avLst/>
          </a:prstGeom>
          <a:solidFill>
            <a:srgbClr val="1E2F47"/>
          </a:solidFill>
          <a:ln w="12700">
            <a:solidFill>
              <a:srgbClr val="F59E0B"/>
            </a:solidFill>
            <a:prstDash val="solid"/>
          </a:ln>
          <a:effectLst>
            <a:outerShdw sx="100000" sy="100000" kx="0" ky="0" algn="bl" rotWithShape="0" blurRad="101600" dist="38100" dir="8100000">
              <a:srgbClr val="000000">
                <a:alpha val="25000"/>
              </a:srgbClr>
            </a:outerShdw>
          </a:effectLst>
        </p:spPr>
      </p:sp>
      <p:sp>
        <p:nvSpPr>
          <p:cNvPr id="20" name="Shape 18"/>
          <p:cNvSpPr/>
          <p:nvPr/>
        </p:nvSpPr>
        <p:spPr>
          <a:xfrm>
            <a:off x="457200" y="3584448"/>
            <a:ext cx="502920" cy="502920"/>
          </a:xfrm>
          <a:prstGeom prst="ellipse">
            <a:avLst/>
          </a:prstGeom>
          <a:solidFill>
            <a:srgbClr val="F59E0B"/>
          </a:solidFill>
          <a:ln w="12700">
            <a:solidFill>
              <a:srgbClr val="F59E0B"/>
            </a:solidFill>
            <a:prstDash val="solid"/>
          </a:ln>
        </p:spPr>
      </p:sp>
      <p:sp>
        <p:nvSpPr>
          <p:cNvPr id="21" name="Text 19"/>
          <p:cNvSpPr/>
          <p:nvPr/>
        </p:nvSpPr>
        <p:spPr>
          <a:xfrm>
            <a:off x="457200" y="3584448"/>
            <a:ext cx="502920" cy="502920"/>
          </a:xfrm>
          <a:prstGeom prst="rect">
            <a:avLst/>
          </a:prstGeom>
          <a:noFill/>
          <a:ln/>
        </p:spPr>
        <p:txBody>
          <a:bodyPr wrap="square" lIns="0" tIns="0" rIns="0" bIns="0" rtlCol="0" anchor="ctr"/>
          <a:lstStyle/>
          <a:p>
            <a:pPr algn="ctr" indent="0" marL="0">
              <a:buNone/>
            </a:pPr>
            <a:r>
              <a:rPr lang="en-US" sz="1600" b="1" dirty="0">
                <a:solidFill>
                  <a:srgbClr val="0F1B2D"/>
                </a:solidFill>
              </a:rPr>
              <a:t>4</a:t>
            </a:r>
            <a:endParaRPr lang="en-US" sz="1600" dirty="0"/>
          </a:p>
        </p:txBody>
      </p:sp>
      <p:sp>
        <p:nvSpPr>
          <p:cNvPr id="22" name="Text 20"/>
          <p:cNvSpPr/>
          <p:nvPr/>
        </p:nvSpPr>
        <p:spPr>
          <a:xfrm>
            <a:off x="1051560" y="3520440"/>
            <a:ext cx="5577840" cy="301752"/>
          </a:xfrm>
          <a:prstGeom prst="rect">
            <a:avLst/>
          </a:prstGeom>
          <a:noFill/>
          <a:ln/>
        </p:spPr>
        <p:txBody>
          <a:bodyPr wrap="square" lIns="0" tIns="0" rIns="0" bIns="0" rtlCol="0" anchor="ctr"/>
          <a:lstStyle/>
          <a:p>
            <a:pPr indent="0" marL="0">
              <a:buNone/>
            </a:pPr>
            <a:r>
              <a:rPr lang="en-US" sz="1300" b="1" dirty="0">
                <a:solidFill>
                  <a:srgbClr val="F59E0B"/>
                </a:solidFill>
              </a:rPr>
              <a:t>FP8 KV Cache = Mở rộng Long Context</a:t>
            </a:r>
            <a:endParaRPr lang="en-US" sz="1300" dirty="0"/>
          </a:p>
        </p:txBody>
      </p:sp>
      <p:sp>
        <p:nvSpPr>
          <p:cNvPr id="23" name="Text 21"/>
          <p:cNvSpPr/>
          <p:nvPr/>
        </p:nvSpPr>
        <p:spPr>
          <a:xfrm>
            <a:off x="1051560" y="3822192"/>
            <a:ext cx="5577840" cy="347472"/>
          </a:xfrm>
          <a:prstGeom prst="rect">
            <a:avLst/>
          </a:prstGeom>
          <a:noFill/>
          <a:ln/>
        </p:spPr>
        <p:txBody>
          <a:bodyPr wrap="square" lIns="0" tIns="0" rIns="0" bIns="0" rtlCol="0" anchor="ctr"/>
          <a:lstStyle/>
          <a:p>
            <a:pPr indent="0" marL="0">
              <a:buNone/>
            </a:pPr>
            <a:r>
              <a:rPr lang="en-US" sz="1100" dirty="0">
                <a:solidFill>
                  <a:srgbClr val="94A3B8"/>
                </a:solidFill>
              </a:rPr>
              <a:t>Nén KV Cache 50% mà không giảm chất lượng — chìa khóa cho ứng dụng 128K+ context length.</a:t>
            </a:r>
            <a:endParaRPr lang="en-US" sz="1100" dirty="0"/>
          </a:p>
        </p:txBody>
      </p:sp>
      <p:sp>
        <p:nvSpPr>
          <p:cNvPr id="24" name="Shape 22"/>
          <p:cNvSpPr/>
          <p:nvPr/>
        </p:nvSpPr>
        <p:spPr>
          <a:xfrm>
            <a:off x="6903720" y="822960"/>
            <a:ext cx="1920240" cy="3520440"/>
          </a:xfrm>
          <a:prstGeom prst="rect">
            <a:avLst/>
          </a:prstGeom>
          <a:solidFill>
            <a:srgbClr val="001A1A"/>
          </a:solidFill>
          <a:ln w="12700">
            <a:solidFill>
              <a:srgbClr val="00D4FF"/>
            </a:solidFill>
            <a:prstDash val="solid"/>
          </a:ln>
          <a:effectLst>
            <a:outerShdw sx="100000" sy="100000" kx="0" ky="0" algn="bl" rotWithShape="0" blurRad="101600" dist="38100" dir="8100000">
              <a:srgbClr val="000000">
                <a:alpha val="25000"/>
              </a:srgbClr>
            </a:outerShdw>
          </a:effectLst>
        </p:spPr>
      </p:sp>
      <p:sp>
        <p:nvSpPr>
          <p:cNvPr id="25" name="Text 23"/>
          <p:cNvSpPr/>
          <p:nvPr/>
        </p:nvSpPr>
        <p:spPr>
          <a:xfrm>
            <a:off x="6903720" y="960120"/>
            <a:ext cx="1920240" cy="41148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26" name="Text 24"/>
          <p:cNvSpPr/>
          <p:nvPr/>
        </p:nvSpPr>
        <p:spPr>
          <a:xfrm>
            <a:off x="6903720" y="1371600"/>
            <a:ext cx="1920240" cy="502920"/>
          </a:xfrm>
          <a:prstGeom prst="rect">
            <a:avLst/>
          </a:prstGeom>
          <a:noFill/>
          <a:ln/>
        </p:spPr>
        <p:txBody>
          <a:bodyPr wrap="square" lIns="0" tIns="0" rIns="0" bIns="0" rtlCol="0" anchor="ctr"/>
          <a:lstStyle/>
          <a:p>
            <a:pPr algn="ctr" indent="0" marL="0">
              <a:buNone/>
            </a:pPr>
            <a:r>
              <a:rPr lang="en-US" sz="1300" b="1" dirty="0">
                <a:solidFill>
                  <a:srgbClr val="00D4FF"/>
                </a:solidFill>
              </a:rPr>
              <a:t>Câu hỏi</a:t>
            </a:r>
            <a:endParaRPr lang="en-US" sz="1300" dirty="0"/>
          </a:p>
          <a:p>
            <a:pPr algn="ctr" indent="0" marL="0">
              <a:buNone/>
            </a:pPr>
            <a:r>
              <a:rPr lang="en-US" sz="1300" b="1" dirty="0">
                <a:solidFill>
                  <a:srgbClr val="00D4FF"/>
                </a:solidFill>
              </a:rPr>
              <a:t>thảo luận</a:t>
            </a:r>
            <a:endParaRPr lang="en-US" sz="1300" dirty="0"/>
          </a:p>
        </p:txBody>
      </p:sp>
      <p:sp>
        <p:nvSpPr>
          <p:cNvPr id="27" name="Text 25"/>
          <p:cNvSpPr/>
          <p:nvPr/>
        </p:nvSpPr>
        <p:spPr>
          <a:xfrm>
            <a:off x="6949440" y="1965960"/>
            <a:ext cx="1828800" cy="2103120"/>
          </a:xfrm>
          <a:prstGeom prst="rect">
            <a:avLst/>
          </a:prstGeom>
          <a:noFill/>
          <a:ln/>
        </p:spPr>
        <p:txBody>
          <a:bodyPr wrap="square" lIns="63500" tIns="63500" rIns="63500" bIns="63500" rtlCol="0" anchor="ctr"/>
          <a:lstStyle/>
          <a:p>
            <a:pPr indent="0" marL="0">
              <a:buNone/>
            </a:pPr>
            <a:r>
              <a:rPr lang="en-US" sz="1100" dirty="0">
                <a:solidFill>
                  <a:srgbClr val="F0F6FF"/>
                </a:solidFill>
              </a:rPr>
              <a:t>Tại sao PagedAttention đặc biệt hữu ích cho Chatbot nhiều lượt?</a:t>
            </a:r>
            <a:endParaRPr lang="en-US" sz="1100" dirty="0"/>
          </a:p>
          <a:p>
            <a:pPr indent="0" marL="0">
              <a:buNone/>
            </a:pPr>
            <a:endParaRPr lang="en-US" sz="1100" dirty="0"/>
          </a:p>
          <a:p>
            <a:pPr indent="0" marL="0">
              <a:buNone/>
            </a:pPr>
            <a:r>
              <a:rPr lang="en-US" sz="1100" dirty="0">
                <a:solidFill>
                  <a:srgbClr val="F0F6FF"/>
                </a:solidFill>
              </a:rPr>
              <a:t>→ Gợi ý: Prefix Caching &amp; lịch sử hội thoại</a:t>
            </a:r>
            <a:endParaRPr lang="en-US" sz="1100" dirty="0"/>
          </a:p>
        </p:txBody>
      </p:sp>
      <p:sp>
        <p:nvSpPr>
          <p:cNvPr id="28" name="Shape 26"/>
          <p:cNvSpPr/>
          <p:nvPr/>
        </p:nvSpPr>
        <p:spPr>
          <a:xfrm>
            <a:off x="365760" y="4663440"/>
            <a:ext cx="8412480" cy="347472"/>
          </a:xfrm>
          <a:prstGeom prst="rect">
            <a:avLst/>
          </a:prstGeom>
          <a:solidFill>
            <a:srgbClr val="1E2F47"/>
          </a:solidFill>
          <a:ln w="12700">
            <a:solidFill>
              <a:srgbClr val="7C3AED"/>
            </a:solidFill>
            <a:prstDash val="solid"/>
          </a:ln>
        </p:spPr>
      </p:sp>
      <p:sp>
        <p:nvSpPr>
          <p:cNvPr id="29" name="Text 27"/>
          <p:cNvSpPr/>
          <p:nvPr/>
        </p:nvSpPr>
        <p:spPr>
          <a:xfrm>
            <a:off x="502920" y="4700016"/>
            <a:ext cx="2286000" cy="256032"/>
          </a:xfrm>
          <a:prstGeom prst="rect">
            <a:avLst/>
          </a:prstGeom>
          <a:noFill/>
          <a:ln/>
        </p:spPr>
        <p:txBody>
          <a:bodyPr wrap="square" lIns="0" tIns="0" rIns="0" bIns="0" rtlCol="0" anchor="ctr"/>
          <a:lstStyle/>
          <a:p>
            <a:pPr indent="0" marL="0">
              <a:buNone/>
            </a:pPr>
            <a:r>
              <a:rPr lang="en-US" sz="1200" b="1" dirty="0">
                <a:solidFill>
                  <a:srgbClr val="7C3AED"/>
                </a:solidFill>
              </a:rPr>
              <a:t>📅  Buổi 5 tiếp theo: </a:t>
            </a:r>
            <a:endParaRPr lang="en-US" sz="1200" dirty="0"/>
          </a:p>
        </p:txBody>
      </p:sp>
      <p:sp>
        <p:nvSpPr>
          <p:cNvPr id="30" name="Text 28"/>
          <p:cNvSpPr/>
          <p:nvPr/>
        </p:nvSpPr>
        <p:spPr>
          <a:xfrm>
            <a:off x="2560320" y="4700016"/>
            <a:ext cx="6217920" cy="256032"/>
          </a:xfrm>
          <a:prstGeom prst="rect">
            <a:avLst/>
          </a:prstGeom>
          <a:noFill/>
          <a:ln/>
        </p:spPr>
        <p:txBody>
          <a:bodyPr wrap="square" lIns="0" tIns="0" rIns="0" bIns="0" rtlCol="0" anchor="ctr"/>
          <a:lstStyle/>
          <a:p>
            <a:pPr indent="0" marL="0">
              <a:buNone/>
            </a:pPr>
            <a:r>
              <a:rPr lang="en-US" sz="1200" dirty="0">
                <a:solidFill>
                  <a:srgbClr val="94A3B8"/>
                </a:solidFill>
              </a:rPr>
              <a:t>Speculative Decoding &amp; Draft Models — Tăng tốc sinh token mà không đổi chất lượng</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PagedAttention &amp; vLLM</dc:title>
  <dc:subject>PptxGenJS Presentation</dc:subject>
  <dc:creator>PptxGenJS</dc:creator>
  <cp:lastModifiedBy>PptxGenJS</cp:lastModifiedBy>
  <cp:revision>1</cp:revision>
  <dcterms:created xsi:type="dcterms:W3CDTF">2026-04-26T03:19:40Z</dcterms:created>
  <dcterms:modified xsi:type="dcterms:W3CDTF">2026-04-26T03:19:40Z</dcterms:modified>
</cp:coreProperties>
</file>