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embeddedFontLst>
    <p:embeddedFont>
      <p:font typeface="Lato" panose="020F0502020204030203" pitchFamily="34" charset="0"/>
      <p:regular r:id="rId18"/>
      <p:bold r:id="rId19"/>
      <p:italic r:id="rId20"/>
      <p:boldItalic r:id="rId21"/>
    </p:embeddedFont>
    <p:embeddedFont>
      <p:font typeface="Poppins" panose="00000500000000000000" pitchFamily="2" charset="0"/>
      <p:regular r:id="rId22"/>
      <p:bold r:id="rId23"/>
      <p:italic r:id="rId24"/>
      <p:boldItalic r:id="rId25"/>
    </p:embeddedFont>
    <p:embeddedFont>
      <p:font typeface="Poppins Medium" panose="00000600000000000000" pitchFamily="2" charset="0"/>
      <p:regular r:id="rId26"/>
      <p:bold r:id="rId27"/>
      <p:italic r:id="rId28"/>
      <p:boldItalic r:id="rId29"/>
    </p:embeddedFont>
    <p:embeddedFont>
      <p:font typeface="Poppins SemiBold" panose="000007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75446E7-5FC3-43A6-A79D-7CABD8009FB7}">
  <a:tblStyle styleId="{D75446E7-5FC3-43A6-A79D-7CABD8009FB7}"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95275" y="1624161"/>
            <a:ext cx="11601450" cy="62865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500" b="1" i="0" u="none" strike="noStrike" cap="none">
                <a:solidFill>
                  <a:srgbClr val="3B82F6"/>
                </a:solidFill>
                <a:latin typeface="Poppins"/>
                <a:ea typeface="Poppins"/>
                <a:cs typeface="Poppins"/>
                <a:sym typeface="Poppins"/>
              </a:rPr>
              <a:t>Kiến trúc Microservices cho LLM</a:t>
            </a:r>
            <a:endParaRPr/>
          </a:p>
        </p:txBody>
      </p:sp>
      <p:sp>
        <p:nvSpPr>
          <p:cNvPr id="86" name="Google Shape;86;p13"/>
          <p:cNvSpPr txBox="1"/>
          <p:nvPr/>
        </p:nvSpPr>
        <p:spPr>
          <a:xfrm>
            <a:off x="3727251" y="2748111"/>
            <a:ext cx="4737496" cy="4875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b="0" i="0" u="none" strike="noStrike" cap="none">
                <a:solidFill>
                  <a:srgbClr val="F8FAFC"/>
                </a:solidFill>
                <a:latin typeface="Lato"/>
                <a:ea typeface="Lato"/>
                <a:cs typeface="Lato"/>
                <a:sym typeface="Lato"/>
              </a:rPr>
              <a:t>FastAPI, Redis và Quản lý đồng thời</a:t>
            </a:r>
            <a:endParaRPr/>
          </a:p>
        </p:txBody>
      </p:sp>
      <p:sp>
        <p:nvSpPr>
          <p:cNvPr id="87" name="Google Shape;87;p13"/>
          <p:cNvSpPr/>
          <p:nvPr/>
        </p:nvSpPr>
        <p:spPr>
          <a:xfrm>
            <a:off x="5381625" y="3616672"/>
            <a:ext cx="1428750" cy="47625"/>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 name="Google Shape;88;p13"/>
          <p:cNvSpPr txBox="1"/>
          <p:nvPr/>
        </p:nvSpPr>
        <p:spPr>
          <a:xfrm>
            <a:off x="2286000" y="4273897"/>
            <a:ext cx="7620000" cy="731341"/>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94A3B8"/>
                </a:solidFill>
                <a:latin typeface="Lato"/>
                <a:ea typeface="Lato"/>
                <a:cs typeface="Lato"/>
                <a:sym typeface="Lato"/>
              </a:rPr>
              <a:t>Xây dựng hệ thống suy luận LLM bền bỉ, có khả năng mở rộng hàng ngàn yêu cầu thông qua lập trình bất đồng bộ.</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571500" y="2457450"/>
            <a:ext cx="5286375" cy="2895600"/>
          </a:xfrm>
          <a:prstGeom prst="rect">
            <a:avLst/>
          </a:prstGeom>
          <a:noFill/>
          <a:ln>
            <a:noFill/>
          </a:ln>
        </p:spPr>
      </p:pic>
      <p:pic>
        <p:nvPicPr>
          <p:cNvPr id="95" name="Google Shape;95;p14" descr="image.png"/>
          <p:cNvPicPr preferRelativeResize="0"/>
          <p:nvPr/>
        </p:nvPicPr>
        <p:blipFill rotWithShape="1">
          <a:blip r:embed="rId5">
            <a:alphaModFix/>
          </a:blip>
          <a:srcRect/>
          <a:stretch/>
        </p:blipFill>
        <p:spPr>
          <a:xfrm>
            <a:off x="6334125" y="2457450"/>
            <a:ext cx="5286375" cy="2895600"/>
          </a:xfrm>
          <a:prstGeom prst="rect">
            <a:avLst/>
          </a:prstGeom>
          <a:noFill/>
          <a:ln>
            <a:noFill/>
          </a:ln>
        </p:spPr>
      </p:pic>
      <p:sp>
        <p:nvSpPr>
          <p:cNvPr id="96" name="Google Shape;96;p14"/>
          <p:cNvSpPr txBox="1"/>
          <p:nvPr/>
        </p:nvSpPr>
        <p:spPr>
          <a:xfrm>
            <a:off x="914400" y="2800350"/>
            <a:ext cx="4830603"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3B82F6"/>
                </a:solidFill>
                <a:latin typeface="Poppins"/>
                <a:ea typeface="Poppins"/>
                <a:cs typeface="Poppins"/>
                <a:sym typeface="Poppins"/>
              </a:rPr>
              <a:t>Vấn đề Đồng bộ (Sync)</a:t>
            </a:r>
            <a:endParaRPr/>
          </a:p>
        </p:txBody>
      </p:sp>
      <p:sp>
        <p:nvSpPr>
          <p:cNvPr id="97" name="Google Shape;97;p14"/>
          <p:cNvSpPr txBox="1"/>
          <p:nvPr/>
        </p:nvSpPr>
        <p:spPr>
          <a:xfrm>
            <a:off x="914400" y="3448050"/>
            <a:ext cx="46005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Lato"/>
                <a:ea typeface="Lato"/>
                <a:cs typeface="Lato"/>
                <a:sym typeface="Lato"/>
              </a:rPr>
              <a:t>Mỗi yêu cầu suy luận chiếm dụng một thread. Khi GPU xử lý chậm, pool thread cạn kiệt, dẫn đến treo toàn bộ API gateway.</a:t>
            </a:r>
            <a:endParaRPr/>
          </a:p>
        </p:txBody>
      </p:sp>
      <p:sp>
        <p:nvSpPr>
          <p:cNvPr id="98" name="Google Shape;98;p14"/>
          <p:cNvSpPr txBox="1"/>
          <p:nvPr/>
        </p:nvSpPr>
        <p:spPr>
          <a:xfrm>
            <a:off x="6677025" y="2800350"/>
            <a:ext cx="4830603"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3B82F6"/>
                </a:solidFill>
                <a:latin typeface="Poppins"/>
                <a:ea typeface="Poppins"/>
                <a:cs typeface="Poppins"/>
                <a:sym typeface="Poppins"/>
              </a:rPr>
              <a:t>Giải pháp Bất đồng bộ (Async)</a:t>
            </a:r>
            <a:endParaRPr/>
          </a:p>
        </p:txBody>
      </p:sp>
      <p:sp>
        <p:nvSpPr>
          <p:cNvPr id="99" name="Google Shape;99;p14"/>
          <p:cNvSpPr txBox="1"/>
          <p:nvPr/>
        </p:nvSpPr>
        <p:spPr>
          <a:xfrm>
            <a:off x="6677025" y="3905250"/>
            <a:ext cx="46005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Lato"/>
                <a:ea typeface="Lato"/>
                <a:cs typeface="Lato"/>
                <a:sym typeface="Lato"/>
              </a:rPr>
              <a:t>Event loop cho phép server nhận yêu cầu mới trong khi GPU vẫn đang sinh token. Tăng mật độ xử lý mà không cần tăng tài nguyên CPU.</a:t>
            </a:r>
            <a:endParaRPr/>
          </a:p>
        </p:txBody>
      </p:sp>
      <p:sp>
        <p:nvSpPr>
          <p:cNvPr id="100" name="Google Shape;100;p14"/>
          <p:cNvSpPr txBox="1"/>
          <p:nvPr/>
        </p:nvSpPr>
        <p:spPr>
          <a:xfrm>
            <a:off x="762000"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1F5F9"/>
                </a:solidFill>
                <a:latin typeface="Poppins Medium"/>
                <a:ea typeface="Poppins Medium"/>
                <a:cs typeface="Poppins Medium"/>
                <a:sym typeface="Poppins Medium"/>
              </a:rPr>
              <a:t>THÁCH THỨC CONCURRENCY TRONG LLM</a:t>
            </a:r>
            <a:endParaRPr/>
          </a:p>
        </p:txBody>
      </p:sp>
      <p:sp>
        <p:nvSpPr>
          <p:cNvPr id="101" name="Google Shape;101;p14"/>
          <p:cNvSpPr/>
          <p:nvPr/>
        </p:nvSpPr>
        <p:spPr>
          <a:xfrm>
            <a:off x="571500" y="571500"/>
            <a:ext cx="76200" cy="57150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05"/>
        <p:cNvGrpSpPr/>
        <p:nvPr/>
      </p:nvGrpSpPr>
      <p:grpSpPr>
        <a:xfrm>
          <a:off x="0" y="0"/>
          <a:ext cx="0" cy="0"/>
          <a:chOff x="0" y="0"/>
          <a:chExt cx="0" cy="0"/>
        </a:xfrm>
      </p:grpSpPr>
      <p:pic>
        <p:nvPicPr>
          <p:cNvPr id="106" name="Google Shape;106;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7" name="Google Shape;107;p15"/>
          <p:cNvSpPr txBox="1"/>
          <p:nvPr/>
        </p:nvSpPr>
        <p:spPr>
          <a:xfrm>
            <a:off x="1028700" y="2709862"/>
            <a:ext cx="81153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F1F5F9"/>
                </a:solidFill>
                <a:latin typeface="Lato"/>
                <a:ea typeface="Lato"/>
                <a:cs typeface="Lato"/>
                <a:sym typeface="Lato"/>
              </a:rPr>
              <a:t>Native Async Support:</a:t>
            </a:r>
            <a:r>
              <a:rPr lang="en-US" sz="1500" b="0" i="0" u="none" strike="noStrike" cap="none">
                <a:solidFill>
                  <a:srgbClr val="94A3B8"/>
                </a:solidFill>
                <a:latin typeface="Lato"/>
                <a:ea typeface="Lato"/>
                <a:cs typeface="Lato"/>
                <a:sym typeface="Lato"/>
              </a:rPr>
              <a:t> Quản lý hàng ngàn kết nối I/O trên một event loop duy nhất, lý tưởng cho streaming tokens.</a:t>
            </a:r>
            <a:endParaRPr/>
          </a:p>
        </p:txBody>
      </p:sp>
      <p:sp>
        <p:nvSpPr>
          <p:cNvPr id="108" name="Google Shape;108;p15"/>
          <p:cNvSpPr txBox="1"/>
          <p:nvPr/>
        </p:nvSpPr>
        <p:spPr>
          <a:xfrm>
            <a:off x="1066800" y="3557587"/>
            <a:ext cx="80772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F1F5F9"/>
                </a:solidFill>
                <a:latin typeface="Lato"/>
                <a:ea typeface="Lato"/>
                <a:cs typeface="Lato"/>
                <a:sym typeface="Lato"/>
              </a:rPr>
              <a:t>Pydantic Data Validation:</a:t>
            </a:r>
            <a:r>
              <a:rPr lang="en-US" sz="1500" b="0" i="0" u="none" strike="noStrike" cap="none">
                <a:solidFill>
                  <a:srgbClr val="94A3B8"/>
                </a:solidFill>
                <a:latin typeface="Lato"/>
                <a:ea typeface="Lato"/>
                <a:cs typeface="Lato"/>
                <a:sym typeface="Lato"/>
              </a:rPr>
              <a:t> Tự động kiểm soát kiểu dữ liệu cho prompt, temperature và max_tokens, giảm thiểu lỗi runtime.</a:t>
            </a:r>
            <a:endParaRPr/>
          </a:p>
        </p:txBody>
      </p:sp>
      <p:sp>
        <p:nvSpPr>
          <p:cNvPr id="109" name="Google Shape;109;p15"/>
          <p:cNvSpPr txBox="1"/>
          <p:nvPr/>
        </p:nvSpPr>
        <p:spPr>
          <a:xfrm>
            <a:off x="1066800" y="4405312"/>
            <a:ext cx="80772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F1F5F9"/>
                </a:solidFill>
                <a:latin typeface="Lato"/>
                <a:ea typeface="Lato"/>
                <a:cs typeface="Lato"/>
                <a:sym typeface="Lato"/>
              </a:rPr>
              <a:t>Hiệu năng cực cao:</a:t>
            </a:r>
            <a:r>
              <a:rPr lang="en-US" sz="1500" b="0" i="0" u="none" strike="noStrike" cap="none">
                <a:solidFill>
                  <a:srgbClr val="94A3B8"/>
                </a:solidFill>
                <a:latin typeface="Lato"/>
                <a:ea typeface="Lato"/>
                <a:cs typeface="Lato"/>
                <a:sym typeface="Lato"/>
              </a:rPr>
              <a:t> Top-tier benchmark trong các Python framework, tối ưu hóa việc đóng gói (wrapper) cho vLLM.</a:t>
            </a:r>
            <a:endParaRPr/>
          </a:p>
        </p:txBody>
      </p:sp>
      <p:pic>
        <p:nvPicPr>
          <p:cNvPr id="110" name="Google Shape;110;p15" descr="image.png"/>
          <p:cNvPicPr preferRelativeResize="0"/>
          <p:nvPr/>
        </p:nvPicPr>
        <p:blipFill rotWithShape="1">
          <a:blip r:embed="rId4">
            <a:alphaModFix/>
          </a:blip>
          <a:srcRect/>
          <a:stretch/>
        </p:blipFill>
        <p:spPr>
          <a:xfrm>
            <a:off x="571500" y="2747962"/>
            <a:ext cx="266700" cy="323850"/>
          </a:xfrm>
          <a:prstGeom prst="rect">
            <a:avLst/>
          </a:prstGeom>
          <a:noFill/>
          <a:ln>
            <a:noFill/>
          </a:ln>
        </p:spPr>
      </p:pic>
      <p:pic>
        <p:nvPicPr>
          <p:cNvPr id="111" name="Google Shape;111;p15" descr="image.png"/>
          <p:cNvPicPr preferRelativeResize="0"/>
          <p:nvPr/>
        </p:nvPicPr>
        <p:blipFill rotWithShape="1">
          <a:blip r:embed="rId5">
            <a:alphaModFix/>
          </a:blip>
          <a:srcRect/>
          <a:stretch/>
        </p:blipFill>
        <p:spPr>
          <a:xfrm>
            <a:off x="571500" y="3595687"/>
            <a:ext cx="304800" cy="323850"/>
          </a:xfrm>
          <a:prstGeom prst="rect">
            <a:avLst/>
          </a:prstGeom>
          <a:noFill/>
          <a:ln>
            <a:noFill/>
          </a:ln>
        </p:spPr>
      </p:pic>
      <p:pic>
        <p:nvPicPr>
          <p:cNvPr id="112" name="Google Shape;112;p15" descr="image.png"/>
          <p:cNvPicPr preferRelativeResize="0"/>
          <p:nvPr/>
        </p:nvPicPr>
        <p:blipFill rotWithShape="1">
          <a:blip r:embed="rId6">
            <a:alphaModFix/>
          </a:blip>
          <a:srcRect/>
          <a:stretch/>
        </p:blipFill>
        <p:spPr>
          <a:xfrm>
            <a:off x="571500" y="4443412"/>
            <a:ext cx="304800" cy="323850"/>
          </a:xfrm>
          <a:prstGeom prst="rect">
            <a:avLst/>
          </a:prstGeom>
          <a:noFill/>
          <a:ln>
            <a:noFill/>
          </a:ln>
        </p:spPr>
      </p:pic>
      <p:sp>
        <p:nvSpPr>
          <p:cNvPr id="113" name="Google Shape;113;p15"/>
          <p:cNvSpPr txBox="1"/>
          <p:nvPr/>
        </p:nvSpPr>
        <p:spPr>
          <a:xfrm>
            <a:off x="762000"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1F5F9"/>
                </a:solidFill>
                <a:latin typeface="Poppins Medium"/>
                <a:ea typeface="Poppins Medium"/>
                <a:cs typeface="Poppins Medium"/>
                <a:sym typeface="Poppins Medium"/>
              </a:rPr>
              <a:t>TẠI SAO CHỌN FASTAPI?</a:t>
            </a:r>
            <a:endParaRPr/>
          </a:p>
        </p:txBody>
      </p:sp>
      <p:sp>
        <p:nvSpPr>
          <p:cNvPr id="114" name="Google Shape;114;p15"/>
          <p:cNvSpPr/>
          <p:nvPr/>
        </p:nvSpPr>
        <p:spPr>
          <a:xfrm>
            <a:off x="571500" y="571500"/>
            <a:ext cx="76200" cy="57150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18"/>
        <p:cNvGrpSpPr/>
        <p:nvPr/>
      </p:nvGrpSpPr>
      <p:grpSpPr>
        <a:xfrm>
          <a:off x="0" y="0"/>
          <a:ext cx="0" cy="0"/>
          <a:chOff x="0" y="0"/>
          <a:chExt cx="0" cy="0"/>
        </a:xfrm>
      </p:grpSpPr>
      <p:pic>
        <p:nvPicPr>
          <p:cNvPr id="119" name="Google Shape;119;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0" name="Google Shape;120;p16"/>
          <p:cNvSpPr txBox="1"/>
          <p:nvPr/>
        </p:nvSpPr>
        <p:spPr>
          <a:xfrm>
            <a:off x="571500" y="476250"/>
            <a:ext cx="11049000" cy="4926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3200" b="0">
                <a:solidFill>
                  <a:srgbClr val="F1F5F9"/>
                </a:solidFill>
                <a:latin typeface="Poppins SemiBold"/>
                <a:ea typeface="Poppins SemiBold"/>
                <a:cs typeface="Poppins SemiBold"/>
                <a:sym typeface="Poppins SemiBold"/>
              </a:rPr>
              <a:t>Mô hình AsyncTaskFlow</a:t>
            </a:r>
            <a:endParaRPr sz="3200" b="0">
              <a:solidFill>
                <a:srgbClr val="F1F5F9"/>
              </a:solidFill>
              <a:latin typeface="Poppins SemiBold"/>
              <a:ea typeface="Poppins SemiBold"/>
              <a:cs typeface="Poppins SemiBold"/>
              <a:sym typeface="Poppins SemiBold"/>
            </a:endParaRPr>
          </a:p>
        </p:txBody>
      </p:sp>
      <p:grpSp>
        <p:nvGrpSpPr>
          <p:cNvPr id="121" name="Google Shape;121;p16"/>
          <p:cNvGrpSpPr/>
          <p:nvPr/>
        </p:nvGrpSpPr>
        <p:grpSpPr>
          <a:xfrm>
            <a:off x="571500" y="1428750"/>
            <a:ext cx="5143500" cy="4953000"/>
            <a:chOff x="571500" y="1428750"/>
            <a:chExt cx="5143500" cy="4953000"/>
          </a:xfrm>
        </p:grpSpPr>
        <p:sp>
          <p:nvSpPr>
            <p:cNvPr id="122" name="Google Shape;122;p16"/>
            <p:cNvSpPr/>
            <p:nvPr/>
          </p:nvSpPr>
          <p:spPr>
            <a:xfrm>
              <a:off x="571500" y="1428750"/>
              <a:ext cx="5143500" cy="4953000"/>
            </a:xfrm>
            <a:prstGeom prst="roundRect">
              <a:avLst>
                <a:gd name="adj" fmla="val 3076"/>
              </a:avLst>
            </a:prstGeom>
            <a:solidFill>
              <a:srgbClr val="1E293B">
                <a:alpha val="4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23" name="Google Shape;123;p16"/>
            <p:cNvGrpSpPr/>
            <p:nvPr/>
          </p:nvGrpSpPr>
          <p:grpSpPr>
            <a:xfrm>
              <a:off x="762000" y="1666875"/>
              <a:ext cx="4762500" cy="952500"/>
              <a:chOff x="762000" y="1666875"/>
              <a:chExt cx="4762500" cy="952500"/>
            </a:xfrm>
          </p:grpSpPr>
          <p:sp>
            <p:nvSpPr>
              <p:cNvPr id="124" name="Google Shape;124;p16"/>
              <p:cNvSpPr/>
              <p:nvPr/>
            </p:nvSpPr>
            <p:spPr>
              <a:xfrm>
                <a:off x="762000" y="1666875"/>
                <a:ext cx="457200" cy="457200"/>
              </a:xfrm>
              <a:prstGeom prst="roundRect">
                <a:avLst>
                  <a:gd name="adj" fmla="val 50000"/>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5" name="Google Shape;125;p16"/>
              <p:cNvSpPr txBox="1"/>
              <p:nvPr/>
            </p:nvSpPr>
            <p:spPr>
              <a:xfrm>
                <a:off x="762000" y="1666875"/>
                <a:ext cx="457200" cy="4572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FFFFFF"/>
                    </a:solidFill>
                    <a:latin typeface="Poppins"/>
                    <a:ea typeface="Poppins"/>
                    <a:cs typeface="Poppins"/>
                    <a:sym typeface="Poppins"/>
                  </a:rPr>
                  <a:t>1</a:t>
                </a:r>
                <a:endParaRPr sz="1800" b="1">
                  <a:solidFill>
                    <a:srgbClr val="FFFFFF"/>
                  </a:solidFill>
                  <a:latin typeface="Poppins"/>
                  <a:ea typeface="Poppins"/>
                  <a:cs typeface="Poppins"/>
                  <a:sym typeface="Poppins"/>
                </a:endParaRPr>
              </a:p>
            </p:txBody>
          </p:sp>
          <p:sp>
            <p:nvSpPr>
              <p:cNvPr id="126" name="Google Shape;126;p16"/>
              <p:cNvSpPr txBox="1"/>
              <p:nvPr/>
            </p:nvSpPr>
            <p:spPr>
              <a:xfrm>
                <a:off x="1371600" y="1666875"/>
                <a:ext cx="4152900" cy="95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3B82F6"/>
                    </a:solidFill>
                    <a:latin typeface="Poppins"/>
                    <a:ea typeface="Poppins"/>
                    <a:cs typeface="Poppins"/>
                    <a:sym typeface="Poppins"/>
                  </a:rPr>
                  <a:t>API Gateway (FastAPI)</a:t>
                </a:r>
                <a:endParaRPr sz="1800" b="1">
                  <a:solidFill>
                    <a:srgbClr val="3B82F6"/>
                  </a:solidFill>
                  <a:latin typeface="Poppins"/>
                  <a:ea typeface="Poppins"/>
                  <a:cs typeface="Poppins"/>
                  <a:sym typeface="Poppins"/>
                </a:endParaRPr>
              </a:p>
              <a:p>
                <a:pPr marL="0" lvl="0" indent="0" algn="l" rtl="0">
                  <a:spcBef>
                    <a:spcPts val="600"/>
                  </a:spcBef>
                  <a:spcAft>
                    <a:spcPts val="0"/>
                  </a:spcAft>
                  <a:buNone/>
                </a:pPr>
                <a:r>
                  <a:rPr lang="en-US" sz="1300">
                    <a:solidFill>
                      <a:srgbClr val="94A3B8"/>
                    </a:solidFill>
                    <a:latin typeface="Lato"/>
                    <a:ea typeface="Lato"/>
                    <a:cs typeface="Lato"/>
                    <a:sym typeface="Lato"/>
                  </a:rPr>
                  <a:t>Tiếp nhận, xác thực và đẩy yêu cầu vào hàng đợi Redis.</a:t>
                </a:r>
                <a:endParaRPr sz="1300">
                  <a:solidFill>
                    <a:srgbClr val="94A3B8"/>
                  </a:solidFill>
                  <a:latin typeface="Lato"/>
                  <a:ea typeface="Lato"/>
                  <a:cs typeface="Lato"/>
                  <a:sym typeface="Lato"/>
                </a:endParaRPr>
              </a:p>
            </p:txBody>
          </p:sp>
        </p:grpSp>
        <p:pic>
          <p:nvPicPr>
            <p:cNvPr id="127" name="Google Shape;127;p16"/>
            <p:cNvPicPr preferRelativeResize="0"/>
            <p:nvPr/>
          </p:nvPicPr>
          <p:blipFill rotWithShape="1">
            <a:blip r:embed="rId4">
              <a:alphaModFix/>
            </a:blip>
            <a:srcRect/>
            <a:stretch/>
          </p:blipFill>
          <p:spPr>
            <a:xfrm>
              <a:off x="981075" y="2124075"/>
              <a:ext cx="19200" cy="1181100"/>
            </a:xfrm>
            <a:prstGeom prst="rect">
              <a:avLst/>
            </a:prstGeom>
            <a:noFill/>
            <a:ln>
              <a:noFill/>
            </a:ln>
          </p:spPr>
        </p:pic>
        <p:grpSp>
          <p:nvGrpSpPr>
            <p:cNvPr id="128" name="Google Shape;128;p16"/>
            <p:cNvGrpSpPr/>
            <p:nvPr/>
          </p:nvGrpSpPr>
          <p:grpSpPr>
            <a:xfrm>
              <a:off x="762000" y="3333750"/>
              <a:ext cx="4762500" cy="952500"/>
              <a:chOff x="762000" y="3333750"/>
              <a:chExt cx="4762500" cy="952500"/>
            </a:xfrm>
          </p:grpSpPr>
          <p:sp>
            <p:nvSpPr>
              <p:cNvPr id="129" name="Google Shape;129;p16"/>
              <p:cNvSpPr/>
              <p:nvPr/>
            </p:nvSpPr>
            <p:spPr>
              <a:xfrm>
                <a:off x="762000" y="3333750"/>
                <a:ext cx="457200" cy="457200"/>
              </a:xfrm>
              <a:prstGeom prst="roundRect">
                <a:avLst>
                  <a:gd name="adj" fmla="val 50000"/>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0" name="Google Shape;130;p16"/>
              <p:cNvSpPr txBox="1"/>
              <p:nvPr/>
            </p:nvSpPr>
            <p:spPr>
              <a:xfrm>
                <a:off x="762000" y="3333750"/>
                <a:ext cx="457200" cy="4572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FFFFFF"/>
                    </a:solidFill>
                    <a:latin typeface="Poppins"/>
                    <a:ea typeface="Poppins"/>
                    <a:cs typeface="Poppins"/>
                    <a:sym typeface="Poppins"/>
                  </a:rPr>
                  <a:t>2</a:t>
                </a:r>
                <a:endParaRPr sz="1800" b="1">
                  <a:solidFill>
                    <a:srgbClr val="FFFFFF"/>
                  </a:solidFill>
                  <a:latin typeface="Poppins"/>
                  <a:ea typeface="Poppins"/>
                  <a:cs typeface="Poppins"/>
                  <a:sym typeface="Poppins"/>
                </a:endParaRPr>
              </a:p>
            </p:txBody>
          </p:sp>
          <p:sp>
            <p:nvSpPr>
              <p:cNvPr id="131" name="Google Shape;131;p16"/>
              <p:cNvSpPr txBox="1"/>
              <p:nvPr/>
            </p:nvSpPr>
            <p:spPr>
              <a:xfrm>
                <a:off x="1371600" y="3333750"/>
                <a:ext cx="4152900" cy="95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3B82F6"/>
                    </a:solidFill>
                    <a:latin typeface="Poppins"/>
                    <a:ea typeface="Poppins"/>
                    <a:cs typeface="Poppins"/>
                    <a:sym typeface="Poppins"/>
                  </a:rPr>
                  <a:t>Message Broker (Redis)</a:t>
                </a:r>
                <a:endParaRPr sz="1800" b="1">
                  <a:solidFill>
                    <a:srgbClr val="3B82F6"/>
                  </a:solidFill>
                  <a:latin typeface="Poppins"/>
                  <a:ea typeface="Poppins"/>
                  <a:cs typeface="Poppins"/>
                  <a:sym typeface="Poppins"/>
                </a:endParaRPr>
              </a:p>
              <a:p>
                <a:pPr marL="0" lvl="0" indent="0" algn="l" rtl="0">
                  <a:spcBef>
                    <a:spcPts val="600"/>
                  </a:spcBef>
                  <a:spcAft>
                    <a:spcPts val="0"/>
                  </a:spcAft>
                  <a:buNone/>
                </a:pPr>
                <a:r>
                  <a:rPr lang="en-US" sz="1300">
                    <a:solidFill>
                      <a:srgbClr val="94A3B8"/>
                    </a:solidFill>
                    <a:latin typeface="Lato"/>
                    <a:ea typeface="Lato"/>
                    <a:cs typeface="Lato"/>
                    <a:sym typeface="Lato"/>
                  </a:rPr>
                  <a:t>Hệ thống lưu trữ trung gian điều phối tác vụ giữa Gateway và Worker.</a:t>
                </a:r>
                <a:endParaRPr sz="1300">
                  <a:solidFill>
                    <a:srgbClr val="94A3B8"/>
                  </a:solidFill>
                  <a:latin typeface="Lato"/>
                  <a:ea typeface="Lato"/>
                  <a:cs typeface="Lato"/>
                  <a:sym typeface="Lato"/>
                </a:endParaRPr>
              </a:p>
            </p:txBody>
          </p:sp>
        </p:grpSp>
        <p:pic>
          <p:nvPicPr>
            <p:cNvPr id="132" name="Google Shape;132;p16"/>
            <p:cNvPicPr preferRelativeResize="0"/>
            <p:nvPr/>
          </p:nvPicPr>
          <p:blipFill rotWithShape="1">
            <a:blip r:embed="rId4">
              <a:alphaModFix/>
            </a:blip>
            <a:srcRect/>
            <a:stretch/>
          </p:blipFill>
          <p:spPr>
            <a:xfrm>
              <a:off x="981075" y="3790950"/>
              <a:ext cx="19200" cy="1181100"/>
            </a:xfrm>
            <a:prstGeom prst="rect">
              <a:avLst/>
            </a:prstGeom>
            <a:noFill/>
            <a:ln>
              <a:noFill/>
            </a:ln>
          </p:spPr>
        </p:pic>
        <p:grpSp>
          <p:nvGrpSpPr>
            <p:cNvPr id="133" name="Google Shape;133;p16"/>
            <p:cNvGrpSpPr/>
            <p:nvPr/>
          </p:nvGrpSpPr>
          <p:grpSpPr>
            <a:xfrm>
              <a:off x="762000" y="5000625"/>
              <a:ext cx="4762500" cy="952500"/>
              <a:chOff x="762000" y="5000625"/>
              <a:chExt cx="4762500" cy="952500"/>
            </a:xfrm>
          </p:grpSpPr>
          <p:sp>
            <p:nvSpPr>
              <p:cNvPr id="134" name="Google Shape;134;p16"/>
              <p:cNvSpPr/>
              <p:nvPr/>
            </p:nvSpPr>
            <p:spPr>
              <a:xfrm>
                <a:off x="762000" y="5000625"/>
                <a:ext cx="457200" cy="457200"/>
              </a:xfrm>
              <a:prstGeom prst="roundRect">
                <a:avLst>
                  <a:gd name="adj" fmla="val 50000"/>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5" name="Google Shape;135;p16"/>
              <p:cNvSpPr txBox="1"/>
              <p:nvPr/>
            </p:nvSpPr>
            <p:spPr>
              <a:xfrm>
                <a:off x="762000" y="5000625"/>
                <a:ext cx="457200" cy="4572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1">
                    <a:solidFill>
                      <a:srgbClr val="FFFFFF"/>
                    </a:solidFill>
                    <a:latin typeface="Poppins"/>
                    <a:ea typeface="Poppins"/>
                    <a:cs typeface="Poppins"/>
                    <a:sym typeface="Poppins"/>
                  </a:rPr>
                  <a:t>3</a:t>
                </a:r>
                <a:endParaRPr sz="1800" b="1">
                  <a:solidFill>
                    <a:srgbClr val="FFFFFF"/>
                  </a:solidFill>
                  <a:latin typeface="Poppins"/>
                  <a:ea typeface="Poppins"/>
                  <a:cs typeface="Poppins"/>
                  <a:sym typeface="Poppins"/>
                </a:endParaRPr>
              </a:p>
            </p:txBody>
          </p:sp>
          <p:sp>
            <p:nvSpPr>
              <p:cNvPr id="136" name="Google Shape;136;p16"/>
              <p:cNvSpPr txBox="1"/>
              <p:nvPr/>
            </p:nvSpPr>
            <p:spPr>
              <a:xfrm>
                <a:off x="1371600" y="5000625"/>
                <a:ext cx="4152900" cy="95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3B82F6"/>
                    </a:solidFill>
                    <a:latin typeface="Poppins"/>
                    <a:ea typeface="Poppins"/>
                    <a:cs typeface="Poppins"/>
                    <a:sym typeface="Poppins"/>
                  </a:rPr>
                  <a:t>Worker Pool (vLLM)</a:t>
                </a:r>
                <a:endParaRPr sz="1800" b="1">
                  <a:solidFill>
                    <a:srgbClr val="3B82F6"/>
                  </a:solidFill>
                  <a:latin typeface="Poppins"/>
                  <a:ea typeface="Poppins"/>
                  <a:cs typeface="Poppins"/>
                  <a:sym typeface="Poppins"/>
                </a:endParaRPr>
              </a:p>
              <a:p>
                <a:pPr marL="0" lvl="0" indent="0" algn="l" rtl="0">
                  <a:spcBef>
                    <a:spcPts val="600"/>
                  </a:spcBef>
                  <a:spcAft>
                    <a:spcPts val="0"/>
                  </a:spcAft>
                  <a:buNone/>
                </a:pPr>
                <a:r>
                  <a:rPr lang="en-US" sz="1300">
                    <a:solidFill>
                      <a:srgbClr val="94A3B8"/>
                    </a:solidFill>
                    <a:latin typeface="Lato"/>
                    <a:ea typeface="Lato"/>
                    <a:cs typeface="Lato"/>
                    <a:sym typeface="Lato"/>
                  </a:rPr>
                  <a:t>Xử lý suy luận nặng trên GPU và cập nhật kết quả vào Redis.</a:t>
                </a:r>
                <a:endParaRPr sz="1300">
                  <a:solidFill>
                    <a:srgbClr val="94A3B8"/>
                  </a:solidFill>
                  <a:latin typeface="Lato"/>
                  <a:ea typeface="Lato"/>
                  <a:cs typeface="Lato"/>
                  <a:sym typeface="Lato"/>
                </a:endParaRPr>
              </a:p>
            </p:txBody>
          </p:sp>
        </p:grpSp>
      </p:grpSp>
      <p:pic>
        <p:nvPicPr>
          <p:cNvPr id="137" name="Google Shape;137;p16"/>
          <p:cNvPicPr preferRelativeResize="0"/>
          <p:nvPr/>
        </p:nvPicPr>
        <p:blipFill rotWithShape="1">
          <a:blip r:embed="rId5">
            <a:alphaModFix/>
          </a:blip>
          <a:srcRect t="8888" b="8888"/>
          <a:stretch/>
        </p:blipFill>
        <p:spPr>
          <a:xfrm>
            <a:off x="6096000" y="1428750"/>
            <a:ext cx="5715000" cy="4953000"/>
          </a:xfrm>
          <a:prstGeom prst="roundRect">
            <a:avLst>
              <a:gd name="adj" fmla="val 3076"/>
            </a:avLst>
          </a:prstGeom>
          <a:noFill/>
          <a:ln>
            <a:noFill/>
          </a:ln>
        </p:spPr>
      </p:pic>
      <p:sp>
        <p:nvSpPr>
          <p:cNvPr id="138" name="Google Shape;138;p16"/>
          <p:cNvSpPr txBox="1"/>
          <p:nvPr/>
        </p:nvSpPr>
        <p:spPr>
          <a:xfrm>
            <a:off x="914400" y="6299745"/>
            <a:ext cx="4600500" cy="2079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94A3B8"/>
                </a:solidFill>
                <a:latin typeface="Lato"/>
                <a:ea typeface="Lato"/>
                <a:cs typeface="Lato"/>
                <a:sym typeface="Lato"/>
              </a:rPr>
              <a:t>Xử lý suy luận nặng trên GPU và cập nhật kết quả vào Redis.</a:t>
            </a:r>
            <a:endParaRPr/>
          </a:p>
        </p:txBody>
      </p:sp>
      <p:sp>
        <p:nvSpPr>
          <p:cNvPr id="139" name="Google Shape;139;p16"/>
          <p:cNvSpPr/>
          <p:nvPr/>
        </p:nvSpPr>
        <p:spPr>
          <a:xfrm>
            <a:off x="571500" y="571500"/>
            <a:ext cx="76200" cy="57150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3"/>
        <p:cNvGrpSpPr/>
        <p:nvPr/>
      </p:nvGrpSpPr>
      <p:grpSpPr>
        <a:xfrm>
          <a:off x="0" y="0"/>
          <a:ext cx="0" cy="0"/>
          <a:chOff x="0" y="0"/>
          <a:chExt cx="0" cy="0"/>
        </a:xfrm>
      </p:grpSpPr>
      <p:pic>
        <p:nvPicPr>
          <p:cNvPr id="144" name="Google Shape;144;p17"/>
          <p:cNvPicPr preferRelativeResize="0"/>
          <p:nvPr/>
        </p:nvPicPr>
        <p:blipFill rotWithShape="1">
          <a:blip r:embed="rId4">
            <a:alphaModFix/>
          </a:blip>
          <a:srcRect/>
          <a:stretch/>
        </p:blipFill>
        <p:spPr>
          <a:xfrm>
            <a:off x="0" y="0"/>
            <a:ext cx="12192000" cy="6858000"/>
          </a:xfrm>
          <a:prstGeom prst="rect">
            <a:avLst/>
          </a:prstGeom>
          <a:noFill/>
          <a:ln>
            <a:noFill/>
          </a:ln>
        </p:spPr>
      </p:pic>
      <p:grpSp>
        <p:nvGrpSpPr>
          <p:cNvPr id="145" name="Google Shape;145;p17"/>
          <p:cNvGrpSpPr/>
          <p:nvPr/>
        </p:nvGrpSpPr>
        <p:grpSpPr>
          <a:xfrm>
            <a:off x="571500" y="571500"/>
            <a:ext cx="11049000" cy="571500"/>
            <a:chOff x="571500" y="571500"/>
            <a:chExt cx="11049000" cy="571500"/>
          </a:xfrm>
        </p:grpSpPr>
        <p:sp>
          <p:nvSpPr>
            <p:cNvPr id="146" name="Google Shape;146;p17"/>
            <p:cNvSpPr/>
            <p:nvPr/>
          </p:nvSpPr>
          <p:spPr>
            <a:xfrm>
              <a:off x="571500" y="571500"/>
              <a:ext cx="76200" cy="571500"/>
            </a:xfrm>
            <a:prstGeom prst="rect">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7" name="Google Shape;147;p17"/>
            <p:cNvSpPr txBox="1"/>
            <p:nvPr/>
          </p:nvSpPr>
          <p:spPr>
            <a:xfrm>
              <a:off x="762000" y="571500"/>
              <a:ext cx="10858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000" b="0">
                  <a:solidFill>
                    <a:srgbClr val="F1F5F9"/>
                  </a:solidFill>
                  <a:latin typeface="Poppins SemiBold"/>
                  <a:ea typeface="Poppins SemiBold"/>
                  <a:cs typeface="Poppins SemiBold"/>
                  <a:sym typeface="Poppins SemiBold"/>
                </a:rPr>
                <a:t>VÒNG ĐỜI CỦA MỘT TASK</a:t>
              </a:r>
              <a:endParaRPr sz="3000" b="0">
                <a:solidFill>
                  <a:srgbClr val="F1F5F9"/>
                </a:solidFill>
                <a:latin typeface="Poppins SemiBold"/>
                <a:ea typeface="Poppins SemiBold"/>
                <a:cs typeface="Poppins SemiBold"/>
                <a:sym typeface="Poppins SemiBold"/>
              </a:endParaRPr>
            </a:p>
          </p:txBody>
        </p:sp>
      </p:grpSp>
      <p:cxnSp>
        <p:nvCxnSpPr>
          <p:cNvPr id="148" name="Google Shape;148;p17"/>
          <p:cNvCxnSpPr/>
          <p:nvPr/>
        </p:nvCxnSpPr>
        <p:spPr>
          <a:xfrm>
            <a:off x="1857375" y="5143500"/>
            <a:ext cx="8429700" cy="0"/>
          </a:xfrm>
          <a:prstGeom prst="straightConnector1">
            <a:avLst/>
          </a:prstGeom>
          <a:solidFill>
            <a:srgbClr val="FFFFFF"/>
          </a:solidFill>
          <a:ln w="38100" cap="flat" cmpd="sng">
            <a:solidFill>
              <a:srgbClr val="334155"/>
            </a:solidFill>
            <a:prstDash val="solid"/>
            <a:round/>
            <a:headEnd type="none" w="sm" len="sm"/>
            <a:tailEnd type="none" w="sm" len="sm"/>
          </a:ln>
        </p:spPr>
      </p:cxnSp>
      <p:grpSp>
        <p:nvGrpSpPr>
          <p:cNvPr id="149" name="Google Shape;149;p17"/>
          <p:cNvGrpSpPr/>
          <p:nvPr/>
        </p:nvGrpSpPr>
        <p:grpSpPr>
          <a:xfrm>
            <a:off x="571500" y="1714500"/>
            <a:ext cx="2571900" cy="3810000"/>
            <a:chOff x="571500" y="1714500"/>
            <a:chExt cx="2571900" cy="3810000"/>
          </a:xfrm>
        </p:grpSpPr>
        <p:sp>
          <p:nvSpPr>
            <p:cNvPr id="150" name="Google Shape;150;p17"/>
            <p:cNvSpPr/>
            <p:nvPr/>
          </p:nvSpPr>
          <p:spPr>
            <a:xfrm>
              <a:off x="571500" y="1714500"/>
              <a:ext cx="2571900" cy="3810000"/>
            </a:xfrm>
            <a:prstGeom prst="roundRect">
              <a:avLst>
                <a:gd name="adj" fmla="val 5925"/>
              </a:avLst>
            </a:prstGeom>
            <a:solidFill>
              <a:srgbClr val="1E293B">
                <a:alpha val="4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2" name="Google Shape;152;p17"/>
            <p:cNvSpPr txBox="1"/>
            <p:nvPr/>
          </p:nvSpPr>
          <p:spPr>
            <a:xfrm>
              <a:off x="571500" y="2667000"/>
              <a:ext cx="25719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400" b="1" dirty="0">
                  <a:solidFill>
                    <a:srgbClr val="3B82F6"/>
                  </a:solidFill>
                  <a:latin typeface="Poppins"/>
                  <a:ea typeface="Poppins"/>
                  <a:cs typeface="Poppins"/>
                  <a:sym typeface="Poppins"/>
                </a:rPr>
                <a:t>PENDING</a:t>
              </a:r>
              <a:endParaRPr sz="2400" b="1" dirty="0">
                <a:solidFill>
                  <a:srgbClr val="3B82F6"/>
                </a:solidFill>
                <a:latin typeface="Poppins"/>
                <a:ea typeface="Poppins"/>
                <a:cs typeface="Poppins"/>
                <a:sym typeface="Poppins"/>
              </a:endParaRPr>
            </a:p>
          </p:txBody>
        </p:sp>
        <p:sp>
          <p:nvSpPr>
            <p:cNvPr id="153" name="Google Shape;153;p17"/>
            <p:cNvSpPr txBox="1"/>
            <p:nvPr/>
          </p:nvSpPr>
          <p:spPr>
            <a:xfrm>
              <a:off x="762000" y="3143250"/>
              <a:ext cx="2190900" cy="1143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1800" b="0" dirty="0" err="1">
                  <a:solidFill>
                    <a:srgbClr val="94A3B8"/>
                  </a:solidFill>
                  <a:latin typeface="Lato"/>
                  <a:ea typeface="Lato"/>
                  <a:cs typeface="Lato"/>
                  <a:sym typeface="Lato"/>
                </a:rPr>
                <a:t>Tác</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vụ</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được</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tạo</a:t>
              </a:r>
              <a:r>
                <a:rPr lang="en-US" sz="1800" b="0" dirty="0">
                  <a:solidFill>
                    <a:srgbClr val="94A3B8"/>
                  </a:solidFill>
                  <a:latin typeface="Lato"/>
                  <a:ea typeface="Lato"/>
                  <a:cs typeface="Lato"/>
                  <a:sym typeface="Lato"/>
                </a:rPr>
                <a:t> &amp; </a:t>
              </a:r>
              <a:r>
                <a:rPr lang="en-US" sz="1800" b="0" dirty="0" err="1">
                  <a:solidFill>
                    <a:srgbClr val="94A3B8"/>
                  </a:solidFill>
                  <a:latin typeface="Lato"/>
                  <a:ea typeface="Lato"/>
                  <a:cs typeface="Lato"/>
                  <a:sym typeface="Lato"/>
                </a:rPr>
                <a:t>nằm</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trong</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hàng</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đợi</a:t>
              </a:r>
              <a:r>
                <a:rPr lang="en-US" sz="1800" b="0" dirty="0">
                  <a:solidFill>
                    <a:srgbClr val="94A3B8"/>
                  </a:solidFill>
                  <a:latin typeface="Lato"/>
                  <a:ea typeface="Lato"/>
                  <a:cs typeface="Lato"/>
                  <a:sym typeface="Lato"/>
                </a:rPr>
                <a:t>.</a:t>
              </a:r>
              <a:endParaRPr sz="1800" b="0" dirty="0">
                <a:solidFill>
                  <a:srgbClr val="94A3B8"/>
                </a:solidFill>
                <a:latin typeface="Lato"/>
                <a:ea typeface="Lato"/>
                <a:cs typeface="Lato"/>
                <a:sym typeface="Lato"/>
              </a:endParaRPr>
            </a:p>
          </p:txBody>
        </p:sp>
        <p:sp>
          <p:nvSpPr>
            <p:cNvPr id="154" name="Google Shape;154;p17"/>
            <p:cNvSpPr/>
            <p:nvPr/>
          </p:nvSpPr>
          <p:spPr>
            <a:xfrm>
              <a:off x="1724025" y="5010150"/>
              <a:ext cx="266700" cy="266700"/>
            </a:xfrm>
            <a:prstGeom prst="ellipse">
              <a:avLst/>
            </a:prstGeom>
            <a:solidFill>
              <a:srgbClr val="3B82F6"/>
            </a:solidFill>
            <a:ln w="38100" cap="flat" cmpd="sng">
              <a:solidFill>
                <a:srgbClr val="02061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155" name="Google Shape;155;p17"/>
          <p:cNvGrpSpPr/>
          <p:nvPr/>
        </p:nvGrpSpPr>
        <p:grpSpPr>
          <a:xfrm>
            <a:off x="3381375" y="1714500"/>
            <a:ext cx="2571900" cy="3810000"/>
            <a:chOff x="3381375" y="1714500"/>
            <a:chExt cx="2571900" cy="3810000"/>
          </a:xfrm>
        </p:grpSpPr>
        <p:sp>
          <p:nvSpPr>
            <p:cNvPr id="156" name="Google Shape;156;p17"/>
            <p:cNvSpPr/>
            <p:nvPr/>
          </p:nvSpPr>
          <p:spPr>
            <a:xfrm>
              <a:off x="3381375" y="1714500"/>
              <a:ext cx="2571900" cy="3810000"/>
            </a:xfrm>
            <a:prstGeom prst="roundRect">
              <a:avLst>
                <a:gd name="adj" fmla="val 5925"/>
              </a:avLst>
            </a:prstGeom>
            <a:solidFill>
              <a:srgbClr val="1E293B">
                <a:alpha val="4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8" name="Google Shape;158;p17"/>
            <p:cNvSpPr txBox="1"/>
            <p:nvPr/>
          </p:nvSpPr>
          <p:spPr>
            <a:xfrm>
              <a:off x="3381375" y="2667000"/>
              <a:ext cx="25719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400" b="1" dirty="0">
                  <a:solidFill>
                    <a:srgbClr val="FBBF24"/>
                  </a:solidFill>
                  <a:latin typeface="Poppins"/>
                  <a:ea typeface="Poppins"/>
                  <a:cs typeface="Poppins"/>
                  <a:sym typeface="Poppins"/>
                </a:rPr>
                <a:t>ACTIVE</a:t>
              </a:r>
              <a:endParaRPr sz="2400" b="1" dirty="0">
                <a:solidFill>
                  <a:srgbClr val="FBBF24"/>
                </a:solidFill>
                <a:latin typeface="Poppins"/>
                <a:ea typeface="Poppins"/>
                <a:cs typeface="Poppins"/>
                <a:sym typeface="Poppins"/>
              </a:endParaRPr>
            </a:p>
          </p:txBody>
        </p:sp>
        <p:sp>
          <p:nvSpPr>
            <p:cNvPr id="159" name="Google Shape;159;p17"/>
            <p:cNvSpPr txBox="1"/>
            <p:nvPr/>
          </p:nvSpPr>
          <p:spPr>
            <a:xfrm>
              <a:off x="3571875" y="3143250"/>
              <a:ext cx="2190900" cy="1143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1800" b="0" dirty="0">
                  <a:solidFill>
                    <a:srgbClr val="94A3B8"/>
                  </a:solidFill>
                  <a:latin typeface="Lato"/>
                  <a:ea typeface="Lato"/>
                  <a:cs typeface="Lato"/>
                  <a:sym typeface="Lato"/>
                </a:rPr>
                <a:t>Worker </a:t>
              </a:r>
              <a:r>
                <a:rPr lang="en-US" sz="1800" b="0" dirty="0" err="1">
                  <a:solidFill>
                    <a:srgbClr val="94A3B8"/>
                  </a:solidFill>
                  <a:latin typeface="Lato"/>
                  <a:ea typeface="Lato"/>
                  <a:cs typeface="Lato"/>
                  <a:sym typeface="Lato"/>
                </a:rPr>
                <a:t>đang</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xử</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lý</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trên</a:t>
              </a:r>
              <a:r>
                <a:rPr lang="en-US" sz="1800" b="0" dirty="0">
                  <a:solidFill>
                    <a:srgbClr val="94A3B8"/>
                  </a:solidFill>
                  <a:latin typeface="Lato"/>
                  <a:ea typeface="Lato"/>
                  <a:cs typeface="Lato"/>
                  <a:sym typeface="Lato"/>
                </a:rPr>
                <a:t> GPU.</a:t>
              </a:r>
              <a:endParaRPr sz="1800" b="0" dirty="0">
                <a:solidFill>
                  <a:srgbClr val="94A3B8"/>
                </a:solidFill>
                <a:latin typeface="Lato"/>
                <a:ea typeface="Lato"/>
                <a:cs typeface="Lato"/>
                <a:sym typeface="Lato"/>
              </a:endParaRPr>
            </a:p>
          </p:txBody>
        </p:sp>
        <p:sp>
          <p:nvSpPr>
            <p:cNvPr id="160" name="Google Shape;160;p17"/>
            <p:cNvSpPr/>
            <p:nvPr/>
          </p:nvSpPr>
          <p:spPr>
            <a:xfrm>
              <a:off x="4533900" y="5010150"/>
              <a:ext cx="266700" cy="266700"/>
            </a:xfrm>
            <a:prstGeom prst="ellipse">
              <a:avLst/>
            </a:prstGeom>
            <a:solidFill>
              <a:srgbClr val="FBBF24"/>
            </a:solidFill>
            <a:ln w="38100" cap="flat" cmpd="sng">
              <a:solidFill>
                <a:srgbClr val="02061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161" name="Google Shape;161;p17"/>
          <p:cNvGrpSpPr/>
          <p:nvPr/>
        </p:nvGrpSpPr>
        <p:grpSpPr>
          <a:xfrm>
            <a:off x="6191250" y="1714500"/>
            <a:ext cx="2571900" cy="3810000"/>
            <a:chOff x="6191250" y="1714500"/>
            <a:chExt cx="2571900" cy="3810000"/>
          </a:xfrm>
        </p:grpSpPr>
        <p:sp>
          <p:nvSpPr>
            <p:cNvPr id="162" name="Google Shape;162;p17"/>
            <p:cNvSpPr/>
            <p:nvPr/>
          </p:nvSpPr>
          <p:spPr>
            <a:xfrm>
              <a:off x="6191250" y="1714500"/>
              <a:ext cx="2571900" cy="3810000"/>
            </a:xfrm>
            <a:prstGeom prst="roundRect">
              <a:avLst>
                <a:gd name="adj" fmla="val 5925"/>
              </a:avLst>
            </a:prstGeom>
            <a:solidFill>
              <a:srgbClr val="1E293B">
                <a:alpha val="4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4" name="Google Shape;164;p17"/>
            <p:cNvSpPr txBox="1"/>
            <p:nvPr/>
          </p:nvSpPr>
          <p:spPr>
            <a:xfrm>
              <a:off x="6191250" y="2667000"/>
              <a:ext cx="25719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400" b="1" dirty="0">
                  <a:solidFill>
                    <a:srgbClr val="10B981"/>
                  </a:solidFill>
                  <a:latin typeface="Poppins"/>
                  <a:ea typeface="Poppins"/>
                  <a:cs typeface="Poppins"/>
                  <a:sym typeface="Poppins"/>
                </a:rPr>
                <a:t>COMPLETED</a:t>
              </a:r>
              <a:endParaRPr sz="2400" b="1" dirty="0">
                <a:solidFill>
                  <a:srgbClr val="10B981"/>
                </a:solidFill>
                <a:latin typeface="Poppins"/>
                <a:ea typeface="Poppins"/>
                <a:cs typeface="Poppins"/>
                <a:sym typeface="Poppins"/>
              </a:endParaRPr>
            </a:p>
          </p:txBody>
        </p:sp>
        <p:sp>
          <p:nvSpPr>
            <p:cNvPr id="165" name="Google Shape;165;p17"/>
            <p:cNvSpPr txBox="1"/>
            <p:nvPr/>
          </p:nvSpPr>
          <p:spPr>
            <a:xfrm>
              <a:off x="6381750" y="3143250"/>
              <a:ext cx="2190900" cy="1143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1800" b="0" dirty="0" err="1">
                  <a:solidFill>
                    <a:srgbClr val="94A3B8"/>
                  </a:solidFill>
                  <a:latin typeface="Lato"/>
                  <a:ea typeface="Lato"/>
                  <a:cs typeface="Lato"/>
                  <a:sym typeface="Lato"/>
                </a:rPr>
                <a:t>Kết</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quả</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đã</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sẵn</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sàng</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để</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truy</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xuất</a:t>
              </a:r>
              <a:r>
                <a:rPr lang="en-US" sz="1800" b="0" dirty="0">
                  <a:solidFill>
                    <a:srgbClr val="94A3B8"/>
                  </a:solidFill>
                  <a:latin typeface="Lato"/>
                  <a:ea typeface="Lato"/>
                  <a:cs typeface="Lato"/>
                  <a:sym typeface="Lato"/>
                </a:rPr>
                <a:t>.</a:t>
              </a:r>
              <a:endParaRPr sz="1800" b="0" dirty="0">
                <a:solidFill>
                  <a:srgbClr val="94A3B8"/>
                </a:solidFill>
                <a:latin typeface="Lato"/>
                <a:ea typeface="Lato"/>
                <a:cs typeface="Lato"/>
                <a:sym typeface="Lato"/>
              </a:endParaRPr>
            </a:p>
          </p:txBody>
        </p:sp>
        <p:sp>
          <p:nvSpPr>
            <p:cNvPr id="166" name="Google Shape;166;p17"/>
            <p:cNvSpPr/>
            <p:nvPr/>
          </p:nvSpPr>
          <p:spPr>
            <a:xfrm>
              <a:off x="7343775" y="5010150"/>
              <a:ext cx="266700" cy="266700"/>
            </a:xfrm>
            <a:prstGeom prst="ellipse">
              <a:avLst/>
            </a:prstGeom>
            <a:solidFill>
              <a:srgbClr val="10B981"/>
            </a:solidFill>
            <a:ln w="38100" cap="flat" cmpd="sng">
              <a:solidFill>
                <a:srgbClr val="02061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167" name="Google Shape;167;p17"/>
          <p:cNvGrpSpPr/>
          <p:nvPr/>
        </p:nvGrpSpPr>
        <p:grpSpPr>
          <a:xfrm>
            <a:off x="9001125" y="1714500"/>
            <a:ext cx="2571900" cy="3810000"/>
            <a:chOff x="9001125" y="1714500"/>
            <a:chExt cx="2571900" cy="3810000"/>
          </a:xfrm>
        </p:grpSpPr>
        <p:sp>
          <p:nvSpPr>
            <p:cNvPr id="168" name="Google Shape;168;p17"/>
            <p:cNvSpPr/>
            <p:nvPr/>
          </p:nvSpPr>
          <p:spPr>
            <a:xfrm>
              <a:off x="9001125" y="1714500"/>
              <a:ext cx="2571900" cy="3810000"/>
            </a:xfrm>
            <a:prstGeom prst="roundRect">
              <a:avLst>
                <a:gd name="adj" fmla="val 5925"/>
              </a:avLst>
            </a:prstGeom>
            <a:solidFill>
              <a:srgbClr val="1E293B">
                <a:alpha val="4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0" name="Google Shape;170;p17"/>
            <p:cNvSpPr txBox="1"/>
            <p:nvPr/>
          </p:nvSpPr>
          <p:spPr>
            <a:xfrm>
              <a:off x="9001125" y="2628900"/>
              <a:ext cx="25719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400" b="1" dirty="0">
                  <a:solidFill>
                    <a:srgbClr val="EF4444"/>
                  </a:solidFill>
                  <a:latin typeface="Poppins"/>
                  <a:ea typeface="Poppins"/>
                  <a:cs typeface="Poppins"/>
                  <a:sym typeface="Poppins"/>
                </a:rPr>
                <a:t>FAILED</a:t>
              </a:r>
              <a:endParaRPr sz="2400" b="1" dirty="0">
                <a:solidFill>
                  <a:srgbClr val="EF4444"/>
                </a:solidFill>
                <a:latin typeface="Poppins"/>
                <a:ea typeface="Poppins"/>
                <a:cs typeface="Poppins"/>
                <a:sym typeface="Poppins"/>
              </a:endParaRPr>
            </a:p>
          </p:txBody>
        </p:sp>
        <p:sp>
          <p:nvSpPr>
            <p:cNvPr id="171" name="Google Shape;171;p17"/>
            <p:cNvSpPr txBox="1"/>
            <p:nvPr/>
          </p:nvSpPr>
          <p:spPr>
            <a:xfrm>
              <a:off x="9191625" y="3143250"/>
              <a:ext cx="2190900" cy="1143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1800" b="0" dirty="0" err="1">
                  <a:solidFill>
                    <a:srgbClr val="94A3B8"/>
                  </a:solidFill>
                  <a:latin typeface="Lato"/>
                  <a:ea typeface="Lato"/>
                  <a:cs typeface="Lato"/>
                  <a:sym typeface="Lato"/>
                </a:rPr>
                <a:t>Lỗi</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xảy</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ra</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chuyển</a:t>
              </a:r>
              <a:r>
                <a:rPr lang="en-US" sz="1800" b="0" dirty="0">
                  <a:solidFill>
                    <a:srgbClr val="94A3B8"/>
                  </a:solidFill>
                  <a:latin typeface="Lato"/>
                  <a:ea typeface="Lato"/>
                  <a:cs typeface="Lato"/>
                  <a:sym typeface="Lato"/>
                </a:rPr>
                <a:t> </a:t>
              </a:r>
              <a:r>
                <a:rPr lang="en-US" sz="1800" b="0" dirty="0" err="1">
                  <a:solidFill>
                    <a:srgbClr val="94A3B8"/>
                  </a:solidFill>
                  <a:latin typeface="Lato"/>
                  <a:ea typeface="Lato"/>
                  <a:cs typeface="Lato"/>
                  <a:sym typeface="Lato"/>
                </a:rPr>
                <a:t>vào</a:t>
              </a:r>
              <a:r>
                <a:rPr lang="en-US" sz="1800" b="0" dirty="0">
                  <a:solidFill>
                    <a:srgbClr val="94A3B8"/>
                  </a:solidFill>
                  <a:latin typeface="Lato"/>
                  <a:ea typeface="Lato"/>
                  <a:cs typeface="Lato"/>
                  <a:sym typeface="Lato"/>
                </a:rPr>
                <a:t> DLQ </a:t>
              </a:r>
              <a:r>
                <a:rPr lang="en-US" sz="1800" b="0" dirty="0" err="1">
                  <a:solidFill>
                    <a:srgbClr val="94A3B8"/>
                  </a:solidFill>
                  <a:latin typeface="Lato"/>
                  <a:ea typeface="Lato"/>
                  <a:cs typeface="Lato"/>
                  <a:sym typeface="Lato"/>
                </a:rPr>
                <a:t>hoặc</a:t>
              </a:r>
              <a:r>
                <a:rPr lang="en-US" sz="1800" b="0" dirty="0">
                  <a:solidFill>
                    <a:srgbClr val="94A3B8"/>
                  </a:solidFill>
                  <a:latin typeface="Lato"/>
                  <a:ea typeface="Lato"/>
                  <a:cs typeface="Lato"/>
                  <a:sym typeface="Lato"/>
                </a:rPr>
                <a:t> retry.</a:t>
              </a:r>
              <a:endParaRPr sz="1800" b="0" dirty="0">
                <a:solidFill>
                  <a:srgbClr val="94A3B8"/>
                </a:solidFill>
                <a:latin typeface="Lato"/>
                <a:ea typeface="Lato"/>
                <a:cs typeface="Lato"/>
                <a:sym typeface="Lato"/>
              </a:endParaRPr>
            </a:p>
          </p:txBody>
        </p:sp>
        <p:sp>
          <p:nvSpPr>
            <p:cNvPr id="172" name="Google Shape;172;p17"/>
            <p:cNvSpPr/>
            <p:nvPr/>
          </p:nvSpPr>
          <p:spPr>
            <a:xfrm>
              <a:off x="10153650" y="5010150"/>
              <a:ext cx="266700" cy="266700"/>
            </a:xfrm>
            <a:prstGeom prst="ellipse">
              <a:avLst/>
            </a:prstGeom>
            <a:solidFill>
              <a:srgbClr val="EF4444"/>
            </a:solidFill>
            <a:ln w="38100" cap="flat" cmpd="sng">
              <a:solidFill>
                <a:srgbClr val="02061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76"/>
        <p:cNvGrpSpPr/>
        <p:nvPr/>
      </p:nvGrpSpPr>
      <p:grpSpPr>
        <a:xfrm>
          <a:off x="0" y="0"/>
          <a:ext cx="0" cy="0"/>
          <a:chOff x="0" y="0"/>
          <a:chExt cx="0" cy="0"/>
        </a:xfrm>
      </p:grpSpPr>
      <p:pic>
        <p:nvPicPr>
          <p:cNvPr id="177" name="Google Shape;17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8" name="Google Shape;178;p18" descr="image.png"/>
          <p:cNvPicPr preferRelativeResize="0"/>
          <p:nvPr/>
        </p:nvPicPr>
        <p:blipFill rotWithShape="1">
          <a:blip r:embed="rId4">
            <a:alphaModFix/>
          </a:blip>
          <a:srcRect/>
          <a:stretch/>
        </p:blipFill>
        <p:spPr>
          <a:xfrm>
            <a:off x="571500" y="2357437"/>
            <a:ext cx="3492549" cy="3095625"/>
          </a:xfrm>
          <a:prstGeom prst="rect">
            <a:avLst/>
          </a:prstGeom>
          <a:noFill/>
          <a:ln>
            <a:noFill/>
          </a:ln>
        </p:spPr>
      </p:pic>
      <p:pic>
        <p:nvPicPr>
          <p:cNvPr id="179" name="Google Shape;179;p18" descr="image.png"/>
          <p:cNvPicPr preferRelativeResize="0"/>
          <p:nvPr/>
        </p:nvPicPr>
        <p:blipFill rotWithShape="1">
          <a:blip r:embed="rId5">
            <a:alphaModFix/>
          </a:blip>
          <a:srcRect/>
          <a:stretch/>
        </p:blipFill>
        <p:spPr>
          <a:xfrm>
            <a:off x="4349799" y="2357437"/>
            <a:ext cx="3492549" cy="3095625"/>
          </a:xfrm>
          <a:prstGeom prst="rect">
            <a:avLst/>
          </a:prstGeom>
          <a:noFill/>
          <a:ln>
            <a:noFill/>
          </a:ln>
        </p:spPr>
      </p:pic>
      <p:pic>
        <p:nvPicPr>
          <p:cNvPr id="180" name="Google Shape;180;p18" descr="image.png"/>
          <p:cNvPicPr preferRelativeResize="0"/>
          <p:nvPr/>
        </p:nvPicPr>
        <p:blipFill rotWithShape="1">
          <a:blip r:embed="rId6">
            <a:alphaModFix/>
          </a:blip>
          <a:srcRect/>
          <a:stretch/>
        </p:blipFill>
        <p:spPr>
          <a:xfrm>
            <a:off x="8128099" y="2357437"/>
            <a:ext cx="3492549" cy="3095625"/>
          </a:xfrm>
          <a:prstGeom prst="rect">
            <a:avLst/>
          </a:prstGeom>
          <a:noFill/>
          <a:ln>
            <a:noFill/>
          </a:ln>
        </p:spPr>
      </p:pic>
      <p:sp>
        <p:nvSpPr>
          <p:cNvPr id="181" name="Google Shape;181;p18"/>
          <p:cNvSpPr txBox="1"/>
          <p:nvPr/>
        </p:nvSpPr>
        <p:spPr>
          <a:xfrm>
            <a:off x="866775" y="3386137"/>
            <a:ext cx="3047099"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3B82F6"/>
                </a:solidFill>
                <a:latin typeface="Poppins"/>
                <a:ea typeface="Poppins"/>
                <a:cs typeface="Poppins"/>
                <a:sym typeface="Poppins"/>
              </a:rPr>
              <a:t>Redis List</a:t>
            </a:r>
            <a:endParaRPr/>
          </a:p>
        </p:txBody>
      </p:sp>
      <p:sp>
        <p:nvSpPr>
          <p:cNvPr id="182" name="Google Shape;182;p18"/>
          <p:cNvSpPr txBox="1"/>
          <p:nvPr/>
        </p:nvSpPr>
        <p:spPr>
          <a:xfrm>
            <a:off x="866775" y="4033837"/>
            <a:ext cx="2901999" cy="9334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Lato"/>
                <a:ea typeface="Lato"/>
                <a:cs typeface="Lato"/>
                <a:sym typeface="Lato"/>
              </a:rPr>
              <a:t>Cơ chế FIFO với LPUSH và BLPOP. Đảm bảo worker chỉ lấy task khi rảnh.</a:t>
            </a:r>
            <a:endParaRPr/>
          </a:p>
        </p:txBody>
      </p:sp>
      <p:sp>
        <p:nvSpPr>
          <p:cNvPr id="183" name="Google Shape;183;p18"/>
          <p:cNvSpPr txBox="1"/>
          <p:nvPr/>
        </p:nvSpPr>
        <p:spPr>
          <a:xfrm>
            <a:off x="4645074" y="3386137"/>
            <a:ext cx="3047099"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3B82F6"/>
                </a:solidFill>
                <a:latin typeface="Poppins"/>
                <a:ea typeface="Poppins"/>
                <a:cs typeface="Poppins"/>
                <a:sym typeface="Poppins"/>
              </a:rPr>
              <a:t>Redis Hash</a:t>
            </a:r>
            <a:endParaRPr/>
          </a:p>
        </p:txBody>
      </p:sp>
      <p:sp>
        <p:nvSpPr>
          <p:cNvPr id="184" name="Google Shape;184;p18"/>
          <p:cNvSpPr txBox="1"/>
          <p:nvPr/>
        </p:nvSpPr>
        <p:spPr>
          <a:xfrm>
            <a:off x="4645074" y="4033837"/>
            <a:ext cx="2901999" cy="9334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Lato"/>
                <a:ea typeface="Lato"/>
                <a:cs typeface="Lato"/>
                <a:sym typeface="Lato"/>
              </a:rPr>
              <a:t>Lưu trữ Metadata (prompt, status, results) tại key task:{uuid} với tốc độ truy xuất O(1).</a:t>
            </a:r>
            <a:endParaRPr/>
          </a:p>
        </p:txBody>
      </p:sp>
      <p:sp>
        <p:nvSpPr>
          <p:cNvPr id="185" name="Google Shape;185;p18"/>
          <p:cNvSpPr txBox="1"/>
          <p:nvPr/>
        </p:nvSpPr>
        <p:spPr>
          <a:xfrm>
            <a:off x="8423374" y="3386137"/>
            <a:ext cx="3047099"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3B82F6"/>
                </a:solidFill>
                <a:latin typeface="Poppins"/>
                <a:ea typeface="Poppins"/>
                <a:cs typeface="Poppins"/>
                <a:sym typeface="Poppins"/>
              </a:rPr>
              <a:t>Atomic Ops</a:t>
            </a:r>
            <a:endParaRPr/>
          </a:p>
        </p:txBody>
      </p:sp>
      <p:sp>
        <p:nvSpPr>
          <p:cNvPr id="186" name="Google Shape;186;p18"/>
          <p:cNvSpPr txBox="1"/>
          <p:nvPr/>
        </p:nvSpPr>
        <p:spPr>
          <a:xfrm>
            <a:off x="8423374" y="4033837"/>
            <a:ext cx="2901999"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Lato"/>
                <a:ea typeface="Lato"/>
                <a:cs typeface="Lato"/>
                <a:sym typeface="Lato"/>
              </a:rPr>
              <a:t>Sử dụng các lệnh nguyên tử để đảm bảo không bao giờ có hai worker nhận trùng một task.</a:t>
            </a:r>
            <a:endParaRPr/>
          </a:p>
        </p:txBody>
      </p:sp>
      <p:pic>
        <p:nvPicPr>
          <p:cNvPr id="187" name="Google Shape;187;p18" descr="image.png"/>
          <p:cNvPicPr preferRelativeResize="0"/>
          <p:nvPr/>
        </p:nvPicPr>
        <p:blipFill rotWithShape="1">
          <a:blip r:embed="rId7">
            <a:alphaModFix/>
          </a:blip>
          <a:srcRect/>
          <a:stretch/>
        </p:blipFill>
        <p:spPr>
          <a:xfrm>
            <a:off x="866775" y="2700337"/>
            <a:ext cx="457200" cy="457200"/>
          </a:xfrm>
          <a:prstGeom prst="rect">
            <a:avLst/>
          </a:prstGeom>
          <a:noFill/>
          <a:ln>
            <a:noFill/>
          </a:ln>
        </p:spPr>
      </p:pic>
      <p:pic>
        <p:nvPicPr>
          <p:cNvPr id="188" name="Google Shape;188;p18" descr="image.png"/>
          <p:cNvPicPr preferRelativeResize="0"/>
          <p:nvPr/>
        </p:nvPicPr>
        <p:blipFill rotWithShape="1">
          <a:blip r:embed="rId8">
            <a:alphaModFix/>
          </a:blip>
          <a:srcRect/>
          <a:stretch/>
        </p:blipFill>
        <p:spPr>
          <a:xfrm>
            <a:off x="4645074" y="2700337"/>
            <a:ext cx="400050" cy="457200"/>
          </a:xfrm>
          <a:prstGeom prst="rect">
            <a:avLst/>
          </a:prstGeom>
          <a:noFill/>
          <a:ln>
            <a:noFill/>
          </a:ln>
        </p:spPr>
      </p:pic>
      <p:pic>
        <p:nvPicPr>
          <p:cNvPr id="189" name="Google Shape;189;p18" descr="image.png"/>
          <p:cNvPicPr preferRelativeResize="0"/>
          <p:nvPr/>
        </p:nvPicPr>
        <p:blipFill rotWithShape="1">
          <a:blip r:embed="rId9">
            <a:alphaModFix/>
          </a:blip>
          <a:srcRect/>
          <a:stretch/>
        </p:blipFill>
        <p:spPr>
          <a:xfrm>
            <a:off x="8423374" y="2700337"/>
            <a:ext cx="457200" cy="457200"/>
          </a:xfrm>
          <a:prstGeom prst="rect">
            <a:avLst/>
          </a:prstGeom>
          <a:noFill/>
          <a:ln>
            <a:noFill/>
          </a:ln>
        </p:spPr>
      </p:pic>
      <p:sp>
        <p:nvSpPr>
          <p:cNvPr id="190" name="Google Shape;190;p18"/>
          <p:cNvSpPr txBox="1"/>
          <p:nvPr/>
        </p:nvSpPr>
        <p:spPr>
          <a:xfrm>
            <a:off x="762000"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1F5F9"/>
                </a:solidFill>
                <a:latin typeface="Poppins Medium"/>
                <a:ea typeface="Poppins Medium"/>
                <a:cs typeface="Poppins Medium"/>
                <a:sym typeface="Poppins Medium"/>
              </a:rPr>
              <a:t>REDIS: TRÁI TIM ĐIỀU PHỐI</a:t>
            </a:r>
            <a:endParaRPr/>
          </a:p>
        </p:txBody>
      </p:sp>
      <p:sp>
        <p:nvSpPr>
          <p:cNvPr id="191" name="Google Shape;191;p18"/>
          <p:cNvSpPr/>
          <p:nvPr/>
        </p:nvSpPr>
        <p:spPr>
          <a:xfrm>
            <a:off x="571500" y="571500"/>
            <a:ext cx="76200" cy="57150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95"/>
        <p:cNvGrpSpPr/>
        <p:nvPr/>
      </p:nvGrpSpPr>
      <p:grpSpPr>
        <a:xfrm>
          <a:off x="0" y="0"/>
          <a:ext cx="0" cy="0"/>
          <a:chOff x="0" y="0"/>
          <a:chExt cx="0" cy="0"/>
        </a:xfrm>
      </p:grpSpPr>
      <p:pic>
        <p:nvPicPr>
          <p:cNvPr id="196" name="Google Shape;196;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7" name="Google Shape;197;p19"/>
          <p:cNvSpPr txBox="1"/>
          <p:nvPr/>
        </p:nvSpPr>
        <p:spPr>
          <a:xfrm>
            <a:off x="1528762" y="3057525"/>
            <a:ext cx="2657475" cy="1371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0" b="1" i="0" u="none" strike="noStrike" cap="none">
                <a:solidFill>
                  <a:srgbClr val="10B981"/>
                </a:solidFill>
                <a:latin typeface="Lato"/>
                <a:ea typeface="Lato"/>
                <a:cs typeface="Lato"/>
                <a:sym typeface="Lato"/>
              </a:rPr>
              <a:t>-90%</a:t>
            </a:r>
            <a:endParaRPr/>
          </a:p>
        </p:txBody>
      </p:sp>
      <p:sp>
        <p:nvSpPr>
          <p:cNvPr id="198" name="Google Shape;198;p19"/>
          <p:cNvSpPr txBox="1"/>
          <p:nvPr/>
        </p:nvSpPr>
        <p:spPr>
          <a:xfrm>
            <a:off x="1528762" y="4429125"/>
            <a:ext cx="2657475"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F1F5F9"/>
                </a:solidFill>
                <a:latin typeface="Lato"/>
                <a:ea typeface="Lato"/>
                <a:cs typeface="Lato"/>
                <a:sym typeface="Lato"/>
              </a:rPr>
              <a:t>Perceived Latency</a:t>
            </a:r>
            <a:endParaRPr/>
          </a:p>
        </p:txBody>
      </p:sp>
      <p:sp>
        <p:nvSpPr>
          <p:cNvPr id="199" name="Google Shape;199;p19"/>
          <p:cNvSpPr txBox="1"/>
          <p:nvPr/>
        </p:nvSpPr>
        <p:spPr>
          <a:xfrm>
            <a:off x="4948237" y="3028950"/>
            <a:ext cx="600075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3B82F6"/>
                </a:solidFill>
                <a:latin typeface="Poppins"/>
                <a:ea typeface="Poppins"/>
                <a:cs typeface="Poppins"/>
                <a:sym typeface="Poppins"/>
              </a:rPr>
              <a:t>StreamingResponse</a:t>
            </a:r>
            <a:endParaRPr/>
          </a:p>
        </p:txBody>
      </p:sp>
      <p:sp>
        <p:nvSpPr>
          <p:cNvPr id="200" name="Google Shape;200;p19"/>
          <p:cNvSpPr txBox="1"/>
          <p:nvPr/>
        </p:nvSpPr>
        <p:spPr>
          <a:xfrm>
            <a:off x="4948237" y="3676650"/>
            <a:ext cx="5715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Lato"/>
                <a:ea typeface="Lato"/>
                <a:cs typeface="Lato"/>
                <a:sym typeface="Lato"/>
              </a:rPr>
              <a:t>Cho phép FastAPI gửi từng phần của câu trả lời ngay khi token được sinh ra. Thay vì đợi 10 giây cho toàn bộ đoạn văn, người dùng nhận được phản hồi ngay lập tức (Time-To-First-Token).</a:t>
            </a:r>
            <a:endParaRPr/>
          </a:p>
        </p:txBody>
      </p:sp>
      <p:sp>
        <p:nvSpPr>
          <p:cNvPr id="201" name="Google Shape;201;p19"/>
          <p:cNvSpPr txBox="1"/>
          <p:nvPr/>
        </p:nvSpPr>
        <p:spPr>
          <a:xfrm>
            <a:off x="762000"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1F5F9"/>
                </a:solidFill>
                <a:latin typeface="Poppins Medium"/>
                <a:ea typeface="Poppins Medium"/>
                <a:cs typeface="Poppins Medium"/>
                <a:sym typeface="Poppins Medium"/>
              </a:rPr>
              <a:t>UX TỐI THƯỢNG: STREAMING</a:t>
            </a:r>
            <a:endParaRPr/>
          </a:p>
        </p:txBody>
      </p:sp>
      <p:sp>
        <p:nvSpPr>
          <p:cNvPr id="202" name="Google Shape;202;p19"/>
          <p:cNvSpPr/>
          <p:nvPr/>
        </p:nvSpPr>
        <p:spPr>
          <a:xfrm>
            <a:off x="571500" y="571500"/>
            <a:ext cx="76200" cy="57150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06"/>
        <p:cNvGrpSpPr/>
        <p:nvPr/>
      </p:nvGrpSpPr>
      <p:grpSpPr>
        <a:xfrm>
          <a:off x="0" y="0"/>
          <a:ext cx="0" cy="0"/>
          <a:chOff x="0" y="0"/>
          <a:chExt cx="0" cy="0"/>
        </a:xfrm>
      </p:grpSpPr>
      <p:pic>
        <p:nvPicPr>
          <p:cNvPr id="207" name="Google Shape;207;p20"/>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8" name="Google Shape;208;p20"/>
          <p:cNvSpPr/>
          <p:nvPr/>
        </p:nvSpPr>
        <p:spPr>
          <a:xfrm>
            <a:off x="571500" y="571500"/>
            <a:ext cx="76200" cy="571500"/>
          </a:xfrm>
          <a:prstGeom prst="rect">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9" name="Google Shape;209;p20"/>
          <p:cNvSpPr txBox="1"/>
          <p:nvPr/>
        </p:nvSpPr>
        <p:spPr>
          <a:xfrm>
            <a:off x="762000" y="571500"/>
            <a:ext cx="108585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3000" b="0">
                <a:solidFill>
                  <a:srgbClr val="F1F5F9"/>
                </a:solidFill>
                <a:latin typeface="Poppins Medium"/>
                <a:ea typeface="Poppins Medium"/>
                <a:cs typeface="Poppins Medium"/>
                <a:sym typeface="Poppins Medium"/>
              </a:rPr>
              <a:t>RATE LIMITING: CƠ CHẾ BẢO VỆ</a:t>
            </a:r>
            <a:endParaRPr sz="3000" b="0">
              <a:solidFill>
                <a:srgbClr val="F1F5F9"/>
              </a:solidFill>
              <a:latin typeface="Poppins Medium"/>
              <a:ea typeface="Poppins Medium"/>
              <a:cs typeface="Poppins Medium"/>
              <a:sym typeface="Poppins Medium"/>
            </a:endParaRPr>
          </a:p>
        </p:txBody>
      </p:sp>
      <p:grpSp>
        <p:nvGrpSpPr>
          <p:cNvPr id="210" name="Google Shape;210;p20"/>
          <p:cNvGrpSpPr/>
          <p:nvPr/>
        </p:nvGrpSpPr>
        <p:grpSpPr>
          <a:xfrm>
            <a:off x="571500" y="2286000"/>
            <a:ext cx="5334000" cy="3048000"/>
            <a:chOff x="571500" y="2286000"/>
            <a:chExt cx="5334000" cy="3048000"/>
          </a:xfrm>
        </p:grpSpPr>
        <p:sp>
          <p:nvSpPr>
            <p:cNvPr id="211" name="Google Shape;211;p20"/>
            <p:cNvSpPr/>
            <p:nvPr/>
          </p:nvSpPr>
          <p:spPr>
            <a:xfrm>
              <a:off x="571500" y="2286000"/>
              <a:ext cx="5334000" cy="3048000"/>
            </a:xfrm>
            <a:prstGeom prst="roundRect">
              <a:avLst>
                <a:gd name="adj" fmla="val 5000"/>
              </a:avLst>
            </a:prstGeom>
            <a:solidFill>
              <a:srgbClr val="1E293B">
                <a:alpha val="6000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2" name="Google Shape;212;p20"/>
            <p:cNvSpPr txBox="1"/>
            <p:nvPr/>
          </p:nvSpPr>
          <p:spPr>
            <a:xfrm>
              <a:off x="857250" y="2571750"/>
              <a:ext cx="4762500" cy="2476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400" b="1">
                  <a:solidFill>
                    <a:srgbClr val="3B82F6"/>
                  </a:solidFill>
                  <a:latin typeface="Poppins"/>
                  <a:ea typeface="Poppins"/>
                  <a:cs typeface="Poppins"/>
                  <a:sym typeface="Poppins"/>
                </a:rPr>
                <a:t>Bảo vệ tài nguyên GPU</a:t>
              </a:r>
              <a:endParaRPr sz="2400" b="1">
                <a:solidFill>
                  <a:srgbClr val="3B82F6"/>
                </a:solidFill>
                <a:latin typeface="Poppins"/>
                <a:ea typeface="Poppins"/>
                <a:cs typeface="Poppins"/>
                <a:sym typeface="Poppins"/>
              </a:endParaRPr>
            </a:p>
            <a:p>
              <a:pPr marL="0" lvl="0" indent="0" algn="l" rtl="0">
                <a:spcBef>
                  <a:spcPts val="900"/>
                </a:spcBef>
                <a:spcAft>
                  <a:spcPts val="0"/>
                </a:spcAft>
                <a:buNone/>
              </a:pPr>
              <a:r>
                <a:rPr lang="en-US" sz="1500" b="0">
                  <a:solidFill>
                    <a:srgbClr val="94A3B8"/>
                  </a:solidFill>
                  <a:latin typeface="Lato"/>
                  <a:ea typeface="Lato"/>
                  <a:cs typeface="Lato"/>
                  <a:sym typeface="Lato"/>
                </a:rPr>
                <a:t>Ngăn chặn "noisy neighbors" và các cuộc tấn công DDoS làm sập engine suy luận.</a:t>
              </a:r>
              <a:endParaRPr sz="1500" b="0">
                <a:solidFill>
                  <a:srgbClr val="94A3B8"/>
                </a:solidFill>
                <a:latin typeface="Lato"/>
                <a:ea typeface="Lato"/>
                <a:cs typeface="Lato"/>
                <a:sym typeface="Lato"/>
              </a:endParaRPr>
            </a:p>
            <a:p>
              <a:pPr marL="0" lvl="0" indent="0" algn="l" rtl="0">
                <a:spcBef>
                  <a:spcPts val="1500"/>
                </a:spcBef>
                <a:spcAft>
                  <a:spcPts val="0"/>
                </a:spcAft>
                <a:buNone/>
              </a:pPr>
              <a:r>
                <a:rPr lang="en-US" sz="1400" b="1">
                  <a:solidFill>
                    <a:srgbClr val="F1F5F9"/>
                  </a:solidFill>
                  <a:latin typeface="Lato"/>
                  <a:ea typeface="Lato"/>
                  <a:cs typeface="Lato"/>
                  <a:sym typeface="Lato"/>
                </a:rPr>
                <a:t>Giải pháp:</a:t>
              </a:r>
              <a:endParaRPr sz="1400" b="1">
                <a:solidFill>
                  <a:srgbClr val="F1F5F9"/>
                </a:solidFill>
                <a:latin typeface="Lato"/>
                <a:ea typeface="Lato"/>
                <a:cs typeface="Lato"/>
                <a:sym typeface="Lato"/>
              </a:endParaRPr>
            </a:p>
            <a:p>
              <a:pPr marL="0" lvl="0" indent="0" algn="l" rtl="0">
                <a:spcBef>
                  <a:spcPts val="375"/>
                </a:spcBef>
                <a:spcAft>
                  <a:spcPts val="0"/>
                </a:spcAft>
                <a:buNone/>
              </a:pPr>
              <a:r>
                <a:rPr lang="en-US" sz="1300" b="0">
                  <a:solidFill>
                    <a:srgbClr val="94A3B8"/>
                  </a:solidFill>
                  <a:latin typeface="Lato"/>
                  <a:ea typeface="Lato"/>
                  <a:cs typeface="Lato"/>
                  <a:sym typeface="Lato"/>
                </a:rPr>
                <a:t>Sử dụng Redis để đếm và giới hạn yêu cầu theo IP hoặc API Key.</a:t>
              </a:r>
              <a:endParaRPr sz="1300" b="0">
                <a:solidFill>
                  <a:srgbClr val="94A3B8"/>
                </a:solidFill>
                <a:latin typeface="Lato"/>
                <a:ea typeface="Lato"/>
                <a:cs typeface="Lato"/>
                <a:sym typeface="Lato"/>
              </a:endParaRPr>
            </a:p>
          </p:txBody>
        </p:sp>
      </p:grpSp>
      <p:grpSp>
        <p:nvGrpSpPr>
          <p:cNvPr id="213" name="Google Shape;213;p20"/>
          <p:cNvGrpSpPr/>
          <p:nvPr/>
        </p:nvGrpSpPr>
        <p:grpSpPr>
          <a:xfrm>
            <a:off x="6286500" y="2286000"/>
            <a:ext cx="5334000" cy="3048000"/>
            <a:chOff x="6286500" y="2286000"/>
            <a:chExt cx="5334000" cy="3048000"/>
          </a:xfrm>
        </p:grpSpPr>
        <p:sp>
          <p:nvSpPr>
            <p:cNvPr id="214" name="Google Shape;214;p20"/>
            <p:cNvSpPr/>
            <p:nvPr/>
          </p:nvSpPr>
          <p:spPr>
            <a:xfrm>
              <a:off x="6286500" y="2286000"/>
              <a:ext cx="5334000" cy="3048000"/>
            </a:xfrm>
            <a:prstGeom prst="roundRect">
              <a:avLst>
                <a:gd name="adj" fmla="val 5000"/>
              </a:avLst>
            </a:prstGeom>
            <a:solidFill>
              <a:srgbClr val="1E293B">
                <a:alpha val="60000"/>
              </a:srgbClr>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5" name="Google Shape;215;p20"/>
            <p:cNvSpPr txBox="1"/>
            <p:nvPr/>
          </p:nvSpPr>
          <p:spPr>
            <a:xfrm>
              <a:off x="6572250" y="2571750"/>
              <a:ext cx="4762500" cy="2476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400" b="1">
                  <a:solidFill>
                    <a:srgbClr val="10B981"/>
                  </a:solidFill>
                  <a:latin typeface="Poppins"/>
                  <a:ea typeface="Poppins"/>
                  <a:cs typeface="Poppins"/>
                  <a:sym typeface="Poppins"/>
                </a:rPr>
                <a:t>Fixed Window</a:t>
              </a:r>
              <a:endParaRPr sz="2400" b="1">
                <a:solidFill>
                  <a:srgbClr val="10B981"/>
                </a:solidFill>
                <a:latin typeface="Poppins"/>
                <a:ea typeface="Poppins"/>
                <a:cs typeface="Poppins"/>
                <a:sym typeface="Poppins"/>
              </a:endParaRPr>
            </a:p>
            <a:p>
              <a:pPr marL="0" lvl="0" indent="0" algn="l" rtl="0">
                <a:spcBef>
                  <a:spcPts val="900"/>
                </a:spcBef>
                <a:spcAft>
                  <a:spcPts val="0"/>
                </a:spcAft>
                <a:buNone/>
              </a:pPr>
              <a:r>
                <a:rPr lang="en-US" sz="1500" b="0">
                  <a:solidFill>
                    <a:srgbClr val="94A3B8"/>
                  </a:solidFill>
                  <a:latin typeface="Lato"/>
                  <a:ea typeface="Lato"/>
                  <a:cs typeface="Lato"/>
                  <a:sym typeface="Lato"/>
                </a:rPr>
                <a:t>Đếm số yêu cầu trong cửa sổ thời gian cố định. Đây là phương pháp đơn giản nhất để triển khai.</a:t>
              </a:r>
              <a:endParaRPr sz="1500" b="0">
                <a:solidFill>
                  <a:srgbClr val="94A3B8"/>
                </a:solidFill>
                <a:latin typeface="Lato"/>
                <a:ea typeface="Lato"/>
                <a:cs typeface="Lato"/>
                <a:sym typeface="Lato"/>
              </a:endParaRPr>
            </a:p>
            <a:p>
              <a:pPr marL="0" lvl="0" indent="0" algn="l" rtl="0">
                <a:spcBef>
                  <a:spcPts val="1500"/>
                </a:spcBef>
                <a:spcAft>
                  <a:spcPts val="0"/>
                </a:spcAft>
                <a:buNone/>
              </a:pPr>
              <a:r>
                <a:rPr lang="en-US" sz="1300" b="1">
                  <a:solidFill>
                    <a:srgbClr val="F1F5F9"/>
                  </a:solidFill>
                  <a:latin typeface="Lato"/>
                  <a:ea typeface="Lato"/>
                  <a:cs typeface="Lato"/>
                  <a:sym typeface="Lato"/>
                </a:rPr>
                <a:t>Redis Commands:</a:t>
              </a:r>
              <a:endParaRPr sz="1300" b="1">
                <a:solidFill>
                  <a:srgbClr val="F1F5F9"/>
                </a:solidFill>
                <a:latin typeface="Lato"/>
                <a:ea typeface="Lato"/>
                <a:cs typeface="Lato"/>
                <a:sym typeface="Lato"/>
              </a:endParaRPr>
            </a:p>
            <a:p>
              <a:pPr marL="0" lvl="0" indent="0" algn="l" rtl="0">
                <a:spcBef>
                  <a:spcPts val="600"/>
                </a:spcBef>
                <a:spcAft>
                  <a:spcPts val="0"/>
                </a:spcAft>
                <a:buNone/>
              </a:pPr>
              <a:r>
                <a:rPr lang="en-US" sz="1500" b="1">
                  <a:solidFill>
                    <a:srgbClr val="3B82F6"/>
                  </a:solidFill>
                  <a:latin typeface="Courier New"/>
                  <a:ea typeface="Courier New"/>
                  <a:cs typeface="Courier New"/>
                  <a:sym typeface="Courier New"/>
                </a:rPr>
                <a:t>INCR &amp; EXPIRE</a:t>
              </a:r>
              <a:endParaRPr sz="1500" b="1">
                <a:solidFill>
                  <a:srgbClr val="3B82F6"/>
                </a:solidFill>
                <a:latin typeface="Courier New"/>
                <a:ea typeface="Courier New"/>
                <a:cs typeface="Courier New"/>
                <a:sym typeface="Courier New"/>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19"/>
        <p:cNvGrpSpPr/>
        <p:nvPr/>
      </p:nvGrpSpPr>
      <p:grpSpPr>
        <a:xfrm>
          <a:off x="0" y="0"/>
          <a:ext cx="0" cy="0"/>
          <a:chOff x="0" y="0"/>
          <a:chExt cx="0" cy="0"/>
        </a:xfrm>
      </p:grpSpPr>
      <p:pic>
        <p:nvPicPr>
          <p:cNvPr id="220" name="Google Shape;220;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1" name="Google Shape;221;p21" descr="image.png"/>
          <p:cNvPicPr preferRelativeResize="0"/>
          <p:nvPr/>
        </p:nvPicPr>
        <p:blipFill rotWithShape="1">
          <a:blip r:embed="rId4">
            <a:alphaModFix/>
          </a:blip>
          <a:srcRect/>
          <a:stretch/>
        </p:blipFill>
        <p:spPr>
          <a:xfrm>
            <a:off x="571500" y="4040534"/>
            <a:ext cx="5286375" cy="1577280"/>
          </a:xfrm>
          <a:prstGeom prst="rect">
            <a:avLst/>
          </a:prstGeom>
          <a:noFill/>
          <a:ln>
            <a:noFill/>
          </a:ln>
        </p:spPr>
      </p:pic>
      <p:pic>
        <p:nvPicPr>
          <p:cNvPr id="222" name="Google Shape;222;p21" descr="image.png"/>
          <p:cNvPicPr preferRelativeResize="0"/>
          <p:nvPr/>
        </p:nvPicPr>
        <p:blipFill rotWithShape="1">
          <a:blip r:embed="rId5">
            <a:alphaModFix/>
          </a:blip>
          <a:srcRect/>
          <a:stretch/>
        </p:blipFill>
        <p:spPr>
          <a:xfrm>
            <a:off x="8429625" y="2192684"/>
            <a:ext cx="3190875" cy="381000"/>
          </a:xfrm>
          <a:prstGeom prst="rect">
            <a:avLst/>
          </a:prstGeom>
          <a:noFill/>
          <a:ln>
            <a:noFill/>
          </a:ln>
        </p:spPr>
      </p:pic>
      <p:pic>
        <p:nvPicPr>
          <p:cNvPr id="223" name="Google Shape;223;p21" descr="image.png"/>
          <p:cNvPicPr preferRelativeResize="0"/>
          <p:nvPr/>
        </p:nvPicPr>
        <p:blipFill rotWithShape="1">
          <a:blip r:embed="rId6">
            <a:alphaModFix/>
          </a:blip>
          <a:srcRect/>
          <a:stretch/>
        </p:blipFill>
        <p:spPr>
          <a:xfrm>
            <a:off x="8429625" y="2764184"/>
            <a:ext cx="3190875" cy="381000"/>
          </a:xfrm>
          <a:prstGeom prst="rect">
            <a:avLst/>
          </a:prstGeom>
          <a:noFill/>
          <a:ln>
            <a:noFill/>
          </a:ln>
        </p:spPr>
      </p:pic>
      <p:pic>
        <p:nvPicPr>
          <p:cNvPr id="224" name="Google Shape;224;p21" descr="image.png"/>
          <p:cNvPicPr preferRelativeResize="0"/>
          <p:nvPr/>
        </p:nvPicPr>
        <p:blipFill rotWithShape="1">
          <a:blip r:embed="rId7">
            <a:alphaModFix/>
          </a:blip>
          <a:srcRect/>
          <a:stretch/>
        </p:blipFill>
        <p:spPr>
          <a:xfrm>
            <a:off x="8429625" y="2192684"/>
            <a:ext cx="2871787" cy="381000"/>
          </a:xfrm>
          <a:prstGeom prst="rect">
            <a:avLst/>
          </a:prstGeom>
          <a:noFill/>
          <a:ln>
            <a:noFill/>
          </a:ln>
        </p:spPr>
      </p:pic>
      <p:pic>
        <p:nvPicPr>
          <p:cNvPr id="225" name="Google Shape;225;p21" descr="image.png"/>
          <p:cNvPicPr preferRelativeResize="0"/>
          <p:nvPr/>
        </p:nvPicPr>
        <p:blipFill rotWithShape="1">
          <a:blip r:embed="rId8">
            <a:alphaModFix/>
          </a:blip>
          <a:srcRect/>
          <a:stretch/>
        </p:blipFill>
        <p:spPr>
          <a:xfrm>
            <a:off x="8429625" y="2764184"/>
            <a:ext cx="1595437" cy="381000"/>
          </a:xfrm>
          <a:prstGeom prst="rect">
            <a:avLst/>
          </a:prstGeom>
          <a:noFill/>
          <a:ln>
            <a:noFill/>
          </a:ln>
        </p:spPr>
      </p:pic>
      <p:sp>
        <p:nvSpPr>
          <p:cNvPr id="226" name="Google Shape;226;p21"/>
          <p:cNvSpPr txBox="1"/>
          <p:nvPr/>
        </p:nvSpPr>
        <p:spPr>
          <a:xfrm>
            <a:off x="571500" y="2192684"/>
            <a:ext cx="5550693"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3B82F6"/>
                </a:solidFill>
                <a:latin typeface="Poppins"/>
                <a:ea typeface="Poppins"/>
                <a:cs typeface="Poppins"/>
                <a:sym typeface="Poppins"/>
              </a:rPr>
              <a:t>Khắc phục Boundary Burst</a:t>
            </a:r>
            <a:endParaRPr/>
          </a:p>
        </p:txBody>
      </p:sp>
      <p:sp>
        <p:nvSpPr>
          <p:cNvPr id="227" name="Google Shape;227;p21"/>
          <p:cNvSpPr txBox="1"/>
          <p:nvPr/>
        </p:nvSpPr>
        <p:spPr>
          <a:xfrm>
            <a:off x="571500" y="2840384"/>
            <a:ext cx="52863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Lato"/>
                <a:ea typeface="Lato"/>
                <a:cs typeface="Lato"/>
                <a:sym typeface="Lato"/>
              </a:rPr>
              <a:t>Fixed Window cho phép gấp đôi lưu lượng tại ranh giới giữa 2 cửa sổ. Sliding Window giải quyết vấn đề này bằng cách tính toán chính xác số yêu cầu trong X giây vừa qua.</a:t>
            </a:r>
            <a:endParaRPr/>
          </a:p>
        </p:txBody>
      </p:sp>
      <p:sp>
        <p:nvSpPr>
          <p:cNvPr id="228" name="Google Shape;228;p21"/>
          <p:cNvSpPr txBox="1"/>
          <p:nvPr/>
        </p:nvSpPr>
        <p:spPr>
          <a:xfrm>
            <a:off x="914400" y="4554884"/>
            <a:ext cx="46005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1" u="none" strike="noStrike" cap="none">
                <a:solidFill>
                  <a:srgbClr val="94A3B8"/>
                </a:solidFill>
                <a:latin typeface="Lato"/>
                <a:ea typeface="Lato"/>
                <a:cs typeface="Lato"/>
                <a:sym typeface="Lato"/>
              </a:rPr>
              <a:t>"Sử dụng Redis Sorted Sets (ZSET) để lưu trữ timestamp của mỗi request và tự động loại bỏ các log cũ."</a:t>
            </a:r>
            <a:endParaRPr/>
          </a:p>
        </p:txBody>
      </p:sp>
      <p:sp>
        <p:nvSpPr>
          <p:cNvPr id="229" name="Google Shape;229;p21"/>
          <p:cNvSpPr txBox="1"/>
          <p:nvPr/>
        </p:nvSpPr>
        <p:spPr>
          <a:xfrm>
            <a:off x="6334125" y="2292697"/>
            <a:ext cx="1905000" cy="18097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200" b="1" i="0" u="none" strike="noStrike" cap="none">
                <a:solidFill>
                  <a:srgbClr val="F8FAFC"/>
                </a:solidFill>
                <a:latin typeface="Lato"/>
                <a:ea typeface="Lato"/>
                <a:cs typeface="Lato"/>
                <a:sym typeface="Lato"/>
              </a:rPr>
              <a:t>Fixed Window</a:t>
            </a:r>
            <a:endParaRPr/>
          </a:p>
        </p:txBody>
      </p:sp>
      <p:sp>
        <p:nvSpPr>
          <p:cNvPr id="230" name="Google Shape;230;p21"/>
          <p:cNvSpPr txBox="1"/>
          <p:nvPr/>
        </p:nvSpPr>
        <p:spPr>
          <a:xfrm>
            <a:off x="6334125" y="2864197"/>
            <a:ext cx="1905000" cy="18097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200" b="1" i="0" u="none" strike="noStrike" cap="none">
                <a:solidFill>
                  <a:srgbClr val="F8FAFC"/>
                </a:solidFill>
                <a:latin typeface="Lato"/>
                <a:ea typeface="Lato"/>
                <a:cs typeface="Lato"/>
                <a:sym typeface="Lato"/>
              </a:rPr>
              <a:t>Sliding Window</a:t>
            </a:r>
            <a:endParaRPr/>
          </a:p>
        </p:txBody>
      </p:sp>
      <p:sp>
        <p:nvSpPr>
          <p:cNvPr id="231" name="Google Shape;231;p21"/>
          <p:cNvSpPr txBox="1"/>
          <p:nvPr/>
        </p:nvSpPr>
        <p:spPr>
          <a:xfrm>
            <a:off x="762000"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1F5F9"/>
                </a:solidFill>
                <a:latin typeface="Poppins Medium"/>
                <a:ea typeface="Poppins Medium"/>
                <a:cs typeface="Poppins Medium"/>
                <a:sym typeface="Poppins Medium"/>
              </a:rPr>
              <a:t>SLIDING WINDOW RATE LIMITING</a:t>
            </a:r>
            <a:endParaRPr/>
          </a:p>
        </p:txBody>
      </p:sp>
      <p:sp>
        <p:nvSpPr>
          <p:cNvPr id="232" name="Google Shape;232;p21"/>
          <p:cNvSpPr/>
          <p:nvPr/>
        </p:nvSpPr>
        <p:spPr>
          <a:xfrm>
            <a:off x="571500" y="571500"/>
            <a:ext cx="76200" cy="57150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36"/>
        <p:cNvGrpSpPr/>
        <p:nvPr/>
      </p:nvGrpSpPr>
      <p:grpSpPr>
        <a:xfrm>
          <a:off x="0" y="0"/>
          <a:ext cx="0" cy="0"/>
          <a:chOff x="0" y="0"/>
          <a:chExt cx="0" cy="0"/>
        </a:xfrm>
      </p:grpSpPr>
      <p:pic>
        <p:nvPicPr>
          <p:cNvPr id="237" name="Google Shape;237;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8" name="Google Shape;238;p22" descr="image.png"/>
          <p:cNvPicPr preferRelativeResize="0"/>
          <p:nvPr/>
        </p:nvPicPr>
        <p:blipFill rotWithShape="1">
          <a:blip r:embed="rId4">
            <a:alphaModFix/>
          </a:blip>
          <a:srcRect/>
          <a:stretch/>
        </p:blipFill>
        <p:spPr>
          <a:xfrm>
            <a:off x="571500" y="2400002"/>
            <a:ext cx="5286375" cy="3010495"/>
          </a:xfrm>
          <a:prstGeom prst="rect">
            <a:avLst/>
          </a:prstGeom>
          <a:noFill/>
          <a:ln>
            <a:noFill/>
          </a:ln>
        </p:spPr>
      </p:pic>
      <p:pic>
        <p:nvPicPr>
          <p:cNvPr id="240" name="Google Shape;240;p22" descr="image.png"/>
          <p:cNvPicPr preferRelativeResize="0"/>
          <p:nvPr/>
        </p:nvPicPr>
        <p:blipFill rotWithShape="1">
          <a:blip r:embed="rId5">
            <a:alphaModFix/>
          </a:blip>
          <a:srcRect/>
          <a:stretch/>
        </p:blipFill>
        <p:spPr>
          <a:xfrm>
            <a:off x="297750" y="2248646"/>
            <a:ext cx="5550599" cy="3152329"/>
          </a:xfrm>
          <a:prstGeom prst="rect">
            <a:avLst/>
          </a:prstGeom>
          <a:noFill/>
          <a:ln>
            <a:noFill/>
          </a:ln>
        </p:spPr>
      </p:pic>
      <p:sp>
        <p:nvSpPr>
          <p:cNvPr id="241" name="Google Shape;241;p22"/>
          <p:cNvSpPr txBox="1"/>
          <p:nvPr/>
        </p:nvSpPr>
        <p:spPr>
          <a:xfrm>
            <a:off x="6201975" y="1673852"/>
            <a:ext cx="5550600" cy="431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1" i="0" u="none" strike="noStrike" cap="none">
                <a:solidFill>
                  <a:srgbClr val="3B82F6"/>
                </a:solidFill>
                <a:latin typeface="Poppins"/>
                <a:ea typeface="Poppins"/>
                <a:cs typeface="Poppins"/>
                <a:sym typeface="Poppins"/>
              </a:rPr>
              <a:t>Distributed gold standard</a:t>
            </a:r>
            <a:endParaRPr sz="3200"/>
          </a:p>
        </p:txBody>
      </p:sp>
      <p:sp>
        <p:nvSpPr>
          <p:cNvPr id="242" name="Google Shape;242;p22"/>
          <p:cNvSpPr txBox="1"/>
          <p:nvPr/>
        </p:nvSpPr>
        <p:spPr>
          <a:xfrm>
            <a:off x="6201974" y="2400000"/>
            <a:ext cx="5763883" cy="83715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700" b="0" i="0" u="none" strike="noStrike" cap="none" dirty="0" err="1">
                <a:solidFill>
                  <a:srgbClr val="94A3B8"/>
                </a:solidFill>
                <a:latin typeface="Lato"/>
                <a:ea typeface="Lato"/>
                <a:cs typeface="Lato"/>
                <a:sym typeface="Lato"/>
              </a:rPr>
              <a:t>Một</a:t>
            </a:r>
            <a:r>
              <a:rPr lang="en-US" sz="1700" b="0" i="0" u="none" strike="noStrike" cap="none" dirty="0">
                <a:solidFill>
                  <a:srgbClr val="94A3B8"/>
                </a:solidFill>
                <a:latin typeface="Lato"/>
                <a:ea typeface="Lato"/>
                <a:cs typeface="Lato"/>
                <a:sym typeface="Lato"/>
              </a:rPr>
              <a:t> "</a:t>
            </a:r>
            <a:r>
              <a:rPr lang="en-US" sz="1700" b="0" i="0" u="none" strike="noStrike" cap="none" dirty="0" err="1">
                <a:solidFill>
                  <a:srgbClr val="94A3B8"/>
                </a:solidFill>
                <a:latin typeface="Lato"/>
                <a:ea typeface="Lato"/>
                <a:cs typeface="Lato"/>
                <a:sym typeface="Lato"/>
              </a:rPr>
              <a:t>giỏ</a:t>
            </a:r>
            <a:r>
              <a:rPr lang="en-US" sz="1700" b="0" i="0" u="none" strike="noStrike" cap="none" dirty="0">
                <a:solidFill>
                  <a:srgbClr val="94A3B8"/>
                </a:solidFill>
                <a:latin typeface="Lato"/>
                <a:ea typeface="Lato"/>
                <a:cs typeface="Lato"/>
                <a:sym typeface="Lato"/>
              </a:rPr>
              <a:t> token" </a:t>
            </a:r>
            <a:r>
              <a:rPr lang="en-US" sz="1700" b="0" i="0" u="none" strike="noStrike" cap="none" dirty="0" err="1">
                <a:solidFill>
                  <a:srgbClr val="94A3B8"/>
                </a:solidFill>
                <a:latin typeface="Lato"/>
                <a:ea typeface="Lato"/>
                <a:cs typeface="Lato"/>
                <a:sym typeface="Lato"/>
              </a:rPr>
              <a:t>được</a:t>
            </a:r>
            <a:r>
              <a:rPr lang="en-US" sz="1700" b="0" i="0" u="none" strike="noStrike" cap="none" dirty="0">
                <a:solidFill>
                  <a:srgbClr val="94A3B8"/>
                </a:solidFill>
                <a:latin typeface="Lato"/>
                <a:ea typeface="Lato"/>
                <a:cs typeface="Lato"/>
                <a:sym typeface="Lato"/>
              </a:rPr>
              <a:t> </a:t>
            </a:r>
            <a:r>
              <a:rPr lang="en-US" sz="1700" b="0" i="0" u="none" strike="noStrike" cap="none" dirty="0" err="1">
                <a:solidFill>
                  <a:srgbClr val="94A3B8"/>
                </a:solidFill>
                <a:latin typeface="Lato"/>
                <a:ea typeface="Lato"/>
                <a:cs typeface="Lato"/>
                <a:sym typeface="Lato"/>
              </a:rPr>
              <a:t>duy</a:t>
            </a:r>
            <a:r>
              <a:rPr lang="en-US" sz="1700" b="0" i="0" u="none" strike="noStrike" cap="none" dirty="0">
                <a:solidFill>
                  <a:srgbClr val="94A3B8"/>
                </a:solidFill>
                <a:latin typeface="Lato"/>
                <a:ea typeface="Lato"/>
                <a:cs typeface="Lato"/>
                <a:sym typeface="Lato"/>
              </a:rPr>
              <a:t> </a:t>
            </a:r>
            <a:r>
              <a:rPr lang="en-US" sz="1700" b="0" i="0" u="none" strike="noStrike" cap="none" dirty="0" err="1">
                <a:solidFill>
                  <a:srgbClr val="94A3B8"/>
                </a:solidFill>
                <a:latin typeface="Lato"/>
                <a:ea typeface="Lato"/>
                <a:cs typeface="Lato"/>
                <a:sym typeface="Lato"/>
              </a:rPr>
              <a:t>trì</a:t>
            </a:r>
            <a:r>
              <a:rPr lang="en-US" sz="1700" b="0" i="0" u="none" strike="noStrike" cap="none" dirty="0">
                <a:solidFill>
                  <a:srgbClr val="94A3B8"/>
                </a:solidFill>
                <a:latin typeface="Lato"/>
                <a:ea typeface="Lato"/>
                <a:cs typeface="Lato"/>
                <a:sym typeface="Lato"/>
              </a:rPr>
              <a:t> </a:t>
            </a:r>
            <a:r>
              <a:rPr lang="en-US" sz="1700" b="0" i="0" u="none" strike="noStrike" cap="none" dirty="0" err="1">
                <a:solidFill>
                  <a:srgbClr val="94A3B8"/>
                </a:solidFill>
                <a:latin typeface="Lato"/>
                <a:ea typeface="Lato"/>
                <a:cs typeface="Lato"/>
                <a:sym typeface="Lato"/>
              </a:rPr>
              <a:t>trong</a:t>
            </a:r>
            <a:r>
              <a:rPr lang="en-US" sz="1700" b="0" i="0" u="none" strike="noStrike" cap="none" dirty="0">
                <a:solidFill>
                  <a:srgbClr val="94A3B8"/>
                </a:solidFill>
                <a:latin typeface="Lato"/>
                <a:ea typeface="Lato"/>
                <a:cs typeface="Lato"/>
                <a:sym typeface="Lato"/>
              </a:rPr>
              <a:t> Redis. Mỗi </a:t>
            </a:r>
            <a:r>
              <a:rPr lang="en-US" sz="1700" b="0" i="0" u="none" strike="noStrike" cap="none" dirty="0" err="1">
                <a:solidFill>
                  <a:srgbClr val="94A3B8"/>
                </a:solidFill>
                <a:latin typeface="Lato"/>
                <a:ea typeface="Lato"/>
                <a:cs typeface="Lato"/>
                <a:sym typeface="Lato"/>
              </a:rPr>
              <a:t>yêu</a:t>
            </a:r>
            <a:r>
              <a:rPr lang="en-US" sz="1700" b="0" i="0" u="none" strike="noStrike" cap="none" dirty="0">
                <a:solidFill>
                  <a:srgbClr val="94A3B8"/>
                </a:solidFill>
                <a:latin typeface="Lato"/>
                <a:ea typeface="Lato"/>
                <a:cs typeface="Lato"/>
                <a:sym typeface="Lato"/>
              </a:rPr>
              <a:t> </a:t>
            </a:r>
            <a:r>
              <a:rPr lang="en-US" sz="1700" b="0" i="0" u="none" strike="noStrike" cap="none" dirty="0" err="1">
                <a:solidFill>
                  <a:srgbClr val="94A3B8"/>
                </a:solidFill>
                <a:latin typeface="Lato"/>
                <a:ea typeface="Lato"/>
                <a:cs typeface="Lato"/>
                <a:sym typeface="Lato"/>
              </a:rPr>
              <a:t>cầu</a:t>
            </a:r>
            <a:r>
              <a:rPr lang="en-US" sz="1700" b="0" i="0" u="none" strike="noStrike" cap="none" dirty="0">
                <a:solidFill>
                  <a:srgbClr val="94A3B8"/>
                </a:solidFill>
                <a:latin typeface="Lato"/>
                <a:ea typeface="Lato"/>
                <a:cs typeface="Lato"/>
                <a:sym typeface="Lato"/>
              </a:rPr>
              <a:t> </a:t>
            </a:r>
            <a:r>
              <a:rPr lang="en-US" sz="1700" b="0" i="0" u="none" strike="noStrike" cap="none" dirty="0" err="1">
                <a:solidFill>
                  <a:srgbClr val="94A3B8"/>
                </a:solidFill>
                <a:latin typeface="Lato"/>
                <a:ea typeface="Lato"/>
                <a:cs typeface="Lato"/>
                <a:sym typeface="Lato"/>
              </a:rPr>
              <a:t>tiêu</a:t>
            </a:r>
            <a:r>
              <a:rPr lang="en-US" sz="1700" b="0" i="0" u="none" strike="noStrike" cap="none" dirty="0">
                <a:solidFill>
                  <a:srgbClr val="94A3B8"/>
                </a:solidFill>
                <a:latin typeface="Lato"/>
                <a:ea typeface="Lato"/>
                <a:cs typeface="Lato"/>
                <a:sym typeface="Lato"/>
              </a:rPr>
              <a:t> </a:t>
            </a:r>
            <a:r>
              <a:rPr lang="en-US" sz="1700" b="0" i="0" u="none" strike="noStrike" cap="none" dirty="0" err="1">
                <a:solidFill>
                  <a:srgbClr val="94A3B8"/>
                </a:solidFill>
                <a:latin typeface="Lato"/>
                <a:ea typeface="Lato"/>
                <a:cs typeface="Lato"/>
                <a:sym typeface="Lato"/>
              </a:rPr>
              <a:t>tốn</a:t>
            </a:r>
            <a:r>
              <a:rPr lang="en-US" sz="1700" b="0" i="0" u="none" strike="noStrike" cap="none" dirty="0">
                <a:solidFill>
                  <a:srgbClr val="94A3B8"/>
                </a:solidFill>
                <a:latin typeface="Lato"/>
                <a:ea typeface="Lato"/>
                <a:cs typeface="Lato"/>
                <a:sym typeface="Lato"/>
              </a:rPr>
              <a:t> 1 token. Token </a:t>
            </a:r>
            <a:r>
              <a:rPr lang="en-US" sz="1700" b="0" i="0" u="none" strike="noStrike" cap="none" dirty="0" err="1">
                <a:solidFill>
                  <a:srgbClr val="94A3B8"/>
                </a:solidFill>
                <a:latin typeface="Lato"/>
                <a:ea typeface="Lato"/>
                <a:cs typeface="Lato"/>
                <a:sym typeface="Lato"/>
              </a:rPr>
              <a:t>được</a:t>
            </a:r>
            <a:r>
              <a:rPr lang="en-US" sz="1700" b="0" i="0" u="none" strike="noStrike" cap="none" dirty="0">
                <a:solidFill>
                  <a:srgbClr val="94A3B8"/>
                </a:solidFill>
                <a:latin typeface="Lato"/>
                <a:ea typeface="Lato"/>
                <a:cs typeface="Lato"/>
                <a:sym typeface="Lato"/>
              </a:rPr>
              <a:t> </a:t>
            </a:r>
            <a:r>
              <a:rPr lang="en-US" sz="1700" b="0" i="0" u="none" strike="noStrike" cap="none" dirty="0" err="1">
                <a:solidFill>
                  <a:srgbClr val="94A3B8"/>
                </a:solidFill>
                <a:latin typeface="Lato"/>
                <a:ea typeface="Lato"/>
                <a:cs typeface="Lato"/>
                <a:sym typeface="Lato"/>
              </a:rPr>
              <a:t>nạp</a:t>
            </a:r>
            <a:r>
              <a:rPr lang="en-US" sz="1700" b="0" i="0" u="none" strike="noStrike" cap="none" dirty="0">
                <a:solidFill>
                  <a:srgbClr val="94A3B8"/>
                </a:solidFill>
                <a:latin typeface="Lato"/>
                <a:ea typeface="Lato"/>
                <a:cs typeface="Lato"/>
                <a:sym typeface="Lato"/>
              </a:rPr>
              <a:t> </a:t>
            </a:r>
            <a:r>
              <a:rPr lang="en-US" sz="1700" b="0" i="0" u="none" strike="noStrike" cap="none" dirty="0" err="1">
                <a:solidFill>
                  <a:srgbClr val="94A3B8"/>
                </a:solidFill>
                <a:latin typeface="Lato"/>
                <a:ea typeface="Lato"/>
                <a:cs typeface="Lato"/>
                <a:sym typeface="Lato"/>
              </a:rPr>
              <a:t>lại</a:t>
            </a:r>
            <a:r>
              <a:rPr lang="en-US" sz="1700" b="0" i="0" u="none" strike="noStrike" cap="none" dirty="0">
                <a:solidFill>
                  <a:srgbClr val="94A3B8"/>
                </a:solidFill>
                <a:latin typeface="Lato"/>
                <a:ea typeface="Lato"/>
                <a:cs typeface="Lato"/>
                <a:sym typeface="Lato"/>
              </a:rPr>
              <a:t> </a:t>
            </a:r>
            <a:r>
              <a:rPr lang="en-US" sz="1700" b="0" i="0" u="none" strike="noStrike" cap="none" dirty="0" err="1">
                <a:solidFill>
                  <a:srgbClr val="94A3B8"/>
                </a:solidFill>
                <a:latin typeface="Lato"/>
                <a:ea typeface="Lato"/>
                <a:cs typeface="Lato"/>
                <a:sym typeface="Lato"/>
              </a:rPr>
              <a:t>theo</a:t>
            </a:r>
            <a:r>
              <a:rPr lang="en-US" sz="1700" b="0" i="0" u="none" strike="noStrike" cap="none" dirty="0">
                <a:solidFill>
                  <a:srgbClr val="94A3B8"/>
                </a:solidFill>
                <a:latin typeface="Lato"/>
                <a:ea typeface="Lato"/>
                <a:cs typeface="Lato"/>
                <a:sym typeface="Lato"/>
              </a:rPr>
              <a:t> </a:t>
            </a:r>
            <a:r>
              <a:rPr lang="en-US" sz="1700" b="0" i="0" u="none" strike="noStrike" cap="none" dirty="0" err="1">
                <a:solidFill>
                  <a:srgbClr val="94A3B8"/>
                </a:solidFill>
                <a:latin typeface="Lato"/>
                <a:ea typeface="Lato"/>
                <a:cs typeface="Lato"/>
                <a:sym typeface="Lato"/>
              </a:rPr>
              <a:t>tỉ</a:t>
            </a:r>
            <a:r>
              <a:rPr lang="en-US" sz="1700" b="0" i="0" u="none" strike="noStrike" cap="none" dirty="0">
                <a:solidFill>
                  <a:srgbClr val="94A3B8"/>
                </a:solidFill>
                <a:latin typeface="Lato"/>
                <a:ea typeface="Lato"/>
                <a:cs typeface="Lato"/>
                <a:sym typeface="Lato"/>
              </a:rPr>
              <a:t> </a:t>
            </a:r>
            <a:r>
              <a:rPr lang="en-US" sz="1700" b="0" i="0" u="none" strike="noStrike" cap="none" dirty="0" err="1">
                <a:solidFill>
                  <a:srgbClr val="94A3B8"/>
                </a:solidFill>
                <a:latin typeface="Lato"/>
                <a:ea typeface="Lato"/>
                <a:cs typeface="Lato"/>
                <a:sym typeface="Lato"/>
              </a:rPr>
              <a:t>lệ</a:t>
            </a:r>
            <a:r>
              <a:rPr lang="en-US" sz="1700" b="0" i="0" u="none" strike="noStrike" cap="none" dirty="0">
                <a:solidFill>
                  <a:srgbClr val="94A3B8"/>
                </a:solidFill>
                <a:latin typeface="Lato"/>
                <a:ea typeface="Lato"/>
                <a:cs typeface="Lato"/>
                <a:sym typeface="Lato"/>
              </a:rPr>
              <a:t> </a:t>
            </a:r>
            <a:r>
              <a:rPr lang="en-US" sz="1700" b="0" i="0" u="none" strike="noStrike" cap="none" dirty="0" err="1">
                <a:solidFill>
                  <a:srgbClr val="94A3B8"/>
                </a:solidFill>
                <a:latin typeface="Lato"/>
                <a:ea typeface="Lato"/>
                <a:cs typeface="Lato"/>
                <a:sym typeface="Lato"/>
              </a:rPr>
              <a:t>cố</a:t>
            </a:r>
            <a:r>
              <a:rPr lang="en-US" sz="1700" b="0" i="0" u="none" strike="noStrike" cap="none" dirty="0">
                <a:solidFill>
                  <a:srgbClr val="94A3B8"/>
                </a:solidFill>
                <a:latin typeface="Lato"/>
                <a:ea typeface="Lato"/>
                <a:cs typeface="Lato"/>
                <a:sym typeface="Lato"/>
              </a:rPr>
              <a:t> </a:t>
            </a:r>
            <a:r>
              <a:rPr lang="en-US" sz="1700" b="0" i="0" u="none" strike="noStrike" cap="none" dirty="0" err="1">
                <a:solidFill>
                  <a:srgbClr val="94A3B8"/>
                </a:solidFill>
                <a:latin typeface="Lato"/>
                <a:ea typeface="Lato"/>
                <a:cs typeface="Lato"/>
                <a:sym typeface="Lato"/>
              </a:rPr>
              <a:t>định</a:t>
            </a:r>
            <a:r>
              <a:rPr lang="en-US" sz="1700" b="0" i="0" u="none" strike="noStrike" cap="none" dirty="0">
                <a:solidFill>
                  <a:srgbClr val="94A3B8"/>
                </a:solidFill>
                <a:latin typeface="Lato"/>
                <a:ea typeface="Lato"/>
                <a:cs typeface="Lato"/>
                <a:sym typeface="Lato"/>
              </a:rPr>
              <a:t> (Refill Rate).</a:t>
            </a:r>
            <a:endParaRPr sz="1600" dirty="0"/>
          </a:p>
        </p:txBody>
      </p:sp>
      <p:sp>
        <p:nvSpPr>
          <p:cNvPr id="243" name="Google Shape;243;p22"/>
          <p:cNvSpPr txBox="1"/>
          <p:nvPr/>
        </p:nvSpPr>
        <p:spPr>
          <a:xfrm>
            <a:off x="6334124" y="4760777"/>
            <a:ext cx="5560125"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dirty="0" err="1">
                <a:solidFill>
                  <a:srgbClr val="94A3B8"/>
                </a:solidFill>
                <a:latin typeface="Lato"/>
                <a:ea typeface="Lato"/>
                <a:cs typeface="Lato"/>
                <a:sym typeface="Lato"/>
              </a:rPr>
              <a:t>Sử</a:t>
            </a:r>
            <a:r>
              <a:rPr lang="en-US" sz="1600" b="0" i="0" u="none" strike="noStrike" cap="none" dirty="0">
                <a:solidFill>
                  <a:srgbClr val="94A3B8"/>
                </a:solidFill>
                <a:latin typeface="Lato"/>
                <a:ea typeface="Lato"/>
                <a:cs typeface="Lato"/>
                <a:sym typeface="Lato"/>
              </a:rPr>
              <a:t> </a:t>
            </a:r>
            <a:r>
              <a:rPr lang="en-US" sz="1600" b="0" i="0" u="none" strike="noStrike" cap="none" dirty="0" err="1">
                <a:solidFill>
                  <a:srgbClr val="94A3B8"/>
                </a:solidFill>
                <a:latin typeface="Lato"/>
                <a:ea typeface="Lato"/>
                <a:cs typeface="Lato"/>
                <a:sym typeface="Lato"/>
              </a:rPr>
              <a:t>dụng</a:t>
            </a:r>
            <a:r>
              <a:rPr lang="en-US" sz="1600" b="0" i="0" u="none" strike="noStrike" cap="none" dirty="0">
                <a:solidFill>
                  <a:srgbClr val="94A3B8"/>
                </a:solidFill>
                <a:latin typeface="Lato"/>
                <a:ea typeface="Lato"/>
                <a:cs typeface="Lato"/>
                <a:sym typeface="Lato"/>
              </a:rPr>
              <a:t> </a:t>
            </a:r>
            <a:r>
              <a:rPr lang="en-US" sz="1600" b="1" i="0" u="none" strike="noStrike" cap="none" dirty="0">
                <a:solidFill>
                  <a:srgbClr val="F1F5F9"/>
                </a:solidFill>
                <a:latin typeface="Lato"/>
                <a:ea typeface="Lato"/>
                <a:cs typeface="Lato"/>
                <a:sym typeface="Lato"/>
              </a:rPr>
              <a:t>Lua Scripts</a:t>
            </a:r>
            <a:r>
              <a:rPr lang="en-US" sz="1600" b="0" i="0" u="none" strike="noStrike" cap="none" dirty="0">
                <a:solidFill>
                  <a:srgbClr val="94A3B8"/>
                </a:solidFill>
                <a:latin typeface="Lato"/>
                <a:ea typeface="Lato"/>
                <a:cs typeface="Lato"/>
                <a:sym typeface="Lato"/>
              </a:rPr>
              <a:t> </a:t>
            </a:r>
            <a:r>
              <a:rPr lang="en-US" sz="1600" b="0" i="0" u="none" strike="noStrike" cap="none" dirty="0" err="1">
                <a:solidFill>
                  <a:srgbClr val="94A3B8"/>
                </a:solidFill>
                <a:latin typeface="Lato"/>
                <a:ea typeface="Lato"/>
                <a:cs typeface="Lato"/>
                <a:sym typeface="Lato"/>
              </a:rPr>
              <a:t>trong</a:t>
            </a:r>
            <a:r>
              <a:rPr lang="en-US" sz="1600" b="0" i="0" u="none" strike="noStrike" cap="none" dirty="0">
                <a:solidFill>
                  <a:srgbClr val="94A3B8"/>
                </a:solidFill>
                <a:latin typeface="Lato"/>
                <a:ea typeface="Lato"/>
                <a:cs typeface="Lato"/>
                <a:sym typeface="Lato"/>
              </a:rPr>
              <a:t> Redis </a:t>
            </a:r>
            <a:r>
              <a:rPr lang="en-US" sz="1600" b="0" i="0" u="none" strike="noStrike" cap="none" dirty="0" err="1">
                <a:solidFill>
                  <a:srgbClr val="94A3B8"/>
                </a:solidFill>
                <a:latin typeface="Lato"/>
                <a:ea typeface="Lato"/>
                <a:cs typeface="Lato"/>
                <a:sym typeface="Lato"/>
              </a:rPr>
              <a:t>để</a:t>
            </a:r>
            <a:r>
              <a:rPr lang="en-US" sz="1600" b="0" i="0" u="none" strike="noStrike" cap="none" dirty="0">
                <a:solidFill>
                  <a:srgbClr val="94A3B8"/>
                </a:solidFill>
                <a:latin typeface="Lato"/>
                <a:ea typeface="Lato"/>
                <a:cs typeface="Lato"/>
                <a:sym typeface="Lato"/>
              </a:rPr>
              <a:t> </a:t>
            </a:r>
            <a:r>
              <a:rPr lang="en-US" sz="1600" b="0" i="0" u="none" strike="noStrike" cap="none" dirty="0" err="1">
                <a:solidFill>
                  <a:srgbClr val="94A3B8"/>
                </a:solidFill>
                <a:latin typeface="Lato"/>
                <a:ea typeface="Lato"/>
                <a:cs typeface="Lato"/>
                <a:sym typeface="Lato"/>
              </a:rPr>
              <a:t>đảm</a:t>
            </a:r>
            <a:r>
              <a:rPr lang="en-US" sz="1600" b="0" i="0" u="none" strike="noStrike" cap="none" dirty="0">
                <a:solidFill>
                  <a:srgbClr val="94A3B8"/>
                </a:solidFill>
                <a:latin typeface="Lato"/>
                <a:ea typeface="Lato"/>
                <a:cs typeface="Lato"/>
                <a:sym typeface="Lato"/>
              </a:rPr>
              <a:t> </a:t>
            </a:r>
            <a:r>
              <a:rPr lang="en-US" sz="1600" b="0" i="0" u="none" strike="noStrike" cap="none" dirty="0" err="1">
                <a:solidFill>
                  <a:srgbClr val="94A3B8"/>
                </a:solidFill>
                <a:latin typeface="Lato"/>
                <a:ea typeface="Lato"/>
                <a:cs typeface="Lato"/>
                <a:sym typeface="Lato"/>
              </a:rPr>
              <a:t>bảo</a:t>
            </a:r>
            <a:r>
              <a:rPr lang="en-US" sz="1600" b="0" i="0" u="none" strike="noStrike" cap="none" dirty="0">
                <a:solidFill>
                  <a:srgbClr val="94A3B8"/>
                </a:solidFill>
                <a:latin typeface="Lato"/>
                <a:ea typeface="Lato"/>
                <a:cs typeface="Lato"/>
                <a:sym typeface="Lato"/>
              </a:rPr>
              <a:t> </a:t>
            </a:r>
            <a:r>
              <a:rPr lang="en-US" sz="1600" b="0" i="0" u="none" strike="noStrike" cap="none" dirty="0" err="1">
                <a:solidFill>
                  <a:srgbClr val="94A3B8"/>
                </a:solidFill>
                <a:latin typeface="Lato"/>
                <a:ea typeface="Lato"/>
                <a:cs typeface="Lato"/>
                <a:sym typeface="Lato"/>
              </a:rPr>
              <a:t>tính</a:t>
            </a:r>
            <a:r>
              <a:rPr lang="en-US" sz="1600" b="0" i="0" u="none" strike="noStrike" cap="none" dirty="0">
                <a:solidFill>
                  <a:srgbClr val="94A3B8"/>
                </a:solidFill>
                <a:latin typeface="Lato"/>
                <a:ea typeface="Lato"/>
                <a:cs typeface="Lato"/>
                <a:sym typeface="Lato"/>
              </a:rPr>
              <a:t> </a:t>
            </a:r>
            <a:r>
              <a:rPr lang="en-US" sz="1600" b="0" i="0" u="none" strike="noStrike" cap="none" dirty="0" err="1">
                <a:solidFill>
                  <a:srgbClr val="94A3B8"/>
                </a:solidFill>
                <a:latin typeface="Lato"/>
                <a:ea typeface="Lato"/>
                <a:cs typeface="Lato"/>
                <a:sym typeface="Lato"/>
              </a:rPr>
              <a:t>nguyên</a:t>
            </a:r>
            <a:r>
              <a:rPr lang="en-US" sz="1600" b="0" i="0" u="none" strike="noStrike" cap="none" dirty="0">
                <a:solidFill>
                  <a:srgbClr val="94A3B8"/>
                </a:solidFill>
                <a:latin typeface="Lato"/>
                <a:ea typeface="Lato"/>
                <a:cs typeface="Lato"/>
                <a:sym typeface="Lato"/>
              </a:rPr>
              <a:t> </a:t>
            </a:r>
            <a:r>
              <a:rPr lang="en-US" sz="1600" b="0" i="0" u="none" strike="noStrike" cap="none" dirty="0" err="1">
                <a:solidFill>
                  <a:srgbClr val="94A3B8"/>
                </a:solidFill>
                <a:latin typeface="Lato"/>
                <a:ea typeface="Lato"/>
                <a:cs typeface="Lato"/>
                <a:sym typeface="Lato"/>
              </a:rPr>
              <a:t>tử</a:t>
            </a:r>
            <a:r>
              <a:rPr lang="en-US" sz="1600" b="0" i="0" u="none" strike="noStrike" cap="none" dirty="0">
                <a:solidFill>
                  <a:srgbClr val="94A3B8"/>
                </a:solidFill>
                <a:latin typeface="Lato"/>
                <a:ea typeface="Lato"/>
                <a:cs typeface="Lato"/>
                <a:sym typeface="Lato"/>
              </a:rPr>
              <a:t> (Atomicity) </a:t>
            </a:r>
            <a:r>
              <a:rPr lang="en-US" sz="1600" b="0" i="0" u="none" strike="noStrike" cap="none" dirty="0" err="1">
                <a:solidFill>
                  <a:srgbClr val="94A3B8"/>
                </a:solidFill>
                <a:latin typeface="Lato"/>
                <a:ea typeface="Lato"/>
                <a:cs typeface="Lato"/>
                <a:sym typeface="Lato"/>
              </a:rPr>
              <a:t>khi</a:t>
            </a:r>
            <a:r>
              <a:rPr lang="en-US" sz="1600" b="0" i="0" u="none" strike="noStrike" cap="none" dirty="0">
                <a:solidFill>
                  <a:srgbClr val="94A3B8"/>
                </a:solidFill>
                <a:latin typeface="Lato"/>
                <a:ea typeface="Lato"/>
                <a:cs typeface="Lato"/>
                <a:sym typeface="Lato"/>
              </a:rPr>
              <a:t> </a:t>
            </a:r>
            <a:r>
              <a:rPr lang="en-US" sz="1600" b="0" i="0" u="none" strike="noStrike" cap="none" dirty="0" err="1">
                <a:solidFill>
                  <a:srgbClr val="94A3B8"/>
                </a:solidFill>
                <a:latin typeface="Lato"/>
                <a:ea typeface="Lato"/>
                <a:cs typeface="Lato"/>
                <a:sym typeface="Lato"/>
              </a:rPr>
              <a:t>nạp</a:t>
            </a:r>
            <a:r>
              <a:rPr lang="en-US" sz="1600" b="0" i="0" u="none" strike="noStrike" cap="none" dirty="0">
                <a:solidFill>
                  <a:srgbClr val="94A3B8"/>
                </a:solidFill>
                <a:latin typeface="Lato"/>
                <a:ea typeface="Lato"/>
                <a:cs typeface="Lato"/>
                <a:sym typeface="Lato"/>
              </a:rPr>
              <a:t> </a:t>
            </a:r>
            <a:r>
              <a:rPr lang="en-US" sz="1600" b="0" i="0" u="none" strike="noStrike" cap="none" dirty="0" err="1">
                <a:solidFill>
                  <a:srgbClr val="94A3B8"/>
                </a:solidFill>
                <a:latin typeface="Lato"/>
                <a:ea typeface="Lato"/>
                <a:cs typeface="Lato"/>
                <a:sym typeface="Lato"/>
              </a:rPr>
              <a:t>và</a:t>
            </a:r>
            <a:r>
              <a:rPr lang="en-US" sz="1600" b="0" i="0" u="none" strike="noStrike" cap="none" dirty="0">
                <a:solidFill>
                  <a:srgbClr val="94A3B8"/>
                </a:solidFill>
                <a:latin typeface="Lato"/>
                <a:ea typeface="Lato"/>
                <a:cs typeface="Lato"/>
                <a:sym typeface="Lato"/>
              </a:rPr>
              <a:t> </a:t>
            </a:r>
            <a:r>
              <a:rPr lang="en-US" sz="1600" b="0" i="0" u="none" strike="noStrike" cap="none" dirty="0" err="1">
                <a:solidFill>
                  <a:srgbClr val="94A3B8"/>
                </a:solidFill>
                <a:latin typeface="Lato"/>
                <a:ea typeface="Lato"/>
                <a:cs typeface="Lato"/>
                <a:sym typeface="Lato"/>
              </a:rPr>
              <a:t>trừ</a:t>
            </a:r>
            <a:r>
              <a:rPr lang="en-US" sz="1600" b="0" i="0" u="none" strike="noStrike" cap="none" dirty="0">
                <a:solidFill>
                  <a:srgbClr val="94A3B8"/>
                </a:solidFill>
                <a:latin typeface="Lato"/>
                <a:ea typeface="Lato"/>
                <a:cs typeface="Lato"/>
                <a:sym typeface="Lato"/>
              </a:rPr>
              <a:t> token.</a:t>
            </a:r>
            <a:endParaRPr sz="1800" dirty="0"/>
          </a:p>
        </p:txBody>
      </p:sp>
      <p:pic>
        <p:nvPicPr>
          <p:cNvPr id="244" name="Google Shape;244;p22" descr="image.png"/>
          <p:cNvPicPr preferRelativeResize="0"/>
          <p:nvPr/>
        </p:nvPicPr>
        <p:blipFill rotWithShape="1">
          <a:blip r:embed="rId6">
            <a:alphaModFix/>
          </a:blip>
          <a:srcRect/>
          <a:stretch/>
        </p:blipFill>
        <p:spPr>
          <a:xfrm>
            <a:off x="6429375" y="3558110"/>
            <a:ext cx="5095800" cy="433787"/>
          </a:xfrm>
          <a:prstGeom prst="rect">
            <a:avLst/>
          </a:prstGeom>
          <a:noFill/>
          <a:ln>
            <a:noFill/>
          </a:ln>
        </p:spPr>
      </p:pic>
      <p:sp>
        <p:nvSpPr>
          <p:cNvPr id="245" name="Google Shape;245;p22"/>
          <p:cNvSpPr txBox="1"/>
          <p:nvPr/>
        </p:nvSpPr>
        <p:spPr>
          <a:xfrm>
            <a:off x="762000"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1F5F9"/>
                </a:solidFill>
                <a:latin typeface="Poppins Medium"/>
                <a:ea typeface="Poppins Medium"/>
                <a:cs typeface="Poppins Medium"/>
                <a:sym typeface="Poppins Medium"/>
              </a:rPr>
              <a:t>THUẬT TOÁN TOKEN BUCKET</a:t>
            </a:r>
            <a:endParaRPr/>
          </a:p>
        </p:txBody>
      </p:sp>
      <p:sp>
        <p:nvSpPr>
          <p:cNvPr id="246" name="Google Shape;246;p22"/>
          <p:cNvSpPr/>
          <p:nvPr/>
        </p:nvSpPr>
        <p:spPr>
          <a:xfrm>
            <a:off x="571500" y="571500"/>
            <a:ext cx="76200" cy="57150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50"/>
        <p:cNvGrpSpPr/>
        <p:nvPr/>
      </p:nvGrpSpPr>
      <p:grpSpPr>
        <a:xfrm>
          <a:off x="0" y="0"/>
          <a:ext cx="0" cy="0"/>
          <a:chOff x="0" y="0"/>
          <a:chExt cx="0" cy="0"/>
        </a:xfrm>
      </p:grpSpPr>
      <p:pic>
        <p:nvPicPr>
          <p:cNvPr id="251" name="Google Shape;251;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2" name="Google Shape;252;p23" descr="image.png"/>
          <p:cNvPicPr preferRelativeResize="0"/>
          <p:nvPr/>
        </p:nvPicPr>
        <p:blipFill rotWithShape="1">
          <a:blip r:embed="rId4">
            <a:alphaModFix/>
          </a:blip>
          <a:srcRect/>
          <a:stretch/>
        </p:blipFill>
        <p:spPr>
          <a:xfrm>
            <a:off x="571500" y="3757463"/>
            <a:ext cx="3492549" cy="1771650"/>
          </a:xfrm>
          <a:prstGeom prst="rect">
            <a:avLst/>
          </a:prstGeom>
          <a:noFill/>
          <a:ln>
            <a:noFill/>
          </a:ln>
        </p:spPr>
      </p:pic>
      <p:pic>
        <p:nvPicPr>
          <p:cNvPr id="253" name="Google Shape;253;p23" descr="image.png"/>
          <p:cNvPicPr preferRelativeResize="0"/>
          <p:nvPr/>
        </p:nvPicPr>
        <p:blipFill rotWithShape="1">
          <a:blip r:embed="rId5">
            <a:alphaModFix/>
          </a:blip>
          <a:srcRect/>
          <a:stretch/>
        </p:blipFill>
        <p:spPr>
          <a:xfrm>
            <a:off x="4349799" y="3757463"/>
            <a:ext cx="3492549" cy="1771650"/>
          </a:xfrm>
          <a:prstGeom prst="rect">
            <a:avLst/>
          </a:prstGeom>
          <a:noFill/>
          <a:ln>
            <a:noFill/>
          </a:ln>
        </p:spPr>
      </p:pic>
      <p:pic>
        <p:nvPicPr>
          <p:cNvPr id="254" name="Google Shape;254;p23" descr="image.png"/>
          <p:cNvPicPr preferRelativeResize="0"/>
          <p:nvPr/>
        </p:nvPicPr>
        <p:blipFill rotWithShape="1">
          <a:blip r:embed="rId6">
            <a:alphaModFix/>
          </a:blip>
          <a:srcRect/>
          <a:stretch/>
        </p:blipFill>
        <p:spPr>
          <a:xfrm>
            <a:off x="8128099" y="3757463"/>
            <a:ext cx="3492549" cy="1771650"/>
          </a:xfrm>
          <a:prstGeom prst="rect">
            <a:avLst/>
          </a:prstGeom>
          <a:noFill/>
          <a:ln>
            <a:noFill/>
          </a:ln>
        </p:spPr>
      </p:pic>
      <p:sp>
        <p:nvSpPr>
          <p:cNvPr id="255" name="Google Shape;255;p23"/>
          <p:cNvSpPr txBox="1"/>
          <p:nvPr/>
        </p:nvSpPr>
        <p:spPr>
          <a:xfrm>
            <a:off x="794225" y="4090838"/>
            <a:ext cx="3047099"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3B82F6"/>
                </a:solidFill>
                <a:latin typeface="Poppins"/>
                <a:ea typeface="Poppins"/>
                <a:cs typeface="Poppins"/>
                <a:sym typeface="Poppins"/>
              </a:rPr>
              <a:t>CLOSED</a:t>
            </a:r>
            <a:endParaRPr/>
          </a:p>
        </p:txBody>
      </p:sp>
      <p:sp>
        <p:nvSpPr>
          <p:cNvPr id="256" name="Google Shape;256;p23"/>
          <p:cNvSpPr txBox="1"/>
          <p:nvPr/>
        </p:nvSpPr>
        <p:spPr>
          <a:xfrm>
            <a:off x="866775" y="4738538"/>
            <a:ext cx="2901999"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Lato"/>
                <a:ea typeface="Lato"/>
                <a:cs typeface="Lato"/>
                <a:sym typeface="Lato"/>
              </a:rPr>
              <a:t>Hoạt động bình thường</a:t>
            </a:r>
            <a:endParaRPr/>
          </a:p>
        </p:txBody>
      </p:sp>
      <p:sp>
        <p:nvSpPr>
          <p:cNvPr id="257" name="Google Shape;257;p23"/>
          <p:cNvSpPr txBox="1"/>
          <p:nvPr/>
        </p:nvSpPr>
        <p:spPr>
          <a:xfrm>
            <a:off x="4572524" y="4090838"/>
            <a:ext cx="3047099"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3B82F6"/>
                </a:solidFill>
                <a:latin typeface="Poppins"/>
                <a:ea typeface="Poppins"/>
                <a:cs typeface="Poppins"/>
                <a:sym typeface="Poppins"/>
              </a:rPr>
              <a:t>OPEN</a:t>
            </a:r>
            <a:endParaRPr/>
          </a:p>
        </p:txBody>
      </p:sp>
      <p:sp>
        <p:nvSpPr>
          <p:cNvPr id="258" name="Google Shape;258;p23"/>
          <p:cNvSpPr txBox="1"/>
          <p:nvPr/>
        </p:nvSpPr>
        <p:spPr>
          <a:xfrm>
            <a:off x="4645074" y="4738538"/>
            <a:ext cx="2901999"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Lato"/>
                <a:ea typeface="Lato"/>
                <a:cs typeface="Lato"/>
                <a:sym typeface="Lato"/>
              </a:rPr>
              <a:t>Ngắt kết nối (Lỗi &gt; Ngưỡng)</a:t>
            </a:r>
            <a:endParaRPr/>
          </a:p>
        </p:txBody>
      </p:sp>
      <p:sp>
        <p:nvSpPr>
          <p:cNvPr id="259" name="Google Shape;259;p23"/>
          <p:cNvSpPr txBox="1"/>
          <p:nvPr/>
        </p:nvSpPr>
        <p:spPr>
          <a:xfrm>
            <a:off x="8350824" y="4090838"/>
            <a:ext cx="3047099"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3B82F6"/>
                </a:solidFill>
                <a:latin typeface="Poppins"/>
                <a:ea typeface="Poppins"/>
                <a:cs typeface="Poppins"/>
                <a:sym typeface="Poppins"/>
              </a:rPr>
              <a:t>HALF-OPEN</a:t>
            </a:r>
            <a:endParaRPr/>
          </a:p>
        </p:txBody>
      </p:sp>
      <p:sp>
        <p:nvSpPr>
          <p:cNvPr id="260" name="Google Shape;260;p23"/>
          <p:cNvSpPr txBox="1"/>
          <p:nvPr/>
        </p:nvSpPr>
        <p:spPr>
          <a:xfrm>
            <a:off x="8423374" y="4738538"/>
            <a:ext cx="2901999"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Lato"/>
                <a:ea typeface="Lato"/>
                <a:cs typeface="Lato"/>
                <a:sym typeface="Lato"/>
              </a:rPr>
              <a:t>Thử nghiệm phục hồi</a:t>
            </a:r>
            <a:endParaRPr/>
          </a:p>
        </p:txBody>
      </p:sp>
      <p:sp>
        <p:nvSpPr>
          <p:cNvPr id="261" name="Google Shape;261;p23"/>
          <p:cNvSpPr/>
          <p:nvPr/>
        </p:nvSpPr>
        <p:spPr>
          <a:xfrm>
            <a:off x="5619750" y="1328737"/>
            <a:ext cx="952500" cy="47625"/>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3"/>
          <p:cNvSpPr txBox="1"/>
          <p:nvPr/>
        </p:nvSpPr>
        <p:spPr>
          <a:xfrm>
            <a:off x="295275" y="1662112"/>
            <a:ext cx="11601450" cy="67047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800" b="1" i="0" u="none" strike="noStrike" cap="none">
                <a:solidFill>
                  <a:srgbClr val="F1F5F9"/>
                </a:solidFill>
                <a:latin typeface="Poppins"/>
                <a:ea typeface="Poppins"/>
                <a:cs typeface="Poppins"/>
                <a:sym typeface="Poppins"/>
              </a:rPr>
              <a:t>Circuit Breaker</a:t>
            </a:r>
            <a:endParaRPr/>
          </a:p>
        </p:txBody>
      </p:sp>
      <p:sp>
        <p:nvSpPr>
          <p:cNvPr id="263" name="Google Shape;263;p23"/>
          <p:cNvSpPr txBox="1"/>
          <p:nvPr/>
        </p:nvSpPr>
        <p:spPr>
          <a:xfrm>
            <a:off x="1809750" y="2523083"/>
            <a:ext cx="8572500" cy="85338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F8FAFC"/>
                </a:solidFill>
                <a:latin typeface="Lato"/>
                <a:ea typeface="Lato"/>
                <a:cs typeface="Lato"/>
                <a:sym typeface="Lato"/>
              </a:rPr>
              <a:t>Ngăn chặn lỗi dây chuyền (Cascading Failures). Khi GPU quá tải hoặc lỗi, hệ thống phải ngắt kết nối ngay lập tức để bảo vệ hạ tầng.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67"/>
        <p:cNvGrpSpPr/>
        <p:nvPr/>
      </p:nvGrpSpPr>
      <p:grpSpPr>
        <a:xfrm>
          <a:off x="0" y="0"/>
          <a:ext cx="0" cy="0"/>
          <a:chOff x="0" y="0"/>
          <a:chExt cx="0" cy="0"/>
        </a:xfrm>
      </p:grpSpPr>
      <p:pic>
        <p:nvPicPr>
          <p:cNvPr id="268" name="Google Shape;268;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9" name="Google Shape;269;p24"/>
          <p:cNvSpPr/>
          <p:nvPr/>
        </p:nvSpPr>
        <p:spPr>
          <a:xfrm>
            <a:off x="571500" y="2576512"/>
            <a:ext cx="11049000" cy="2657475"/>
          </a:xfrm>
          <a:prstGeom prst="roundRect">
            <a:avLst>
              <a:gd name="adj" fmla="val 0"/>
            </a:avLst>
          </a:prstGeom>
          <a:solidFill>
            <a:srgbClr val="1E293B"/>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70" name="Google Shape;270;p24"/>
          <p:cNvGraphicFramePr/>
          <p:nvPr/>
        </p:nvGraphicFramePr>
        <p:xfrm>
          <a:off x="571500" y="2576512"/>
          <a:ext cx="11049000" cy="2657500"/>
        </p:xfrm>
        <a:graphic>
          <a:graphicData uri="http://schemas.openxmlformats.org/drawingml/2006/table">
            <a:tbl>
              <a:tblPr firstRow="1" bandRow="1">
                <a:noFill/>
                <a:tableStyleId>{D75446E7-5FC3-43A6-A79D-7CABD8009FB7}</a:tableStyleId>
              </a:tblPr>
              <a:tblGrid>
                <a:gridCol w="2199825">
                  <a:extLst>
                    <a:ext uri="{9D8B030D-6E8A-4147-A177-3AD203B41FA5}">
                      <a16:colId xmlns:a16="http://schemas.microsoft.com/office/drawing/2014/main" val="20000"/>
                    </a:ext>
                  </a:extLst>
                </a:gridCol>
                <a:gridCol w="4774850">
                  <a:extLst>
                    <a:ext uri="{9D8B030D-6E8A-4147-A177-3AD203B41FA5}">
                      <a16:colId xmlns:a16="http://schemas.microsoft.com/office/drawing/2014/main" val="20001"/>
                    </a:ext>
                  </a:extLst>
                </a:gridCol>
                <a:gridCol w="4074325">
                  <a:extLst>
                    <a:ext uri="{9D8B030D-6E8A-4147-A177-3AD203B41FA5}">
                      <a16:colId xmlns:a16="http://schemas.microsoft.com/office/drawing/2014/main" val="20002"/>
                    </a:ext>
                  </a:extLst>
                </a:gridCol>
              </a:tblGrid>
              <a:tr h="664375">
                <a:tc>
                  <a:txBody>
                    <a:bodyPr/>
                    <a:lstStyle/>
                    <a:p>
                      <a:pPr marL="0" marR="0" lvl="0" indent="0" algn="l" rtl="0">
                        <a:spcBef>
                          <a:spcPts val="0"/>
                        </a:spcBef>
                        <a:spcAft>
                          <a:spcPts val="0"/>
                        </a:spcAft>
                        <a:buNone/>
                      </a:pPr>
                      <a:r>
                        <a:rPr lang="en-US" sz="2000" b="1" i="0" u="none" strike="noStrike" cap="none">
                          <a:solidFill>
                            <a:srgbClr val="3B82F6"/>
                          </a:solidFill>
                          <a:latin typeface="Lato"/>
                          <a:ea typeface="Lato"/>
                          <a:cs typeface="Lato"/>
                          <a:sym typeface="Lato"/>
                        </a:rPr>
                        <a:t>Chiến lược</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34155"/>
                    </a:solidFill>
                  </a:tcPr>
                </a:tc>
                <a:tc>
                  <a:txBody>
                    <a:bodyPr/>
                    <a:lstStyle/>
                    <a:p>
                      <a:pPr marL="0" marR="0" lvl="0" indent="0" algn="l" rtl="0">
                        <a:spcBef>
                          <a:spcPts val="0"/>
                        </a:spcBef>
                        <a:spcAft>
                          <a:spcPts val="0"/>
                        </a:spcAft>
                        <a:buNone/>
                      </a:pPr>
                      <a:r>
                        <a:rPr lang="en-US" sz="2000" b="1" i="0" u="none" strike="noStrike" cap="none">
                          <a:solidFill>
                            <a:srgbClr val="3B82F6"/>
                          </a:solidFill>
                          <a:latin typeface="Lato"/>
                          <a:ea typeface="Lato"/>
                          <a:cs typeface="Lato"/>
                          <a:sym typeface="Lato"/>
                        </a:rPr>
                        <a:t>Cơ chế hoạt động</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34155"/>
                    </a:solidFill>
                  </a:tcPr>
                </a:tc>
                <a:tc>
                  <a:txBody>
                    <a:bodyPr/>
                    <a:lstStyle/>
                    <a:p>
                      <a:pPr marL="0" marR="0" lvl="0" indent="0" algn="l" rtl="0">
                        <a:spcBef>
                          <a:spcPts val="0"/>
                        </a:spcBef>
                        <a:spcAft>
                          <a:spcPts val="0"/>
                        </a:spcAft>
                        <a:buNone/>
                      </a:pPr>
                      <a:r>
                        <a:rPr lang="en-US" sz="2000" b="1" i="0" u="none" strike="noStrike" cap="none">
                          <a:solidFill>
                            <a:srgbClr val="3B82F6"/>
                          </a:solidFill>
                          <a:latin typeface="Lato"/>
                          <a:ea typeface="Lato"/>
                          <a:cs typeface="Lato"/>
                          <a:sym typeface="Lato"/>
                        </a:rPr>
                        <a:t>Lợi ích</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34155"/>
                    </a:solidFill>
                  </a:tcPr>
                </a:tc>
                <a:extLst>
                  <a:ext uri="{0D108BD9-81ED-4DB2-BD59-A6C34878D82A}">
                    <a16:rowId xmlns:a16="http://schemas.microsoft.com/office/drawing/2014/main" val="10000"/>
                  </a:ext>
                </a:extLst>
              </a:tr>
              <a:tr h="664375">
                <a:tc>
                  <a:txBody>
                    <a:bodyPr/>
                    <a:lstStyle/>
                    <a:p>
                      <a:pPr marL="0" marR="0" lvl="0" indent="0" algn="l" rtl="0">
                        <a:spcBef>
                          <a:spcPts val="0"/>
                        </a:spcBef>
                        <a:spcAft>
                          <a:spcPts val="0"/>
                        </a:spcAft>
                        <a:buNone/>
                      </a:pPr>
                      <a:r>
                        <a:rPr lang="en-US" b="1" i="0" u="none" strike="noStrike" cap="none">
                          <a:solidFill>
                            <a:srgbClr val="CC0000"/>
                          </a:solidFill>
                          <a:latin typeface="Lato"/>
                          <a:ea typeface="Lato"/>
                          <a:cs typeface="Lato"/>
                          <a:sym typeface="Lato"/>
                        </a:rPr>
                        <a:t>Exponential Backoff</a:t>
                      </a:r>
                      <a:endParaRPr>
                        <a:solidFill>
                          <a:srgbClr val="CC0000"/>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b="0" i="0" u="none" strike="noStrike" cap="none">
                          <a:solidFill>
                            <a:srgbClr val="CC0000"/>
                          </a:solidFill>
                          <a:latin typeface="Lato"/>
                          <a:ea typeface="Lato"/>
                          <a:cs typeface="Lato"/>
                          <a:sym typeface="Lato"/>
                        </a:rPr>
                        <a:t>Thử lại sau khoảng thời gian tăng dần (2s, 4s, 8s...)</a:t>
                      </a:r>
                      <a:endParaRPr>
                        <a:solidFill>
                          <a:srgbClr val="CC0000"/>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b="0" i="0" u="none" strike="noStrike" cap="none">
                          <a:solidFill>
                            <a:srgbClr val="CC0000"/>
                          </a:solidFill>
                          <a:latin typeface="Lato"/>
                          <a:ea typeface="Lato"/>
                          <a:cs typeface="Lato"/>
                          <a:sym typeface="Lato"/>
                        </a:rPr>
                        <a:t>Tránh làm nghẽn GPU khi đang phục hồi</a:t>
                      </a:r>
                      <a:endParaRPr>
                        <a:solidFill>
                          <a:srgbClr val="CC0000"/>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64375">
                <a:tc>
                  <a:txBody>
                    <a:bodyPr/>
                    <a:lstStyle/>
                    <a:p>
                      <a:pPr marL="0" marR="0" lvl="0" indent="0" algn="l" rtl="0">
                        <a:spcBef>
                          <a:spcPts val="0"/>
                        </a:spcBef>
                        <a:spcAft>
                          <a:spcPts val="0"/>
                        </a:spcAft>
                        <a:buNone/>
                      </a:pPr>
                      <a:r>
                        <a:rPr lang="en-US" b="1" i="0" u="none" strike="noStrike" cap="none">
                          <a:solidFill>
                            <a:srgbClr val="CC0000"/>
                          </a:solidFill>
                          <a:latin typeface="Lato"/>
                          <a:ea typeface="Lato"/>
                          <a:cs typeface="Lato"/>
                          <a:sym typeface="Lato"/>
                        </a:rPr>
                        <a:t>Jitter</a:t>
                      </a:r>
                      <a:endParaRPr>
                        <a:solidFill>
                          <a:srgbClr val="CC0000"/>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b="0" i="0" u="none" strike="noStrike" cap="none">
                          <a:solidFill>
                            <a:srgbClr val="CC0000"/>
                          </a:solidFill>
                          <a:latin typeface="Lato"/>
                          <a:ea typeface="Lato"/>
                          <a:cs typeface="Lato"/>
                          <a:sym typeface="Lato"/>
                        </a:rPr>
                        <a:t>Thêm độ trễ ngẫu nhiên vào backoff</a:t>
                      </a:r>
                      <a:endParaRPr>
                        <a:solidFill>
                          <a:srgbClr val="CC0000"/>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b="0" i="0" u="none" strike="noStrike" cap="none">
                          <a:solidFill>
                            <a:srgbClr val="CC0000"/>
                          </a:solidFill>
                          <a:latin typeface="Lato"/>
                          <a:ea typeface="Lato"/>
                          <a:cs typeface="Lato"/>
                          <a:sym typeface="Lato"/>
                        </a:rPr>
                        <a:t>Ngăn chặn hiện tượng "Thundering Herd"</a:t>
                      </a:r>
                      <a:endParaRPr>
                        <a:solidFill>
                          <a:srgbClr val="CC0000"/>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64375">
                <a:tc>
                  <a:txBody>
                    <a:bodyPr/>
                    <a:lstStyle/>
                    <a:p>
                      <a:pPr marL="0" marR="0" lvl="0" indent="0" algn="l" rtl="0">
                        <a:spcBef>
                          <a:spcPts val="0"/>
                        </a:spcBef>
                        <a:spcAft>
                          <a:spcPts val="0"/>
                        </a:spcAft>
                        <a:buNone/>
                      </a:pPr>
                      <a:r>
                        <a:rPr lang="en-US" b="1" i="0" u="none" strike="noStrike" cap="none">
                          <a:solidFill>
                            <a:srgbClr val="CC0000"/>
                          </a:solidFill>
                          <a:latin typeface="Lato"/>
                          <a:ea typeface="Lato"/>
                          <a:cs typeface="Lato"/>
                          <a:sym typeface="Lato"/>
                        </a:rPr>
                        <a:t>Dead Letter (DLQ)</a:t>
                      </a:r>
                      <a:endParaRPr>
                        <a:solidFill>
                          <a:srgbClr val="CC0000"/>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b="0" i="0" u="none" strike="noStrike" cap="none">
                          <a:solidFill>
                            <a:srgbClr val="CC0000"/>
                          </a:solidFill>
                          <a:latin typeface="Lato"/>
                          <a:ea typeface="Lato"/>
                          <a:cs typeface="Lato"/>
                          <a:sym typeface="Lato"/>
                        </a:rPr>
                        <a:t>Đưa task thất bại vĩnh viễn vào hàng đợi riêng</a:t>
                      </a:r>
                      <a:endParaRPr>
                        <a:solidFill>
                          <a:srgbClr val="CC0000"/>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b="0" i="0" u="none" strike="noStrike" cap="none">
                          <a:solidFill>
                            <a:srgbClr val="CC0000"/>
                          </a:solidFill>
                          <a:latin typeface="Lato"/>
                          <a:ea typeface="Lato"/>
                          <a:cs typeface="Lato"/>
                          <a:sym typeface="Lato"/>
                        </a:rPr>
                        <a:t>Kỹ sư có thể kiểm tra lỗi thủ công sau đó</a:t>
                      </a:r>
                      <a:endParaRPr>
                        <a:solidFill>
                          <a:srgbClr val="CC0000"/>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271" name="Google Shape;271;p24"/>
          <p:cNvSpPr/>
          <p:nvPr/>
        </p:nvSpPr>
        <p:spPr>
          <a:xfrm>
            <a:off x="571500" y="3905250"/>
            <a:ext cx="219982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2" name="Google Shape;272;p24"/>
          <p:cNvSpPr/>
          <p:nvPr/>
        </p:nvSpPr>
        <p:spPr>
          <a:xfrm>
            <a:off x="2771328" y="3905250"/>
            <a:ext cx="4774852"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3" name="Google Shape;273;p24"/>
          <p:cNvSpPr/>
          <p:nvPr/>
        </p:nvSpPr>
        <p:spPr>
          <a:xfrm>
            <a:off x="7546181" y="3905250"/>
            <a:ext cx="407431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4" name="Google Shape;274;p24"/>
          <p:cNvSpPr/>
          <p:nvPr/>
        </p:nvSpPr>
        <p:spPr>
          <a:xfrm>
            <a:off x="571500" y="4562475"/>
            <a:ext cx="219982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5" name="Google Shape;275;p24"/>
          <p:cNvSpPr/>
          <p:nvPr/>
        </p:nvSpPr>
        <p:spPr>
          <a:xfrm>
            <a:off x="2771328" y="4562475"/>
            <a:ext cx="4774852"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6" name="Google Shape;276;p24"/>
          <p:cNvSpPr/>
          <p:nvPr/>
        </p:nvSpPr>
        <p:spPr>
          <a:xfrm>
            <a:off x="7546181" y="4562475"/>
            <a:ext cx="407431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7" name="Google Shape;277;p24"/>
          <p:cNvSpPr/>
          <p:nvPr/>
        </p:nvSpPr>
        <p:spPr>
          <a:xfrm>
            <a:off x="571500" y="5219700"/>
            <a:ext cx="219982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8" name="Google Shape;278;p24"/>
          <p:cNvSpPr/>
          <p:nvPr/>
        </p:nvSpPr>
        <p:spPr>
          <a:xfrm>
            <a:off x="2771328" y="5219700"/>
            <a:ext cx="4774852"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p24"/>
          <p:cNvSpPr/>
          <p:nvPr/>
        </p:nvSpPr>
        <p:spPr>
          <a:xfrm>
            <a:off x="7546181" y="5219700"/>
            <a:ext cx="407431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0" name="Google Shape;280;p24"/>
          <p:cNvSpPr txBox="1"/>
          <p:nvPr/>
        </p:nvSpPr>
        <p:spPr>
          <a:xfrm>
            <a:off x="762000"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1F5F9"/>
                </a:solidFill>
                <a:latin typeface="Poppins Medium"/>
                <a:ea typeface="Poppins Medium"/>
                <a:cs typeface="Poppins Medium"/>
                <a:sym typeface="Poppins Medium"/>
              </a:rPr>
              <a:t>QUẢN LÝ RETRY &amp; HÀNG ĐỢI LỖI</a:t>
            </a:r>
            <a:endParaRPr/>
          </a:p>
        </p:txBody>
      </p:sp>
      <p:sp>
        <p:nvSpPr>
          <p:cNvPr id="281" name="Google Shape;281;p24"/>
          <p:cNvSpPr/>
          <p:nvPr/>
        </p:nvSpPr>
        <p:spPr>
          <a:xfrm>
            <a:off x="571500" y="571500"/>
            <a:ext cx="76200" cy="57150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5"/>
        <p:cNvGrpSpPr/>
        <p:nvPr/>
      </p:nvGrpSpPr>
      <p:grpSpPr>
        <a:xfrm>
          <a:off x="0" y="0"/>
          <a:ext cx="0" cy="0"/>
          <a:chOff x="0" y="0"/>
          <a:chExt cx="0" cy="0"/>
        </a:xfrm>
      </p:grpSpPr>
      <p:pic>
        <p:nvPicPr>
          <p:cNvPr id="286" name="Google Shape;286;p25"/>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287" name="Google Shape;287;p25"/>
          <p:cNvSpPr/>
          <p:nvPr/>
        </p:nvSpPr>
        <p:spPr>
          <a:xfrm>
            <a:off x="571500" y="571500"/>
            <a:ext cx="76200" cy="571500"/>
          </a:xfrm>
          <a:prstGeom prst="rect">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8" name="Google Shape;288;p25"/>
          <p:cNvSpPr txBox="1"/>
          <p:nvPr/>
        </p:nvSpPr>
        <p:spPr>
          <a:xfrm>
            <a:off x="809625" y="571500"/>
            <a:ext cx="108108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000" b="0">
                <a:solidFill>
                  <a:srgbClr val="F1F5F9"/>
                </a:solidFill>
                <a:latin typeface="Poppins SemiBold"/>
                <a:ea typeface="Poppins SemiBold"/>
                <a:cs typeface="Poppins SemiBold"/>
                <a:sym typeface="Poppins SemiBold"/>
              </a:rPr>
              <a:t>MONITORING VỚI REDIS PUB/SUB</a:t>
            </a:r>
            <a:endParaRPr sz="3000" b="0">
              <a:solidFill>
                <a:srgbClr val="F1F5F9"/>
              </a:solidFill>
              <a:latin typeface="Poppins SemiBold"/>
              <a:ea typeface="Poppins SemiBold"/>
              <a:cs typeface="Poppins SemiBold"/>
              <a:sym typeface="Poppins SemiBold"/>
            </a:endParaRPr>
          </a:p>
        </p:txBody>
      </p:sp>
      <p:grpSp>
        <p:nvGrpSpPr>
          <p:cNvPr id="289" name="Google Shape;289;p25"/>
          <p:cNvGrpSpPr/>
          <p:nvPr/>
        </p:nvGrpSpPr>
        <p:grpSpPr>
          <a:xfrm>
            <a:off x="571500" y="1714500"/>
            <a:ext cx="5381700" cy="3238500"/>
            <a:chOff x="571500" y="1714500"/>
            <a:chExt cx="5381700" cy="3238500"/>
          </a:xfrm>
        </p:grpSpPr>
        <p:sp>
          <p:nvSpPr>
            <p:cNvPr id="290" name="Google Shape;290;p25"/>
            <p:cNvSpPr/>
            <p:nvPr/>
          </p:nvSpPr>
          <p:spPr>
            <a:xfrm>
              <a:off x="571500" y="1714500"/>
              <a:ext cx="5381700" cy="3238500"/>
            </a:xfrm>
            <a:prstGeom prst="roundRect">
              <a:avLst>
                <a:gd name="adj" fmla="val 4705"/>
              </a:avLst>
            </a:prstGeom>
            <a:solidFill>
              <a:srgbClr val="1E293B"/>
            </a:solidFill>
            <a:ln w="19050" cap="flat" cmpd="sng">
              <a:solidFill>
                <a:srgbClr val="3B82F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1" name="Google Shape;291;p25"/>
            <p:cNvSpPr txBox="1"/>
            <p:nvPr/>
          </p:nvSpPr>
          <p:spPr>
            <a:xfrm>
              <a:off x="857250" y="2000250"/>
              <a:ext cx="4810200" cy="2667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400" b="1" dirty="0">
                  <a:solidFill>
                    <a:srgbClr val="3B82F6"/>
                  </a:solidFill>
                  <a:latin typeface="Poppins"/>
                  <a:ea typeface="Poppins"/>
                  <a:cs typeface="Poppins"/>
                  <a:sym typeface="Poppins"/>
                </a:rPr>
                <a:t>Event-Driven Updates</a:t>
              </a:r>
              <a:endParaRPr sz="2400" b="1" dirty="0">
                <a:solidFill>
                  <a:srgbClr val="3B82F6"/>
                </a:solidFill>
                <a:latin typeface="Poppins"/>
                <a:ea typeface="Poppins"/>
                <a:cs typeface="Poppins"/>
                <a:sym typeface="Poppins"/>
              </a:endParaRPr>
            </a:p>
            <a:p>
              <a:pPr marL="0" lvl="0" indent="0" algn="l" rtl="0">
                <a:spcBef>
                  <a:spcPts val="1500"/>
                </a:spcBef>
                <a:spcAft>
                  <a:spcPts val="0"/>
                </a:spcAft>
                <a:buNone/>
              </a:pPr>
              <a:r>
                <a:rPr lang="en-US" sz="1600" dirty="0">
                  <a:solidFill>
                    <a:srgbClr val="94A3B8"/>
                  </a:solidFill>
                  <a:latin typeface="Lato"/>
                  <a:ea typeface="Lato"/>
                  <a:cs typeface="Lato"/>
                  <a:sym typeface="Lato"/>
                </a:rPr>
                <a:t>Khi Worker </a:t>
              </a:r>
              <a:r>
                <a:rPr lang="en-US" sz="1600" dirty="0" err="1">
                  <a:solidFill>
                    <a:srgbClr val="94A3B8"/>
                  </a:solidFill>
                  <a:latin typeface="Lato"/>
                  <a:ea typeface="Lato"/>
                  <a:cs typeface="Lato"/>
                  <a:sym typeface="Lato"/>
                </a:rPr>
                <a:t>thay</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đổi</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trạng</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thái</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tác</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vụ</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nó</a:t>
              </a:r>
              <a:r>
                <a:rPr lang="en-US" sz="1600" dirty="0">
                  <a:solidFill>
                    <a:srgbClr val="94A3B8"/>
                  </a:solidFill>
                  <a:latin typeface="Lato"/>
                  <a:ea typeface="Lato"/>
                  <a:cs typeface="Lato"/>
                  <a:sym typeface="Lato"/>
                </a:rPr>
                <a:t> "Publish" </a:t>
              </a:r>
              <a:r>
                <a:rPr lang="en-US" sz="1600" dirty="0" err="1">
                  <a:solidFill>
                    <a:srgbClr val="94A3B8"/>
                  </a:solidFill>
                  <a:latin typeface="Lato"/>
                  <a:ea typeface="Lato"/>
                  <a:cs typeface="Lato"/>
                  <a:sym typeface="Lato"/>
                </a:rPr>
                <a:t>một</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thông</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điệp</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vào</a:t>
              </a:r>
              <a:r>
                <a:rPr lang="en-US" sz="1600" dirty="0">
                  <a:solidFill>
                    <a:srgbClr val="94A3B8"/>
                  </a:solidFill>
                  <a:latin typeface="Lato"/>
                  <a:ea typeface="Lato"/>
                  <a:cs typeface="Lato"/>
                  <a:sym typeface="Lato"/>
                </a:rPr>
                <a:t> Redis Channel.</a:t>
              </a:r>
              <a:endParaRPr sz="1600" dirty="0">
                <a:solidFill>
                  <a:srgbClr val="94A3B8"/>
                </a:solidFill>
                <a:latin typeface="Lato"/>
                <a:ea typeface="Lato"/>
                <a:cs typeface="Lato"/>
                <a:sym typeface="Lato"/>
              </a:endParaRPr>
            </a:p>
            <a:p>
              <a:pPr marL="285750" lvl="0" indent="-285750" algn="l" rtl="0">
                <a:spcBef>
                  <a:spcPts val="1500"/>
                </a:spcBef>
                <a:spcAft>
                  <a:spcPts val="0"/>
                </a:spcAft>
                <a:buFont typeface="Wingdings" panose="05000000000000000000" pitchFamily="2" charset="2"/>
                <a:buChar char="q"/>
              </a:pPr>
              <a:r>
                <a:rPr lang="en-US" sz="1400" dirty="0" err="1">
                  <a:solidFill>
                    <a:srgbClr val="CBD5E1"/>
                  </a:solidFill>
                  <a:latin typeface="Lato"/>
                  <a:ea typeface="Lato"/>
                  <a:cs typeface="Lato"/>
                  <a:sym typeface="Lato"/>
                </a:rPr>
                <a:t>FastAPI</a:t>
              </a:r>
              <a:r>
                <a:rPr lang="en-US" sz="1400" dirty="0">
                  <a:solidFill>
                    <a:srgbClr val="CBD5E1"/>
                  </a:solidFill>
                  <a:latin typeface="Lato"/>
                  <a:ea typeface="Lato"/>
                  <a:cs typeface="Lato"/>
                  <a:sym typeface="Lato"/>
                </a:rPr>
                <a:t> "Subscribe" </a:t>
              </a:r>
              <a:r>
                <a:rPr lang="en-US" sz="1400" dirty="0" err="1">
                  <a:solidFill>
                    <a:srgbClr val="CBD5E1"/>
                  </a:solidFill>
                  <a:latin typeface="Lato"/>
                  <a:ea typeface="Lato"/>
                  <a:cs typeface="Lato"/>
                  <a:sym typeface="Lato"/>
                </a:rPr>
                <a:t>kênh</a:t>
              </a:r>
              <a:r>
                <a:rPr lang="en-US" sz="1400" dirty="0">
                  <a:solidFill>
                    <a:srgbClr val="CBD5E1"/>
                  </a:solidFill>
                  <a:latin typeface="Lato"/>
                  <a:ea typeface="Lato"/>
                  <a:cs typeface="Lato"/>
                  <a:sym typeface="Lato"/>
                </a:rPr>
                <a:t> Redis</a:t>
              </a:r>
              <a:endParaRPr dirty="0"/>
            </a:p>
            <a:p>
              <a:pPr marL="285750" lvl="0" indent="-285750" algn="l" rtl="0">
                <a:spcBef>
                  <a:spcPts val="1125"/>
                </a:spcBef>
                <a:spcAft>
                  <a:spcPts val="0"/>
                </a:spcAft>
                <a:buFont typeface="Wingdings" panose="05000000000000000000" pitchFamily="2" charset="2"/>
                <a:buChar char="q"/>
              </a:pPr>
              <a:r>
                <a:rPr lang="en-US" sz="1400" dirty="0" err="1">
                  <a:solidFill>
                    <a:srgbClr val="CBD5E1"/>
                  </a:solidFill>
                  <a:latin typeface="Lato"/>
                  <a:ea typeface="Lato"/>
                  <a:cs typeface="Lato"/>
                  <a:sym typeface="Lato"/>
                </a:rPr>
                <a:t>Đẩy</a:t>
              </a:r>
              <a:r>
                <a:rPr lang="en-US" sz="1400" dirty="0">
                  <a:solidFill>
                    <a:srgbClr val="CBD5E1"/>
                  </a:solidFill>
                  <a:latin typeface="Lato"/>
                  <a:ea typeface="Lato"/>
                  <a:cs typeface="Lato"/>
                  <a:sym typeface="Lato"/>
                </a:rPr>
                <a:t> </a:t>
              </a:r>
              <a:r>
                <a:rPr lang="en-US" sz="1400" dirty="0" err="1">
                  <a:solidFill>
                    <a:srgbClr val="CBD5E1"/>
                  </a:solidFill>
                  <a:latin typeface="Lato"/>
                  <a:ea typeface="Lato"/>
                  <a:cs typeface="Lato"/>
                  <a:sym typeface="Lato"/>
                </a:rPr>
                <a:t>lên</a:t>
              </a:r>
              <a:r>
                <a:rPr lang="en-US" sz="1400" dirty="0">
                  <a:solidFill>
                    <a:srgbClr val="CBD5E1"/>
                  </a:solidFill>
                  <a:latin typeface="Lato"/>
                  <a:ea typeface="Lato"/>
                  <a:cs typeface="Lato"/>
                  <a:sym typeface="Lato"/>
                </a:rPr>
                <a:t> Dashboard qua SSE</a:t>
              </a:r>
              <a:endParaRPr dirty="0"/>
            </a:p>
          </p:txBody>
        </p:sp>
      </p:grpSp>
      <p:grpSp>
        <p:nvGrpSpPr>
          <p:cNvPr id="292" name="Google Shape;292;p25"/>
          <p:cNvGrpSpPr/>
          <p:nvPr/>
        </p:nvGrpSpPr>
        <p:grpSpPr>
          <a:xfrm>
            <a:off x="6238875" y="1714500"/>
            <a:ext cx="5381700" cy="3238500"/>
            <a:chOff x="6238875" y="1714500"/>
            <a:chExt cx="5381700" cy="3238500"/>
          </a:xfrm>
        </p:grpSpPr>
        <p:sp>
          <p:nvSpPr>
            <p:cNvPr id="293" name="Google Shape;293;p25"/>
            <p:cNvSpPr/>
            <p:nvPr/>
          </p:nvSpPr>
          <p:spPr>
            <a:xfrm>
              <a:off x="6238875" y="1714500"/>
              <a:ext cx="5381700" cy="3238500"/>
            </a:xfrm>
            <a:prstGeom prst="roundRect">
              <a:avLst>
                <a:gd name="adj" fmla="val 4705"/>
              </a:avLst>
            </a:prstGeom>
            <a:solidFill>
              <a:srgbClr val="1E293B"/>
            </a:solidFill>
            <a:ln w="19050" cap="flat" cmpd="sng">
              <a:solidFill>
                <a:srgbClr val="3B82F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4" name="Google Shape;294;p25"/>
            <p:cNvSpPr txBox="1"/>
            <p:nvPr/>
          </p:nvSpPr>
          <p:spPr>
            <a:xfrm>
              <a:off x="6524625" y="2000250"/>
              <a:ext cx="4810200" cy="2667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400" b="1" dirty="0">
                  <a:solidFill>
                    <a:srgbClr val="3B82F6"/>
                  </a:solidFill>
                  <a:latin typeface="Poppins"/>
                  <a:ea typeface="Poppins"/>
                  <a:cs typeface="Poppins"/>
                  <a:sym typeface="Poppins"/>
                </a:rPr>
                <a:t>Low Overhead</a:t>
              </a:r>
              <a:endParaRPr sz="2400" b="1" dirty="0">
                <a:solidFill>
                  <a:srgbClr val="3B82F6"/>
                </a:solidFill>
                <a:latin typeface="Poppins"/>
                <a:ea typeface="Poppins"/>
                <a:cs typeface="Poppins"/>
                <a:sym typeface="Poppins"/>
              </a:endParaRPr>
            </a:p>
            <a:p>
              <a:pPr marL="0" lvl="0" indent="0" algn="l" rtl="0">
                <a:spcBef>
                  <a:spcPts val="1500"/>
                </a:spcBef>
                <a:spcAft>
                  <a:spcPts val="0"/>
                </a:spcAft>
                <a:buNone/>
              </a:pPr>
              <a:r>
                <a:rPr lang="en-US" sz="1600" dirty="0" err="1">
                  <a:solidFill>
                    <a:srgbClr val="94A3B8"/>
                  </a:solidFill>
                  <a:latin typeface="Lato"/>
                  <a:ea typeface="Lato"/>
                  <a:cs typeface="Lato"/>
                  <a:sym typeface="Lato"/>
                </a:rPr>
                <a:t>Cơ</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chế</a:t>
              </a:r>
              <a:r>
                <a:rPr lang="en-US" sz="1600" dirty="0">
                  <a:solidFill>
                    <a:srgbClr val="94A3B8"/>
                  </a:solidFill>
                  <a:latin typeface="Lato"/>
                  <a:ea typeface="Lato"/>
                  <a:cs typeface="Lato"/>
                  <a:sym typeface="Lato"/>
                </a:rPr>
                <a:t> Pub/Sub </a:t>
              </a:r>
              <a:r>
                <a:rPr lang="en-US" sz="1600" dirty="0" err="1">
                  <a:solidFill>
                    <a:srgbClr val="94A3B8"/>
                  </a:solidFill>
                  <a:latin typeface="Lato"/>
                  <a:ea typeface="Lato"/>
                  <a:cs typeface="Lato"/>
                  <a:sym typeface="Lato"/>
                </a:rPr>
                <a:t>cực</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nhẹ</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giúp</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tối</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ưu</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hóa</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kết</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nối</a:t>
              </a:r>
              <a:r>
                <a:rPr lang="en-US" sz="1600" dirty="0">
                  <a:solidFill>
                    <a:srgbClr val="94A3B8"/>
                  </a:solidFill>
                  <a:latin typeface="Lato"/>
                  <a:ea typeface="Lato"/>
                  <a:cs typeface="Lato"/>
                  <a:sym typeface="Lato"/>
                </a:rPr>
                <a:t> </a:t>
              </a:r>
              <a:r>
                <a:rPr lang="en-US" sz="1600" dirty="0" err="1">
                  <a:solidFill>
                    <a:srgbClr val="94A3B8"/>
                  </a:solidFill>
                  <a:latin typeface="Lato"/>
                  <a:ea typeface="Lato"/>
                  <a:cs typeface="Lato"/>
                  <a:sym typeface="Lato"/>
                </a:rPr>
                <a:t>giữa</a:t>
              </a:r>
              <a:r>
                <a:rPr lang="en-US" sz="1600" dirty="0">
                  <a:solidFill>
                    <a:srgbClr val="94A3B8"/>
                  </a:solidFill>
                  <a:latin typeface="Lato"/>
                  <a:ea typeface="Lato"/>
                  <a:cs typeface="Lato"/>
                  <a:sym typeface="Lato"/>
                </a:rPr>
                <a:t> Client </a:t>
              </a:r>
              <a:r>
                <a:rPr lang="en-US" sz="1600" dirty="0" err="1">
                  <a:solidFill>
                    <a:srgbClr val="94A3B8"/>
                  </a:solidFill>
                  <a:latin typeface="Lato"/>
                  <a:ea typeface="Lato"/>
                  <a:cs typeface="Lato"/>
                  <a:sym typeface="Lato"/>
                </a:rPr>
                <a:t>và</a:t>
              </a:r>
              <a:r>
                <a:rPr lang="en-US" sz="1600" dirty="0">
                  <a:solidFill>
                    <a:srgbClr val="94A3B8"/>
                  </a:solidFill>
                  <a:latin typeface="Lato"/>
                  <a:ea typeface="Lato"/>
                  <a:cs typeface="Lato"/>
                  <a:sym typeface="Lato"/>
                </a:rPr>
                <a:t> Server.</a:t>
              </a:r>
              <a:endParaRPr sz="1600" dirty="0">
                <a:solidFill>
                  <a:srgbClr val="94A3B8"/>
                </a:solidFill>
                <a:latin typeface="Lato"/>
                <a:ea typeface="Lato"/>
                <a:cs typeface="Lato"/>
                <a:sym typeface="Lato"/>
              </a:endParaRPr>
            </a:p>
            <a:p>
              <a:pPr marL="285750" lvl="0" indent="-285750" algn="l" rtl="0">
                <a:spcBef>
                  <a:spcPts val="1500"/>
                </a:spcBef>
                <a:spcAft>
                  <a:spcPts val="0"/>
                </a:spcAft>
                <a:buFont typeface="Wingdings" panose="05000000000000000000" pitchFamily="2" charset="2"/>
                <a:buChar char="q"/>
              </a:pPr>
              <a:r>
                <a:rPr lang="en-US" sz="1400" dirty="0">
                  <a:solidFill>
                    <a:srgbClr val="CBD5E1"/>
                  </a:solidFill>
                  <a:latin typeface="Lato"/>
                  <a:ea typeface="Lato"/>
                  <a:cs typeface="Lato"/>
                  <a:sym typeface="Lato"/>
                </a:rPr>
                <a:t>Không </a:t>
              </a:r>
              <a:r>
                <a:rPr lang="en-US" sz="1400" dirty="0" err="1">
                  <a:solidFill>
                    <a:srgbClr val="CBD5E1"/>
                  </a:solidFill>
                  <a:latin typeface="Lato"/>
                  <a:ea typeface="Lato"/>
                  <a:cs typeface="Lato"/>
                  <a:sym typeface="Lato"/>
                </a:rPr>
                <a:t>yêu</a:t>
              </a:r>
              <a:r>
                <a:rPr lang="en-US" sz="1400" dirty="0">
                  <a:solidFill>
                    <a:srgbClr val="CBD5E1"/>
                  </a:solidFill>
                  <a:latin typeface="Lato"/>
                  <a:ea typeface="Lato"/>
                  <a:cs typeface="Lato"/>
                  <a:sym typeface="Lato"/>
                </a:rPr>
                <a:t> </a:t>
              </a:r>
              <a:r>
                <a:rPr lang="en-US" sz="1400" dirty="0" err="1">
                  <a:solidFill>
                    <a:srgbClr val="CBD5E1"/>
                  </a:solidFill>
                  <a:latin typeface="Lato"/>
                  <a:ea typeface="Lato"/>
                  <a:cs typeface="Lato"/>
                  <a:sym typeface="Lato"/>
                </a:rPr>
                <a:t>cầu</a:t>
              </a:r>
              <a:r>
                <a:rPr lang="en-US" sz="1400" dirty="0">
                  <a:solidFill>
                    <a:srgbClr val="CBD5E1"/>
                  </a:solidFill>
                  <a:latin typeface="Lato"/>
                  <a:ea typeface="Lato"/>
                  <a:cs typeface="Lato"/>
                  <a:sym typeface="Lato"/>
                </a:rPr>
                <a:t> client </a:t>
              </a:r>
              <a:r>
                <a:rPr lang="en-US" sz="1400" dirty="0" err="1">
                  <a:solidFill>
                    <a:srgbClr val="CBD5E1"/>
                  </a:solidFill>
                  <a:latin typeface="Lato"/>
                  <a:ea typeface="Lato"/>
                  <a:cs typeface="Lato"/>
                  <a:sym typeface="Lato"/>
                </a:rPr>
                <a:t>liên</a:t>
              </a:r>
              <a:r>
                <a:rPr lang="en-US" sz="1400" dirty="0">
                  <a:solidFill>
                    <a:srgbClr val="CBD5E1"/>
                  </a:solidFill>
                  <a:latin typeface="Lato"/>
                  <a:ea typeface="Lato"/>
                  <a:cs typeface="Lato"/>
                  <a:sym typeface="Lato"/>
                </a:rPr>
                <a:t> </a:t>
              </a:r>
              <a:r>
                <a:rPr lang="en-US" sz="1400" dirty="0" err="1">
                  <a:solidFill>
                    <a:srgbClr val="CBD5E1"/>
                  </a:solidFill>
                  <a:latin typeface="Lato"/>
                  <a:ea typeface="Lato"/>
                  <a:cs typeface="Lato"/>
                  <a:sym typeface="Lato"/>
                </a:rPr>
                <a:t>tục</a:t>
              </a:r>
              <a:r>
                <a:rPr lang="en-US" sz="1400" dirty="0">
                  <a:solidFill>
                    <a:srgbClr val="CBD5E1"/>
                  </a:solidFill>
                  <a:latin typeface="Lato"/>
                  <a:ea typeface="Lato"/>
                  <a:cs typeface="Lato"/>
                  <a:sym typeface="Lato"/>
                </a:rPr>
                <a:t> polling</a:t>
              </a:r>
              <a:endParaRPr dirty="0"/>
            </a:p>
            <a:p>
              <a:pPr marL="285750" lvl="0" indent="-285750" algn="l" rtl="0">
                <a:spcBef>
                  <a:spcPts val="1125"/>
                </a:spcBef>
                <a:spcAft>
                  <a:spcPts val="0"/>
                </a:spcAft>
                <a:buFont typeface="Wingdings" panose="05000000000000000000" pitchFamily="2" charset="2"/>
                <a:buChar char="q"/>
              </a:pPr>
              <a:r>
                <a:rPr lang="en-US" sz="1400" dirty="0" err="1">
                  <a:solidFill>
                    <a:srgbClr val="CBD5E1"/>
                  </a:solidFill>
                  <a:latin typeface="Lato"/>
                  <a:ea typeface="Lato"/>
                  <a:cs typeface="Lato"/>
                  <a:sym typeface="Lato"/>
                </a:rPr>
                <a:t>Tiết</a:t>
              </a:r>
              <a:r>
                <a:rPr lang="en-US" sz="1400" dirty="0">
                  <a:solidFill>
                    <a:srgbClr val="CBD5E1"/>
                  </a:solidFill>
                  <a:latin typeface="Lato"/>
                  <a:ea typeface="Lato"/>
                  <a:cs typeface="Lato"/>
                  <a:sym typeface="Lato"/>
                </a:rPr>
                <a:t> </a:t>
              </a:r>
              <a:r>
                <a:rPr lang="en-US" sz="1400" dirty="0" err="1">
                  <a:solidFill>
                    <a:srgbClr val="CBD5E1"/>
                  </a:solidFill>
                  <a:latin typeface="Lato"/>
                  <a:ea typeface="Lato"/>
                  <a:cs typeface="Lato"/>
                  <a:sym typeface="Lato"/>
                </a:rPr>
                <a:t>kiệm</a:t>
              </a:r>
              <a:r>
                <a:rPr lang="en-US" sz="1400" dirty="0">
                  <a:solidFill>
                    <a:srgbClr val="CBD5E1"/>
                  </a:solidFill>
                  <a:latin typeface="Lato"/>
                  <a:ea typeface="Lato"/>
                  <a:cs typeface="Lato"/>
                  <a:sym typeface="Lato"/>
                </a:rPr>
                <a:t> </a:t>
              </a:r>
              <a:r>
                <a:rPr lang="en-US" sz="1400" dirty="0" err="1">
                  <a:solidFill>
                    <a:srgbClr val="CBD5E1"/>
                  </a:solidFill>
                  <a:latin typeface="Lato"/>
                  <a:ea typeface="Lato"/>
                  <a:cs typeface="Lato"/>
                  <a:sym typeface="Lato"/>
                </a:rPr>
                <a:t>băng</a:t>
              </a:r>
              <a:r>
                <a:rPr lang="en-US" sz="1400" dirty="0">
                  <a:solidFill>
                    <a:srgbClr val="CBD5E1"/>
                  </a:solidFill>
                  <a:latin typeface="Lato"/>
                  <a:ea typeface="Lato"/>
                  <a:cs typeface="Lato"/>
                  <a:sym typeface="Lato"/>
                </a:rPr>
                <a:t> </a:t>
              </a:r>
              <a:r>
                <a:rPr lang="en-US" sz="1400" dirty="0" err="1">
                  <a:solidFill>
                    <a:srgbClr val="CBD5E1"/>
                  </a:solidFill>
                  <a:latin typeface="Lato"/>
                  <a:ea typeface="Lato"/>
                  <a:cs typeface="Lato"/>
                  <a:sym typeface="Lato"/>
                </a:rPr>
                <a:t>thông</a:t>
              </a:r>
              <a:r>
                <a:rPr lang="en-US" sz="1400" dirty="0">
                  <a:solidFill>
                    <a:srgbClr val="CBD5E1"/>
                  </a:solidFill>
                  <a:latin typeface="Lato"/>
                  <a:ea typeface="Lato"/>
                  <a:cs typeface="Lato"/>
                  <a:sym typeface="Lato"/>
                </a:rPr>
                <a:t> </a:t>
              </a:r>
              <a:r>
                <a:rPr lang="en-US" sz="1400" dirty="0" err="1">
                  <a:solidFill>
                    <a:srgbClr val="CBD5E1"/>
                  </a:solidFill>
                  <a:latin typeface="Lato"/>
                  <a:ea typeface="Lato"/>
                  <a:cs typeface="Lato"/>
                  <a:sym typeface="Lato"/>
                </a:rPr>
                <a:t>và</a:t>
              </a:r>
              <a:r>
                <a:rPr lang="en-US" sz="1400" dirty="0">
                  <a:solidFill>
                    <a:srgbClr val="CBD5E1"/>
                  </a:solidFill>
                  <a:latin typeface="Lato"/>
                  <a:ea typeface="Lato"/>
                  <a:cs typeface="Lato"/>
                  <a:sym typeface="Lato"/>
                </a:rPr>
                <a:t> </a:t>
              </a:r>
              <a:r>
                <a:rPr lang="en-US" sz="1400" dirty="0" err="1">
                  <a:solidFill>
                    <a:srgbClr val="CBD5E1"/>
                  </a:solidFill>
                  <a:latin typeface="Lato"/>
                  <a:ea typeface="Lato"/>
                  <a:cs typeface="Lato"/>
                  <a:sym typeface="Lato"/>
                </a:rPr>
                <a:t>tài</a:t>
              </a:r>
              <a:r>
                <a:rPr lang="en-US" sz="1400" dirty="0">
                  <a:solidFill>
                    <a:srgbClr val="CBD5E1"/>
                  </a:solidFill>
                  <a:latin typeface="Lato"/>
                  <a:ea typeface="Lato"/>
                  <a:cs typeface="Lato"/>
                  <a:sym typeface="Lato"/>
                </a:rPr>
                <a:t> </a:t>
              </a:r>
              <a:r>
                <a:rPr lang="en-US" sz="1400" dirty="0" err="1">
                  <a:solidFill>
                    <a:srgbClr val="CBD5E1"/>
                  </a:solidFill>
                  <a:latin typeface="Lato"/>
                  <a:ea typeface="Lato"/>
                  <a:cs typeface="Lato"/>
                  <a:sym typeface="Lato"/>
                </a:rPr>
                <a:t>nguyên</a:t>
              </a:r>
              <a:r>
                <a:rPr lang="en-US" sz="1400" dirty="0">
                  <a:solidFill>
                    <a:srgbClr val="CBD5E1"/>
                  </a:solidFill>
                  <a:latin typeface="Lato"/>
                  <a:ea typeface="Lato"/>
                  <a:cs typeface="Lato"/>
                  <a:sym typeface="Lato"/>
                </a:rPr>
                <a:t> CPU</a:t>
              </a:r>
              <a:endParaRPr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8"/>
        <p:cNvGrpSpPr/>
        <p:nvPr/>
      </p:nvGrpSpPr>
      <p:grpSpPr>
        <a:xfrm>
          <a:off x="0" y="0"/>
          <a:ext cx="0" cy="0"/>
          <a:chOff x="0" y="0"/>
          <a:chExt cx="0" cy="0"/>
        </a:xfrm>
      </p:grpSpPr>
      <p:pic>
        <p:nvPicPr>
          <p:cNvPr id="299" name="Google Shape;299;p26"/>
          <p:cNvPicPr preferRelativeResize="0"/>
          <p:nvPr/>
        </p:nvPicPr>
        <p:blipFill rotWithShape="1">
          <a:blip r:embed="rId4">
            <a:alphaModFix/>
          </a:blip>
          <a:srcRect/>
          <a:stretch/>
        </p:blipFill>
        <p:spPr>
          <a:xfrm>
            <a:off x="0" y="0"/>
            <a:ext cx="12192000" cy="6858000"/>
          </a:xfrm>
          <a:prstGeom prst="rect">
            <a:avLst/>
          </a:prstGeom>
          <a:noFill/>
          <a:ln>
            <a:noFill/>
          </a:ln>
        </p:spPr>
      </p:pic>
      <p:grpSp>
        <p:nvGrpSpPr>
          <p:cNvPr id="300" name="Google Shape;300;p26"/>
          <p:cNvGrpSpPr/>
          <p:nvPr/>
        </p:nvGrpSpPr>
        <p:grpSpPr>
          <a:xfrm>
            <a:off x="571500" y="1524000"/>
            <a:ext cx="11049000" cy="762000"/>
            <a:chOff x="571500" y="1524000"/>
            <a:chExt cx="11049000" cy="762000"/>
          </a:xfrm>
        </p:grpSpPr>
        <p:sp>
          <p:nvSpPr>
            <p:cNvPr id="301" name="Google Shape;301;p26"/>
            <p:cNvSpPr/>
            <p:nvPr/>
          </p:nvSpPr>
          <p:spPr>
            <a:xfrm>
              <a:off x="571500" y="1524000"/>
              <a:ext cx="11049000" cy="762000"/>
            </a:xfrm>
            <a:prstGeom prst="roundRect">
              <a:avLst>
                <a:gd name="adj" fmla="val 15000"/>
              </a:avLst>
            </a:prstGeom>
            <a:solidFill>
              <a:srgbClr val="1E293B"/>
            </a:solidFill>
            <a:ln w="9525" cap="flat" cmpd="sng">
              <a:solidFill>
                <a:srgbClr val="3B82F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2" name="Google Shape;302;p26"/>
            <p:cNvSpPr txBox="1"/>
            <p:nvPr/>
          </p:nvSpPr>
          <p:spPr>
            <a:xfrm>
              <a:off x="762000" y="1524000"/>
              <a:ext cx="20955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0">
                  <a:solidFill>
                    <a:srgbClr val="F8FAFC"/>
                  </a:solidFill>
                  <a:latin typeface="Poppins SemiBold"/>
                  <a:ea typeface="Poppins SemiBold"/>
                  <a:cs typeface="Poppins SemiBold"/>
                  <a:sym typeface="Poppins SemiBold"/>
                </a:rPr>
                <a:t>Queue Depth</a:t>
              </a:r>
              <a:endParaRPr sz="1600" b="0">
                <a:solidFill>
                  <a:srgbClr val="F8FAFC"/>
                </a:solidFill>
                <a:latin typeface="Poppins SemiBold"/>
                <a:ea typeface="Poppins SemiBold"/>
                <a:cs typeface="Poppins SemiBold"/>
                <a:sym typeface="Poppins SemiBold"/>
              </a:endParaRPr>
            </a:p>
          </p:txBody>
        </p:sp>
        <p:sp>
          <p:nvSpPr>
            <p:cNvPr id="303" name="Google Shape;303;p26"/>
            <p:cNvSpPr/>
            <p:nvPr/>
          </p:nvSpPr>
          <p:spPr>
            <a:xfrm>
              <a:off x="3048000" y="1762125"/>
              <a:ext cx="8382000" cy="285900"/>
            </a:xfrm>
            <a:prstGeom prst="roundRect">
              <a:avLst>
                <a:gd name="adj" fmla="val 50000"/>
              </a:avLst>
            </a:prstGeom>
            <a:solidFill>
              <a:srgbClr val="33415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4" name="Google Shape;304;p26"/>
            <p:cNvSpPr/>
            <p:nvPr/>
          </p:nvSpPr>
          <p:spPr>
            <a:xfrm>
              <a:off x="3048000" y="1762125"/>
              <a:ext cx="6286500" cy="285900"/>
            </a:xfrm>
            <a:prstGeom prst="roundRect">
              <a:avLst>
                <a:gd name="adj" fmla="val 50000"/>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5" name="Google Shape;305;p26"/>
            <p:cNvSpPr txBox="1"/>
            <p:nvPr/>
          </p:nvSpPr>
          <p:spPr>
            <a:xfrm>
              <a:off x="3238500" y="1762125"/>
              <a:ext cx="6096000" cy="285900"/>
            </a:xfrm>
            <a:prstGeom prst="rect">
              <a:avLst/>
            </a:prstGeom>
            <a:noFill/>
            <a:ln>
              <a:noFill/>
            </a:ln>
          </p:spPr>
          <p:txBody>
            <a:bodyPr spcFirstLastPara="1" wrap="square" lIns="0" tIns="0" rIns="142875" bIns="0" anchor="ctr" anchorCtr="0">
              <a:noAutofit/>
            </a:bodyPr>
            <a:lstStyle/>
            <a:p>
              <a:pPr marL="0" lvl="0" indent="0" algn="r" rtl="0">
                <a:spcBef>
                  <a:spcPts val="0"/>
                </a:spcBef>
                <a:spcAft>
                  <a:spcPts val="0"/>
                </a:spcAft>
                <a:buNone/>
              </a:pPr>
              <a:r>
                <a:rPr lang="en-US" sz="1000" b="1">
                  <a:solidFill>
                    <a:srgbClr val="020617"/>
                  </a:solidFill>
                  <a:latin typeface="Lato"/>
                  <a:ea typeface="Lato"/>
                  <a:cs typeface="Lato"/>
                  <a:sym typeface="Lato"/>
                </a:rPr>
                <a:t>Tasks Waiting</a:t>
              </a:r>
              <a:endParaRPr sz="1000" b="1">
                <a:solidFill>
                  <a:srgbClr val="020617"/>
                </a:solidFill>
                <a:latin typeface="Lato"/>
                <a:ea typeface="Lato"/>
                <a:cs typeface="Lato"/>
                <a:sym typeface="Lato"/>
              </a:endParaRPr>
            </a:p>
          </p:txBody>
        </p:sp>
      </p:grpSp>
      <p:grpSp>
        <p:nvGrpSpPr>
          <p:cNvPr id="306" name="Google Shape;306;p26"/>
          <p:cNvGrpSpPr/>
          <p:nvPr/>
        </p:nvGrpSpPr>
        <p:grpSpPr>
          <a:xfrm>
            <a:off x="571500" y="2476500"/>
            <a:ext cx="11049000" cy="762000"/>
            <a:chOff x="571500" y="2476500"/>
            <a:chExt cx="11049000" cy="762000"/>
          </a:xfrm>
        </p:grpSpPr>
        <p:sp>
          <p:nvSpPr>
            <p:cNvPr id="307" name="Google Shape;307;p26"/>
            <p:cNvSpPr/>
            <p:nvPr/>
          </p:nvSpPr>
          <p:spPr>
            <a:xfrm>
              <a:off x="571500" y="2476500"/>
              <a:ext cx="11049000" cy="762000"/>
            </a:xfrm>
            <a:prstGeom prst="roundRect">
              <a:avLst>
                <a:gd name="adj" fmla="val 15000"/>
              </a:avLst>
            </a:prstGeom>
            <a:solidFill>
              <a:srgbClr val="1E293B"/>
            </a:solidFill>
            <a:ln w="9525" cap="flat" cmpd="sng">
              <a:solidFill>
                <a:srgbClr val="3B82F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8" name="Google Shape;308;p26"/>
            <p:cNvSpPr txBox="1"/>
            <p:nvPr/>
          </p:nvSpPr>
          <p:spPr>
            <a:xfrm>
              <a:off x="762000" y="2476500"/>
              <a:ext cx="20955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0">
                  <a:solidFill>
                    <a:srgbClr val="F8FAFC"/>
                  </a:solidFill>
                  <a:latin typeface="Poppins SemiBold"/>
                  <a:ea typeface="Poppins SemiBold"/>
                  <a:cs typeface="Poppins SemiBold"/>
                  <a:sym typeface="Poppins SemiBold"/>
                </a:rPr>
                <a:t>Task Latency</a:t>
              </a:r>
              <a:endParaRPr sz="1600" b="0">
                <a:solidFill>
                  <a:srgbClr val="F8FAFC"/>
                </a:solidFill>
                <a:latin typeface="Poppins SemiBold"/>
                <a:ea typeface="Poppins SemiBold"/>
                <a:cs typeface="Poppins SemiBold"/>
                <a:sym typeface="Poppins SemiBold"/>
              </a:endParaRPr>
            </a:p>
          </p:txBody>
        </p:sp>
        <p:sp>
          <p:nvSpPr>
            <p:cNvPr id="309" name="Google Shape;309;p26"/>
            <p:cNvSpPr/>
            <p:nvPr/>
          </p:nvSpPr>
          <p:spPr>
            <a:xfrm>
              <a:off x="3048000" y="2714625"/>
              <a:ext cx="8382000" cy="285900"/>
            </a:xfrm>
            <a:prstGeom prst="roundRect">
              <a:avLst>
                <a:gd name="adj" fmla="val 50000"/>
              </a:avLst>
            </a:prstGeom>
            <a:solidFill>
              <a:srgbClr val="33415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0" name="Google Shape;310;p26"/>
            <p:cNvSpPr/>
            <p:nvPr/>
          </p:nvSpPr>
          <p:spPr>
            <a:xfrm>
              <a:off x="3048000" y="2714625"/>
              <a:ext cx="3333900" cy="285900"/>
            </a:xfrm>
            <a:prstGeom prst="roundRect">
              <a:avLst>
                <a:gd name="adj" fmla="val 50000"/>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1" name="Google Shape;311;p26"/>
            <p:cNvSpPr txBox="1"/>
            <p:nvPr/>
          </p:nvSpPr>
          <p:spPr>
            <a:xfrm>
              <a:off x="3238500" y="2714625"/>
              <a:ext cx="3143400" cy="285900"/>
            </a:xfrm>
            <a:prstGeom prst="rect">
              <a:avLst/>
            </a:prstGeom>
            <a:noFill/>
            <a:ln>
              <a:noFill/>
            </a:ln>
          </p:spPr>
          <p:txBody>
            <a:bodyPr spcFirstLastPara="1" wrap="square" lIns="0" tIns="0" rIns="142875" bIns="0" anchor="ctr" anchorCtr="0">
              <a:noAutofit/>
            </a:bodyPr>
            <a:lstStyle/>
            <a:p>
              <a:pPr marL="0" lvl="0" indent="0" algn="r" rtl="0">
                <a:spcBef>
                  <a:spcPts val="0"/>
                </a:spcBef>
                <a:spcAft>
                  <a:spcPts val="0"/>
                </a:spcAft>
                <a:buNone/>
              </a:pPr>
              <a:r>
                <a:rPr lang="en-US" sz="1000" b="1">
                  <a:solidFill>
                    <a:srgbClr val="F8FAFC"/>
                  </a:solidFill>
                  <a:latin typeface="Lato"/>
                  <a:ea typeface="Lato"/>
                  <a:cs typeface="Lato"/>
                  <a:sym typeface="Lato"/>
                </a:rPr>
                <a:t>Avg processing time</a:t>
              </a:r>
              <a:endParaRPr sz="1000" b="1">
                <a:solidFill>
                  <a:srgbClr val="F8FAFC"/>
                </a:solidFill>
                <a:latin typeface="Lato"/>
                <a:ea typeface="Lato"/>
                <a:cs typeface="Lato"/>
                <a:sym typeface="Lato"/>
              </a:endParaRPr>
            </a:p>
          </p:txBody>
        </p:sp>
      </p:grpSp>
      <p:grpSp>
        <p:nvGrpSpPr>
          <p:cNvPr id="312" name="Google Shape;312;p26"/>
          <p:cNvGrpSpPr/>
          <p:nvPr/>
        </p:nvGrpSpPr>
        <p:grpSpPr>
          <a:xfrm>
            <a:off x="571500" y="3429000"/>
            <a:ext cx="11049000" cy="762000"/>
            <a:chOff x="571500" y="3429000"/>
            <a:chExt cx="11049000" cy="762000"/>
          </a:xfrm>
        </p:grpSpPr>
        <p:sp>
          <p:nvSpPr>
            <p:cNvPr id="313" name="Google Shape;313;p26"/>
            <p:cNvSpPr/>
            <p:nvPr/>
          </p:nvSpPr>
          <p:spPr>
            <a:xfrm>
              <a:off x="571500" y="3429000"/>
              <a:ext cx="11049000" cy="762000"/>
            </a:xfrm>
            <a:prstGeom prst="roundRect">
              <a:avLst>
                <a:gd name="adj" fmla="val 15000"/>
              </a:avLst>
            </a:prstGeom>
            <a:solidFill>
              <a:srgbClr val="1E293B"/>
            </a:solidFill>
            <a:ln w="9525" cap="flat" cmpd="sng">
              <a:solidFill>
                <a:srgbClr val="3B82F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4" name="Google Shape;314;p26"/>
            <p:cNvSpPr txBox="1"/>
            <p:nvPr/>
          </p:nvSpPr>
          <p:spPr>
            <a:xfrm>
              <a:off x="762000" y="3429000"/>
              <a:ext cx="20955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0">
                  <a:solidFill>
                    <a:srgbClr val="F8FAFC"/>
                  </a:solidFill>
                  <a:latin typeface="Poppins SemiBold"/>
                  <a:ea typeface="Poppins SemiBold"/>
                  <a:cs typeface="Poppins SemiBold"/>
                  <a:sym typeface="Poppins SemiBold"/>
                </a:rPr>
                <a:t>Error Rate (429)</a:t>
              </a:r>
              <a:endParaRPr sz="1600" b="0">
                <a:solidFill>
                  <a:srgbClr val="F8FAFC"/>
                </a:solidFill>
                <a:latin typeface="Poppins SemiBold"/>
                <a:ea typeface="Poppins SemiBold"/>
                <a:cs typeface="Poppins SemiBold"/>
                <a:sym typeface="Poppins SemiBold"/>
              </a:endParaRPr>
            </a:p>
          </p:txBody>
        </p:sp>
        <p:sp>
          <p:nvSpPr>
            <p:cNvPr id="315" name="Google Shape;315;p26"/>
            <p:cNvSpPr/>
            <p:nvPr/>
          </p:nvSpPr>
          <p:spPr>
            <a:xfrm>
              <a:off x="3048000" y="3667125"/>
              <a:ext cx="8382000" cy="285900"/>
            </a:xfrm>
            <a:prstGeom prst="roundRect">
              <a:avLst>
                <a:gd name="adj" fmla="val 50000"/>
              </a:avLst>
            </a:prstGeom>
            <a:solidFill>
              <a:srgbClr val="33415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6" name="Google Shape;316;p26"/>
            <p:cNvSpPr/>
            <p:nvPr/>
          </p:nvSpPr>
          <p:spPr>
            <a:xfrm>
              <a:off x="3048000" y="3667125"/>
              <a:ext cx="1428900" cy="285900"/>
            </a:xfrm>
            <a:prstGeom prst="roundRect">
              <a:avLst>
                <a:gd name="adj" fmla="val 50000"/>
              </a:avLst>
            </a:prstGeom>
            <a:solidFill>
              <a:srgbClr val="EF444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7" name="Google Shape;317;p26"/>
            <p:cNvSpPr txBox="1"/>
            <p:nvPr/>
          </p:nvSpPr>
          <p:spPr>
            <a:xfrm>
              <a:off x="3238500" y="3667125"/>
              <a:ext cx="1238400" cy="285900"/>
            </a:xfrm>
            <a:prstGeom prst="rect">
              <a:avLst/>
            </a:prstGeom>
            <a:noFill/>
            <a:ln>
              <a:noFill/>
            </a:ln>
          </p:spPr>
          <p:txBody>
            <a:bodyPr spcFirstLastPara="1" wrap="square" lIns="0" tIns="0" rIns="95250" bIns="0" anchor="ctr" anchorCtr="0">
              <a:noAutofit/>
            </a:bodyPr>
            <a:lstStyle/>
            <a:p>
              <a:pPr marL="0" lvl="0" indent="0" algn="r" rtl="0">
                <a:spcBef>
                  <a:spcPts val="0"/>
                </a:spcBef>
                <a:spcAft>
                  <a:spcPts val="0"/>
                </a:spcAft>
                <a:buNone/>
              </a:pPr>
              <a:r>
                <a:rPr lang="en-US" sz="1000" b="1">
                  <a:solidFill>
                    <a:srgbClr val="F8FAFC"/>
                  </a:solidFill>
                  <a:latin typeface="Lato"/>
                  <a:ea typeface="Lato"/>
                  <a:cs typeface="Lato"/>
                  <a:sym typeface="Lato"/>
                </a:rPr>
                <a:t>Throttled</a:t>
              </a:r>
              <a:endParaRPr sz="1000" b="1">
                <a:solidFill>
                  <a:srgbClr val="F8FAFC"/>
                </a:solidFill>
                <a:latin typeface="Lato"/>
                <a:ea typeface="Lato"/>
                <a:cs typeface="Lato"/>
                <a:sym typeface="Lato"/>
              </a:endParaRPr>
            </a:p>
          </p:txBody>
        </p:sp>
      </p:grpSp>
      <p:grpSp>
        <p:nvGrpSpPr>
          <p:cNvPr id="318" name="Google Shape;318;p26"/>
          <p:cNvGrpSpPr/>
          <p:nvPr/>
        </p:nvGrpSpPr>
        <p:grpSpPr>
          <a:xfrm>
            <a:off x="571500" y="4381500"/>
            <a:ext cx="11049000" cy="762000"/>
            <a:chOff x="571500" y="4381500"/>
            <a:chExt cx="11049000" cy="762000"/>
          </a:xfrm>
        </p:grpSpPr>
        <p:sp>
          <p:nvSpPr>
            <p:cNvPr id="319" name="Google Shape;319;p26"/>
            <p:cNvSpPr/>
            <p:nvPr/>
          </p:nvSpPr>
          <p:spPr>
            <a:xfrm>
              <a:off x="571500" y="4381500"/>
              <a:ext cx="11049000" cy="762000"/>
            </a:xfrm>
            <a:prstGeom prst="roundRect">
              <a:avLst>
                <a:gd name="adj" fmla="val 15000"/>
              </a:avLst>
            </a:prstGeom>
            <a:solidFill>
              <a:srgbClr val="1E293B"/>
            </a:solidFill>
            <a:ln w="9525" cap="flat" cmpd="sng">
              <a:solidFill>
                <a:srgbClr val="3B82F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0" name="Google Shape;320;p26"/>
            <p:cNvSpPr txBox="1"/>
            <p:nvPr/>
          </p:nvSpPr>
          <p:spPr>
            <a:xfrm>
              <a:off x="762000" y="4381500"/>
              <a:ext cx="20955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0">
                  <a:solidFill>
                    <a:srgbClr val="F8FAFC"/>
                  </a:solidFill>
                  <a:latin typeface="Poppins SemiBold"/>
                  <a:ea typeface="Poppins SemiBold"/>
                  <a:cs typeface="Poppins SemiBold"/>
                  <a:sym typeface="Poppins SemiBold"/>
                </a:rPr>
                <a:t>Active Workers</a:t>
              </a:r>
              <a:endParaRPr sz="1600" b="0">
                <a:solidFill>
                  <a:srgbClr val="F8FAFC"/>
                </a:solidFill>
                <a:latin typeface="Poppins SemiBold"/>
                <a:ea typeface="Poppins SemiBold"/>
                <a:cs typeface="Poppins SemiBold"/>
                <a:sym typeface="Poppins SemiBold"/>
              </a:endParaRPr>
            </a:p>
          </p:txBody>
        </p:sp>
        <p:sp>
          <p:nvSpPr>
            <p:cNvPr id="321" name="Google Shape;321;p26"/>
            <p:cNvSpPr/>
            <p:nvPr/>
          </p:nvSpPr>
          <p:spPr>
            <a:xfrm>
              <a:off x="3048000" y="4619625"/>
              <a:ext cx="8382000" cy="285900"/>
            </a:xfrm>
            <a:prstGeom prst="roundRect">
              <a:avLst>
                <a:gd name="adj" fmla="val 50000"/>
              </a:avLst>
            </a:prstGeom>
            <a:solidFill>
              <a:srgbClr val="33415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2" name="Google Shape;322;p26"/>
            <p:cNvSpPr/>
            <p:nvPr/>
          </p:nvSpPr>
          <p:spPr>
            <a:xfrm>
              <a:off x="3048000" y="4619625"/>
              <a:ext cx="7524900" cy="285900"/>
            </a:xfrm>
            <a:prstGeom prst="roundRect">
              <a:avLst>
                <a:gd name="adj" fmla="val 50000"/>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3" name="Google Shape;323;p26"/>
            <p:cNvSpPr txBox="1"/>
            <p:nvPr/>
          </p:nvSpPr>
          <p:spPr>
            <a:xfrm>
              <a:off x="3238500" y="4619625"/>
              <a:ext cx="7334400" cy="285900"/>
            </a:xfrm>
            <a:prstGeom prst="rect">
              <a:avLst/>
            </a:prstGeom>
            <a:noFill/>
            <a:ln>
              <a:noFill/>
            </a:ln>
          </p:spPr>
          <p:txBody>
            <a:bodyPr spcFirstLastPara="1" wrap="square" lIns="0" tIns="0" rIns="142875" bIns="0" anchor="ctr" anchorCtr="0">
              <a:noAutofit/>
            </a:bodyPr>
            <a:lstStyle/>
            <a:p>
              <a:pPr marL="0" lvl="0" indent="0" algn="r" rtl="0">
                <a:spcBef>
                  <a:spcPts val="0"/>
                </a:spcBef>
                <a:spcAft>
                  <a:spcPts val="0"/>
                </a:spcAft>
                <a:buNone/>
              </a:pPr>
              <a:r>
                <a:rPr lang="en-US" sz="1000" b="1">
                  <a:solidFill>
                    <a:srgbClr val="020617"/>
                  </a:solidFill>
                  <a:latin typeface="Lato"/>
                  <a:ea typeface="Lato"/>
                  <a:cs typeface="Lato"/>
                  <a:sym typeface="Lato"/>
                </a:rPr>
                <a:t>GPU Utilization</a:t>
              </a:r>
              <a:endParaRPr sz="1000" b="1">
                <a:solidFill>
                  <a:srgbClr val="020617"/>
                </a:solidFill>
                <a:latin typeface="Lato"/>
                <a:ea typeface="Lato"/>
                <a:cs typeface="Lato"/>
                <a:sym typeface="Lato"/>
              </a:endParaRPr>
            </a:p>
          </p:txBody>
        </p:sp>
      </p:grpSp>
      <p:sp>
        <p:nvSpPr>
          <p:cNvPr id="324" name="Google Shape;324;p26"/>
          <p:cNvSpPr txBox="1"/>
          <p:nvPr/>
        </p:nvSpPr>
        <p:spPr>
          <a:xfrm>
            <a:off x="762000" y="571500"/>
            <a:ext cx="114015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1F5F9"/>
                </a:solidFill>
                <a:latin typeface="Poppins Medium"/>
                <a:ea typeface="Poppins Medium"/>
                <a:cs typeface="Poppins Medium"/>
                <a:sym typeface="Poppins Medium"/>
              </a:rPr>
              <a:t>CÁC CHỈ SỐ METRICS THEN CHỐT</a:t>
            </a:r>
            <a:endParaRPr/>
          </a:p>
        </p:txBody>
      </p:sp>
      <p:sp>
        <p:nvSpPr>
          <p:cNvPr id="325" name="Google Shape;325;p26"/>
          <p:cNvSpPr/>
          <p:nvPr/>
        </p:nvSpPr>
        <p:spPr>
          <a:xfrm>
            <a:off x="571500" y="571500"/>
            <a:ext cx="76200" cy="57150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329"/>
        <p:cNvGrpSpPr/>
        <p:nvPr/>
      </p:nvGrpSpPr>
      <p:grpSpPr>
        <a:xfrm>
          <a:off x="0" y="0"/>
          <a:ext cx="0" cy="0"/>
          <a:chOff x="0" y="0"/>
          <a:chExt cx="0" cy="0"/>
        </a:xfrm>
      </p:grpSpPr>
      <p:pic>
        <p:nvPicPr>
          <p:cNvPr id="330" name="Google Shape;330;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31" name="Google Shape;331;p27" descr="image.png"/>
          <p:cNvPicPr preferRelativeResize="0"/>
          <p:nvPr/>
        </p:nvPicPr>
        <p:blipFill rotWithShape="1">
          <a:blip r:embed="rId4">
            <a:alphaModFix/>
          </a:blip>
          <a:srcRect/>
          <a:stretch/>
        </p:blipFill>
        <p:spPr>
          <a:xfrm>
            <a:off x="571500" y="3924300"/>
            <a:ext cx="11049000" cy="2605980"/>
          </a:xfrm>
          <a:prstGeom prst="rect">
            <a:avLst/>
          </a:prstGeom>
          <a:noFill/>
          <a:ln>
            <a:noFill/>
          </a:ln>
        </p:spPr>
      </p:pic>
      <p:pic>
        <p:nvPicPr>
          <p:cNvPr id="332" name="Google Shape;332;p27" descr="image.png"/>
          <p:cNvPicPr preferRelativeResize="0"/>
          <p:nvPr/>
        </p:nvPicPr>
        <p:blipFill rotWithShape="1">
          <a:blip r:embed="rId5">
            <a:alphaModFix/>
          </a:blip>
          <a:srcRect/>
          <a:stretch/>
        </p:blipFill>
        <p:spPr>
          <a:xfrm>
            <a:off x="571500" y="1524000"/>
            <a:ext cx="3492400" cy="2133600"/>
          </a:xfrm>
          <a:prstGeom prst="rect">
            <a:avLst/>
          </a:prstGeom>
          <a:noFill/>
          <a:ln>
            <a:noFill/>
          </a:ln>
        </p:spPr>
      </p:pic>
      <p:pic>
        <p:nvPicPr>
          <p:cNvPr id="333" name="Google Shape;333;p27" descr="image.png"/>
          <p:cNvPicPr preferRelativeResize="0"/>
          <p:nvPr/>
        </p:nvPicPr>
        <p:blipFill rotWithShape="1">
          <a:blip r:embed="rId6">
            <a:alphaModFix/>
          </a:blip>
          <a:srcRect/>
          <a:stretch/>
        </p:blipFill>
        <p:spPr>
          <a:xfrm>
            <a:off x="4349650" y="1524000"/>
            <a:ext cx="3492549" cy="2133600"/>
          </a:xfrm>
          <a:prstGeom prst="rect">
            <a:avLst/>
          </a:prstGeom>
          <a:noFill/>
          <a:ln>
            <a:noFill/>
          </a:ln>
        </p:spPr>
      </p:pic>
      <p:pic>
        <p:nvPicPr>
          <p:cNvPr id="334" name="Google Shape;334;p27" descr="image.png"/>
          <p:cNvPicPr preferRelativeResize="0"/>
          <p:nvPr/>
        </p:nvPicPr>
        <p:blipFill rotWithShape="1">
          <a:blip r:embed="rId7">
            <a:alphaModFix/>
          </a:blip>
          <a:srcRect/>
          <a:stretch/>
        </p:blipFill>
        <p:spPr>
          <a:xfrm>
            <a:off x="8127950" y="1524000"/>
            <a:ext cx="3492400" cy="2133600"/>
          </a:xfrm>
          <a:prstGeom prst="rect">
            <a:avLst/>
          </a:prstGeom>
          <a:noFill/>
          <a:ln>
            <a:noFill/>
          </a:ln>
        </p:spPr>
      </p:pic>
      <p:sp>
        <p:nvSpPr>
          <p:cNvPr id="335" name="Google Shape;335;p27"/>
          <p:cNvSpPr txBox="1"/>
          <p:nvPr/>
        </p:nvSpPr>
        <p:spPr>
          <a:xfrm>
            <a:off x="971550" y="4800600"/>
            <a:ext cx="10248900" cy="85338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F1F5F9"/>
                </a:solidFill>
                <a:latin typeface="Lato"/>
                <a:ea typeface="Lato"/>
                <a:cs typeface="Lato"/>
                <a:sym typeface="Lato"/>
              </a:rPr>
              <a:t>Hệ thống resilient không được xây dựng bằng cách hy vọng không có lỗi, mà bằng cách quản lý lỗi một cách thông minh.</a:t>
            </a:r>
            <a:endParaRPr/>
          </a:p>
        </p:txBody>
      </p:sp>
      <p:sp>
        <p:nvSpPr>
          <p:cNvPr id="336" name="Google Shape;336;p27"/>
          <p:cNvSpPr txBox="1"/>
          <p:nvPr/>
        </p:nvSpPr>
        <p:spPr>
          <a:xfrm>
            <a:off x="971550" y="5844480"/>
            <a:ext cx="102489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3B82F6"/>
                </a:solidFill>
                <a:latin typeface="Lato"/>
                <a:ea typeface="Lato"/>
                <a:cs typeface="Lato"/>
                <a:sym typeface="Lato"/>
              </a:rPr>
              <a:t>HỎI &amp; ĐÁP</a:t>
            </a:r>
            <a:endParaRPr/>
          </a:p>
        </p:txBody>
      </p:sp>
      <p:sp>
        <p:nvSpPr>
          <p:cNvPr id="337" name="Google Shape;337;p27"/>
          <p:cNvSpPr txBox="1"/>
          <p:nvPr/>
        </p:nvSpPr>
        <p:spPr>
          <a:xfrm>
            <a:off x="844234" y="1866900"/>
            <a:ext cx="294693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3B82F6"/>
                </a:solidFill>
                <a:latin typeface="Poppins"/>
                <a:ea typeface="Poppins"/>
                <a:cs typeface="Poppins"/>
                <a:sym typeface="Poppins"/>
              </a:rPr>
              <a:t>Bất đồng bộ</a:t>
            </a:r>
            <a:endParaRPr/>
          </a:p>
        </p:txBody>
      </p:sp>
      <p:sp>
        <p:nvSpPr>
          <p:cNvPr id="338" name="Google Shape;338;p27"/>
          <p:cNvSpPr txBox="1"/>
          <p:nvPr/>
        </p:nvSpPr>
        <p:spPr>
          <a:xfrm>
            <a:off x="914400" y="2514600"/>
            <a:ext cx="28066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Lato"/>
                <a:ea typeface="Lato"/>
                <a:cs typeface="Lato"/>
                <a:sym typeface="Lato"/>
              </a:rPr>
              <a:t>Bắt buộc cho LLM Serving</a:t>
            </a:r>
            <a:endParaRPr/>
          </a:p>
        </p:txBody>
      </p:sp>
      <p:sp>
        <p:nvSpPr>
          <p:cNvPr id="339" name="Google Shape;339;p27"/>
          <p:cNvSpPr txBox="1"/>
          <p:nvPr/>
        </p:nvSpPr>
        <p:spPr>
          <a:xfrm>
            <a:off x="4622382" y="1866900"/>
            <a:ext cx="2947087"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3B82F6"/>
                </a:solidFill>
                <a:latin typeface="Poppins"/>
                <a:ea typeface="Poppins"/>
                <a:cs typeface="Poppins"/>
                <a:sym typeface="Poppins"/>
              </a:rPr>
              <a:t>FastAPI</a:t>
            </a:r>
            <a:endParaRPr/>
          </a:p>
        </p:txBody>
      </p:sp>
      <p:sp>
        <p:nvSpPr>
          <p:cNvPr id="340" name="Google Shape;340;p27"/>
          <p:cNvSpPr txBox="1"/>
          <p:nvPr/>
        </p:nvSpPr>
        <p:spPr>
          <a:xfrm>
            <a:off x="4692550" y="2514600"/>
            <a:ext cx="2806749"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Lato"/>
                <a:ea typeface="Lato"/>
                <a:cs typeface="Lato"/>
                <a:sym typeface="Lato"/>
              </a:rPr>
              <a:t>Wrapper mạnh mẽ &amp; Async-native</a:t>
            </a:r>
            <a:endParaRPr/>
          </a:p>
        </p:txBody>
      </p:sp>
      <p:sp>
        <p:nvSpPr>
          <p:cNvPr id="341" name="Google Shape;341;p27"/>
          <p:cNvSpPr txBox="1"/>
          <p:nvPr/>
        </p:nvSpPr>
        <p:spPr>
          <a:xfrm>
            <a:off x="8400685" y="1866900"/>
            <a:ext cx="294693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3B82F6"/>
                </a:solidFill>
                <a:latin typeface="Poppins"/>
                <a:ea typeface="Poppins"/>
                <a:cs typeface="Poppins"/>
                <a:sym typeface="Poppins"/>
              </a:rPr>
              <a:t>Redis</a:t>
            </a:r>
            <a:endParaRPr/>
          </a:p>
        </p:txBody>
      </p:sp>
      <p:sp>
        <p:nvSpPr>
          <p:cNvPr id="342" name="Google Shape;342;p27"/>
          <p:cNvSpPr txBox="1"/>
          <p:nvPr/>
        </p:nvSpPr>
        <p:spPr>
          <a:xfrm>
            <a:off x="8470850" y="2514600"/>
            <a:ext cx="28066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Lato"/>
                <a:ea typeface="Lato"/>
                <a:cs typeface="Lato"/>
                <a:sym typeface="Lato"/>
              </a:rPr>
              <a:t>Trái tim của hàng đợi &amp; bảo mật</a:t>
            </a:r>
            <a:endParaRPr/>
          </a:p>
        </p:txBody>
      </p:sp>
      <p:sp>
        <p:nvSpPr>
          <p:cNvPr id="343" name="Google Shape;343;p27"/>
          <p:cNvSpPr txBox="1"/>
          <p:nvPr/>
        </p:nvSpPr>
        <p:spPr>
          <a:xfrm>
            <a:off x="762000"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1F5F9"/>
                </a:solidFill>
                <a:latin typeface="Poppins Medium"/>
                <a:ea typeface="Poppins Medium"/>
                <a:cs typeface="Poppins Medium"/>
                <a:sym typeface="Poppins Medium"/>
              </a:rPr>
              <a:t>TỔNG KẾT VÀ THẢO LUẬN</a:t>
            </a:r>
            <a:endParaRPr/>
          </a:p>
        </p:txBody>
      </p:sp>
      <p:sp>
        <p:nvSpPr>
          <p:cNvPr id="344" name="Google Shape;344;p27"/>
          <p:cNvSpPr/>
          <p:nvPr/>
        </p:nvSpPr>
        <p:spPr>
          <a:xfrm>
            <a:off x="571500" y="571500"/>
            <a:ext cx="76200" cy="57150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955</Words>
  <Application>Microsoft Office PowerPoint</Application>
  <PresentationFormat>Widescreen</PresentationFormat>
  <Paragraphs>111</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Poppins Medium</vt:lpstr>
      <vt:lpstr>Lato</vt:lpstr>
      <vt:lpstr>Calibri</vt:lpstr>
      <vt:lpstr>Wingdings</vt:lpstr>
      <vt:lpstr>Poppins</vt:lpstr>
      <vt:lpstr>Poppins SemiBold</vt:lpstr>
      <vt:lpstr>Courier New</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Nguyễn Minh Đức</cp:lastModifiedBy>
  <cp:revision>2</cp:revision>
  <dcterms:modified xsi:type="dcterms:W3CDTF">2026-05-10T06:24:43Z</dcterms:modified>
</cp:coreProperties>
</file>