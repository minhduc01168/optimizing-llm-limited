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12192000"/>
  <p:notesSz cx="6858000" cy="9144000"/>
  <p:embeddedFontLst>
    <p:embeddedFont>
      <p:font typeface="Inter SemiBold"/>
      <p:regular r:id="rId22"/>
      <p:bold r:id="rId23"/>
      <p:italic r:id="rId24"/>
      <p:boldItalic r:id="rId25"/>
    </p:embeddedFont>
    <p:embeddedFont>
      <p:font typeface="Inter"/>
      <p:regular r:id="rId26"/>
      <p:bold r:id="rId27"/>
      <p:italic r:id="rId28"/>
      <p:boldItalic r:id="rId29"/>
    </p:embeddedFont>
    <p:embeddedFont>
      <p:font typeface="Inter ExtraBold"/>
      <p:bold r:id="rId30"/>
      <p:boldItalic r:id="rId31"/>
    </p:embeddedFont>
    <p:embeddedFont>
      <p:font typeface="JetBrains Mon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14511AF-E522-4003-9CBD-61CB89B9FB59}">
  <a:tblStyle styleId="{714511AF-E522-4003-9CBD-61CB89B9FB59}"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InterSemiBold-regular.fntdata"/><Relationship Id="rId21" Type="http://schemas.openxmlformats.org/officeDocument/2006/relationships/slide" Target="slides/slide15.xml"/><Relationship Id="rId24" Type="http://schemas.openxmlformats.org/officeDocument/2006/relationships/font" Target="fonts/InterSemiBold-italic.fntdata"/><Relationship Id="rId23" Type="http://schemas.openxmlformats.org/officeDocument/2006/relationships/font" Target="fonts/InterSemiBo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regular.fntdata"/><Relationship Id="rId25" Type="http://schemas.openxmlformats.org/officeDocument/2006/relationships/font" Target="fonts/InterSemiBold-boldItalic.fntdata"/><Relationship Id="rId28" Type="http://schemas.openxmlformats.org/officeDocument/2006/relationships/font" Target="fonts/Inter-italic.fntdata"/><Relationship Id="rId27" Type="http://schemas.openxmlformats.org/officeDocument/2006/relationships/font" Target="fonts/Inter-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Inter-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terExtraBold-boldItalic.fntdata"/><Relationship Id="rId30" Type="http://schemas.openxmlformats.org/officeDocument/2006/relationships/font" Target="fonts/InterExtraBold-bold.fntdata"/><Relationship Id="rId11" Type="http://schemas.openxmlformats.org/officeDocument/2006/relationships/slide" Target="slides/slide5.xml"/><Relationship Id="rId33" Type="http://schemas.openxmlformats.org/officeDocument/2006/relationships/font" Target="fonts/JetBrainsMono-bold.fntdata"/><Relationship Id="rId10" Type="http://schemas.openxmlformats.org/officeDocument/2006/relationships/slide" Target="slides/slide4.xml"/><Relationship Id="rId32" Type="http://schemas.openxmlformats.org/officeDocument/2006/relationships/font" Target="fonts/JetBrainsMono-regular.fntdata"/><Relationship Id="rId13" Type="http://schemas.openxmlformats.org/officeDocument/2006/relationships/slide" Target="slides/slide7.xml"/><Relationship Id="rId35" Type="http://schemas.openxmlformats.org/officeDocument/2006/relationships/font" Target="fonts/JetBrainsMono-boldItalic.fntdata"/><Relationship Id="rId12" Type="http://schemas.openxmlformats.org/officeDocument/2006/relationships/slide" Target="slides/slide6.xml"/><Relationship Id="rId34" Type="http://schemas.openxmlformats.org/officeDocument/2006/relationships/font" Target="fonts/JetBrainsMono-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image" Target="../media/image2.png"/><Relationship Id="rId5"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20.png"/><Relationship Id="rId5" Type="http://schemas.openxmlformats.org/officeDocument/2006/relationships/image" Target="../media/image4.png"/><Relationship Id="rId6" Type="http://schemas.openxmlformats.org/officeDocument/2006/relationships/image" Target="../media/image3.png"/><Relationship Id="rId7" Type="http://schemas.openxmlformats.org/officeDocument/2006/relationships/image" Target="../media/image1.png"/><Relationship Id="rId8"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4.png"/><Relationship Id="rId9" Type="http://schemas.openxmlformats.org/officeDocument/2006/relationships/image" Target="../media/image21.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9.png"/><Relationship Id="rId8" Type="http://schemas.openxmlformats.org/officeDocument/2006/relationships/image" Target="../media/image3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4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5.png"/><Relationship Id="rId7" Type="http://schemas.openxmlformats.org/officeDocument/2006/relationships/image" Target="../media/image36.png"/><Relationship Id="rId8" Type="http://schemas.openxmlformats.org/officeDocument/2006/relationships/image" Target="../media/image3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2.png"/><Relationship Id="rId5" Type="http://schemas.openxmlformats.org/officeDocument/2006/relationships/image" Target="../media/image35.png"/><Relationship Id="rId6"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26.png"/><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18.png"/><Relationship Id="rId5" Type="http://schemas.openxmlformats.org/officeDocument/2006/relationships/image" Target="../media/image16.png"/><Relationship Id="rId6" Type="http://schemas.openxmlformats.org/officeDocument/2006/relationships/image" Target="../media/image24.png"/><Relationship Id="rId7" Type="http://schemas.openxmlformats.org/officeDocument/2006/relationships/image" Target="../media/image39.png"/><Relationship Id="rId8" Type="http://schemas.openxmlformats.org/officeDocument/2006/relationships/image" Target="../media/image4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27.png"/><Relationship Id="rId5" Type="http://schemas.openxmlformats.org/officeDocument/2006/relationships/image" Target="../media/image30.png"/><Relationship Id="rId6"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3238500" y="4211835"/>
            <a:ext cx="5715000" cy="2381250"/>
          </a:xfrm>
          <a:prstGeom prst="rect">
            <a:avLst/>
          </a:prstGeom>
          <a:noFill/>
          <a:ln>
            <a:noFill/>
          </a:ln>
        </p:spPr>
      </p:pic>
      <p:sp>
        <p:nvSpPr>
          <p:cNvPr id="86" name="Google Shape;86;p13"/>
          <p:cNvSpPr txBox="1"/>
          <p:nvPr/>
        </p:nvSpPr>
        <p:spPr>
          <a:xfrm>
            <a:off x="571500" y="571500"/>
            <a:ext cx="11049000" cy="2952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10B981"/>
                </a:solidFill>
                <a:latin typeface="JetBrains Mono"/>
                <a:ea typeface="JetBrains Mono"/>
                <a:cs typeface="JetBrains Mono"/>
                <a:sym typeface="JetBrains Mono"/>
              </a:rPr>
              <a:t>BUỔI 5: LLM SERVING</a:t>
            </a:r>
            <a:endParaRPr/>
          </a:p>
        </p:txBody>
      </p:sp>
      <p:sp>
        <p:nvSpPr>
          <p:cNvPr id="87" name="Google Shape;87;p13"/>
          <p:cNvSpPr/>
          <p:nvPr/>
        </p:nvSpPr>
        <p:spPr>
          <a:xfrm>
            <a:off x="5143500" y="2611635"/>
            <a:ext cx="1905000" cy="381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 name="Google Shape;88;p13"/>
          <p:cNvSpPr txBox="1"/>
          <p:nvPr/>
        </p:nvSpPr>
        <p:spPr>
          <a:xfrm>
            <a:off x="2286000" y="2935485"/>
            <a:ext cx="7620000" cy="8001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2100" u="none" cap="none" strike="noStrike">
                <a:solidFill>
                  <a:srgbClr val="94A3B8"/>
                </a:solidFill>
                <a:latin typeface="Inter"/>
                <a:ea typeface="Inter"/>
                <a:cs typeface="Inter"/>
                <a:sym typeface="Inter"/>
              </a:rPr>
              <a:t>Tăng cường lưu lượng xử lý (Throughput) thông qua cơ chế lập lịch mức độ lặp (Iteration-level scheduling).</a:t>
            </a:r>
            <a:endParaRPr/>
          </a:p>
        </p:txBody>
      </p:sp>
      <p:pic>
        <p:nvPicPr>
          <p:cNvPr descr="image.png" id="89" name="Google Shape;89;p13"/>
          <p:cNvPicPr preferRelativeResize="0"/>
          <p:nvPr/>
        </p:nvPicPr>
        <p:blipFill rotWithShape="1">
          <a:blip r:embed="rId5">
            <a:alphaModFix/>
          </a:blip>
          <a:srcRect b="0" l="0" r="0" t="0"/>
          <a:stretch/>
        </p:blipFill>
        <p:spPr>
          <a:xfrm>
            <a:off x="3248025" y="4221360"/>
            <a:ext cx="5695950" cy="2362200"/>
          </a:xfrm>
          <a:prstGeom prst="rect">
            <a:avLst/>
          </a:prstGeom>
          <a:noFill/>
          <a:ln>
            <a:noFill/>
          </a:ln>
        </p:spPr>
      </p:pic>
      <p:sp>
        <p:nvSpPr>
          <p:cNvPr id="90" name="Google Shape;90;p13"/>
          <p:cNvSpPr txBox="1"/>
          <p:nvPr/>
        </p:nvSpPr>
        <p:spPr>
          <a:xfrm>
            <a:off x="295275" y="1152525"/>
            <a:ext cx="11601450" cy="117336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4200" u="none" cap="none" strike="noStrike">
                <a:solidFill>
                  <a:srgbClr val="3B82F6"/>
                </a:solidFill>
                <a:latin typeface="Inter"/>
                <a:ea typeface="Inter"/>
                <a:cs typeface="Inter"/>
                <a:sym typeface="Inter"/>
              </a:rPr>
              <a:t>Continuous Batching:</a:t>
            </a:r>
            <a:br>
              <a:rPr b="0" i="0" lang="en-US" sz="1800" u="none" cap="none" strike="noStrike">
                <a:solidFill>
                  <a:schemeClr val="dk1"/>
                </a:solidFill>
                <a:latin typeface="Calibri"/>
                <a:ea typeface="Calibri"/>
                <a:cs typeface="Calibri"/>
                <a:sym typeface="Calibri"/>
              </a:rPr>
            </a:br>
            <a:r>
              <a:rPr b="1" i="0" lang="en-US" sz="4200" u="none" cap="none" strike="noStrike">
                <a:solidFill>
                  <a:srgbClr val="F8FAFC"/>
                </a:solidFill>
                <a:latin typeface="Inter"/>
                <a:ea typeface="Inter"/>
                <a:cs typeface="Inter"/>
                <a:sym typeface="Inter"/>
              </a:rPr>
              <a:t>Tối ưu hóa hiệu suất GPU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94" name="Shape 94"/>
        <p:cNvGrpSpPr/>
        <p:nvPr/>
      </p:nvGrpSpPr>
      <p:grpSpPr>
        <a:xfrm>
          <a:off x="0" y="0"/>
          <a:ext cx="0" cy="0"/>
          <a:chOff x="0" y="0"/>
          <a:chExt cx="0" cy="0"/>
        </a:xfrm>
      </p:grpSpPr>
      <p:pic>
        <p:nvPicPr>
          <p:cNvPr descr="image.png" id="95" name="Google Shape;95;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6" name="Google Shape;96;p14"/>
          <p:cNvPicPr preferRelativeResize="0"/>
          <p:nvPr/>
        </p:nvPicPr>
        <p:blipFill rotWithShape="1">
          <a:blip r:embed="rId4">
            <a:alphaModFix/>
          </a:blip>
          <a:srcRect b="0" l="0" r="0" t="0"/>
          <a:stretch/>
        </p:blipFill>
        <p:spPr>
          <a:xfrm>
            <a:off x="6286500" y="1957387"/>
            <a:ext cx="5334000" cy="3810000"/>
          </a:xfrm>
          <a:prstGeom prst="rect">
            <a:avLst/>
          </a:prstGeom>
          <a:noFill/>
          <a:ln>
            <a:noFill/>
          </a:ln>
        </p:spPr>
      </p:pic>
      <p:sp>
        <p:nvSpPr>
          <p:cNvPr id="97" name="Google Shape;97;p14"/>
          <p:cNvSpPr txBox="1"/>
          <p:nvPr/>
        </p:nvSpPr>
        <p:spPr>
          <a:xfrm>
            <a:off x="571500" y="2976562"/>
            <a:ext cx="5334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F8FAFC"/>
                </a:solidFill>
                <a:latin typeface="Inter"/>
                <a:ea typeface="Inter"/>
                <a:cs typeface="Inter"/>
                <a:sym typeface="Inter"/>
              </a:rPr>
              <a:t>Cơ chế cũ:</a:t>
            </a:r>
            <a:r>
              <a:rPr b="0" i="0" lang="en-US" sz="1500" u="none" cap="none" strike="noStrike">
                <a:solidFill>
                  <a:srgbClr val="94A3B8"/>
                </a:solidFill>
                <a:latin typeface="Inter"/>
                <a:ea typeface="Inter"/>
                <a:cs typeface="Inter"/>
                <a:sym typeface="Inter"/>
              </a:rPr>
              <a:t> Hệ thống phải chờ tất cả các yêu cầu trong một batch hoàn thành trước khi bắt đầu batch mới.</a:t>
            </a:r>
            <a:endParaRPr/>
          </a:p>
        </p:txBody>
      </p:sp>
      <p:sp>
        <p:nvSpPr>
          <p:cNvPr id="98" name="Google Shape;98;p14"/>
          <p:cNvSpPr txBox="1"/>
          <p:nvPr/>
        </p:nvSpPr>
        <p:spPr>
          <a:xfrm>
            <a:off x="571500" y="3738562"/>
            <a:ext cx="5334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Inter"/>
                <a:ea typeface="Inter"/>
                <a:cs typeface="Inter"/>
                <a:sym typeface="Inter"/>
              </a:rPr>
              <a:t>Nếu 1 request sinh 1000 token trong khi các request khác chỉ sinh 10 token, GPU sẽ lãng phí công suất chờ đợi.</a:t>
            </a:r>
            <a:endParaRPr/>
          </a:p>
        </p:txBody>
      </p:sp>
      <p:sp>
        <p:nvSpPr>
          <p:cNvPr id="99" name="Google Shape;99;p14"/>
          <p:cNvSpPr txBox="1"/>
          <p:nvPr/>
        </p:nvSpPr>
        <p:spPr>
          <a:xfrm>
            <a:off x="571500" y="4500562"/>
            <a:ext cx="5334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F8FAFC"/>
                </a:solidFill>
                <a:latin typeface="Inter"/>
                <a:ea typeface="Inter"/>
                <a:cs typeface="Inter"/>
                <a:sym typeface="Inter"/>
              </a:rPr>
              <a:t>Hậu quả:</a:t>
            </a:r>
            <a:r>
              <a:rPr b="0" i="0" lang="en-US" sz="1500" u="none" cap="none" strike="noStrike">
                <a:solidFill>
                  <a:srgbClr val="94A3B8"/>
                </a:solidFill>
                <a:latin typeface="Inter"/>
                <a:ea typeface="Inter"/>
                <a:cs typeface="Inter"/>
                <a:sym typeface="Inter"/>
              </a:rPr>
              <a:t> GPU thường xuyên nhàn rỗi (idle), lãng phí tài nguyên đắt đỏ.</a:t>
            </a:r>
            <a:endParaRPr/>
          </a:p>
        </p:txBody>
      </p:sp>
      <p:pic>
        <p:nvPicPr>
          <p:cNvPr descr="image.png" id="100" name="Google Shape;100;p14"/>
          <p:cNvPicPr preferRelativeResize="0"/>
          <p:nvPr/>
        </p:nvPicPr>
        <p:blipFill rotWithShape="1">
          <a:blip r:embed="rId5">
            <a:alphaModFix/>
          </a:blip>
          <a:srcRect b="0" l="0" r="0" t="0"/>
          <a:stretch/>
        </p:blipFill>
        <p:spPr>
          <a:xfrm>
            <a:off x="6296025" y="1966912"/>
            <a:ext cx="5314950" cy="3790950"/>
          </a:xfrm>
          <a:prstGeom prst="rect">
            <a:avLst/>
          </a:prstGeom>
          <a:noFill/>
          <a:ln>
            <a:noFill/>
          </a:ln>
        </p:spPr>
      </p:pic>
      <p:sp>
        <p:nvSpPr>
          <p:cNvPr id="101" name="Google Shape;101;p14"/>
          <p:cNvSpPr txBox="1"/>
          <p:nvPr/>
        </p:nvSpPr>
        <p:spPr>
          <a:xfrm>
            <a:off x="762000" y="571500"/>
            <a:ext cx="11401425"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1F5F9"/>
                </a:solidFill>
                <a:latin typeface="Inter"/>
                <a:ea typeface="Inter"/>
                <a:cs typeface="Inter"/>
                <a:sym typeface="Inter"/>
              </a:rPr>
              <a:t>SỰ BẤT CẬP CỦA BATCHING TĨNH</a:t>
            </a:r>
            <a:endParaRPr/>
          </a:p>
        </p:txBody>
      </p:sp>
      <p:sp>
        <p:nvSpPr>
          <p:cNvPr id="102" name="Google Shape;102;p14"/>
          <p:cNvSpPr/>
          <p:nvPr/>
        </p:nvSpPr>
        <p:spPr>
          <a:xfrm>
            <a:off x="571500" y="571500"/>
            <a:ext cx="57150" cy="4857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14"/>
          <p:cNvSpPr txBox="1"/>
          <p:nvPr/>
        </p:nvSpPr>
        <p:spPr>
          <a:xfrm>
            <a:off x="571500" y="2462212"/>
            <a:ext cx="5600700"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0B981"/>
                </a:solidFill>
                <a:latin typeface="Inter"/>
                <a:ea typeface="Inter"/>
                <a:cs typeface="Inter"/>
                <a:sym typeface="Inter"/>
              </a:rPr>
              <a:t>Vấn đề "Đuôi trễ" (Tail Latency)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107" name="Shape 107"/>
        <p:cNvGrpSpPr/>
        <p:nvPr/>
      </p:nvGrpSpPr>
      <p:grpSpPr>
        <a:xfrm>
          <a:off x="0" y="0"/>
          <a:ext cx="0" cy="0"/>
          <a:chOff x="0" y="0"/>
          <a:chExt cx="0" cy="0"/>
        </a:xfrm>
      </p:grpSpPr>
      <p:pic>
        <p:nvPicPr>
          <p:cNvPr descr="image.png" id="108" name="Google Shape;108;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9" name="Google Shape;109;p15"/>
          <p:cNvPicPr preferRelativeResize="0"/>
          <p:nvPr/>
        </p:nvPicPr>
        <p:blipFill rotWithShape="1">
          <a:blip r:embed="rId4">
            <a:alphaModFix/>
          </a:blip>
          <a:srcRect b="0" l="0" r="0" t="0"/>
          <a:stretch/>
        </p:blipFill>
        <p:spPr>
          <a:xfrm>
            <a:off x="571500" y="1957387"/>
            <a:ext cx="5334000" cy="3810000"/>
          </a:xfrm>
          <a:prstGeom prst="rect">
            <a:avLst/>
          </a:prstGeom>
          <a:noFill/>
          <a:ln>
            <a:noFill/>
          </a:ln>
        </p:spPr>
      </p:pic>
      <p:pic>
        <p:nvPicPr>
          <p:cNvPr descr="image.png" id="110" name="Google Shape;110;p15"/>
          <p:cNvPicPr preferRelativeResize="0"/>
          <p:nvPr/>
        </p:nvPicPr>
        <p:blipFill rotWithShape="1">
          <a:blip r:embed="rId5">
            <a:alphaModFix/>
          </a:blip>
          <a:srcRect b="0" l="0" r="0" t="0"/>
          <a:stretch/>
        </p:blipFill>
        <p:spPr>
          <a:xfrm>
            <a:off x="6286500" y="3028950"/>
            <a:ext cx="5334000" cy="1952625"/>
          </a:xfrm>
          <a:prstGeom prst="rect">
            <a:avLst/>
          </a:prstGeom>
          <a:noFill/>
          <a:ln>
            <a:noFill/>
          </a:ln>
        </p:spPr>
      </p:pic>
      <p:pic>
        <p:nvPicPr>
          <p:cNvPr descr="image.png" id="111" name="Google Shape;111;p15"/>
          <p:cNvPicPr preferRelativeResize="0"/>
          <p:nvPr/>
        </p:nvPicPr>
        <p:blipFill rotWithShape="1">
          <a:blip r:embed="rId6">
            <a:alphaModFix/>
          </a:blip>
          <a:srcRect b="0" l="0" r="0" t="0"/>
          <a:stretch/>
        </p:blipFill>
        <p:spPr>
          <a:xfrm>
            <a:off x="581025" y="1966912"/>
            <a:ext cx="5314950" cy="3790950"/>
          </a:xfrm>
          <a:prstGeom prst="rect">
            <a:avLst/>
          </a:prstGeom>
          <a:noFill/>
          <a:ln>
            <a:noFill/>
          </a:ln>
        </p:spPr>
      </p:pic>
      <p:sp>
        <p:nvSpPr>
          <p:cNvPr id="112" name="Google Shape;112;p15"/>
          <p:cNvSpPr txBox="1"/>
          <p:nvPr/>
        </p:nvSpPr>
        <p:spPr>
          <a:xfrm>
            <a:off x="6286500" y="1981200"/>
            <a:ext cx="5334000" cy="8572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Inter"/>
                <a:ea typeface="Inter"/>
                <a:cs typeface="Inter"/>
                <a:sym typeface="Inter"/>
              </a:rPr>
              <a:t>Còn được gọi là </a:t>
            </a:r>
            <a:r>
              <a:rPr b="1" i="0" lang="en-US" sz="1500" u="none" cap="none" strike="noStrike">
                <a:solidFill>
                  <a:srgbClr val="F8FAFC"/>
                </a:solidFill>
                <a:latin typeface="Inter"/>
                <a:ea typeface="Inter"/>
                <a:cs typeface="Inter"/>
                <a:sym typeface="Inter"/>
              </a:rPr>
              <a:t>Iteration-level scheduling</a:t>
            </a:r>
            <a:r>
              <a:rPr b="0" i="0" lang="en-US" sz="1500" u="none" cap="none" strike="noStrike">
                <a:solidFill>
                  <a:srgbClr val="94A3B8"/>
                </a:solidFill>
                <a:latin typeface="Inter"/>
                <a:ea typeface="Inter"/>
                <a:cs typeface="Inter"/>
                <a:sym typeface="Inter"/>
              </a:rPr>
              <a:t>, là kỹ thuật cho phép thêm/loại bỏ yêu cầu khỏi batch ngay sau mỗi bước lặp sinh token.</a:t>
            </a:r>
            <a:endParaRPr/>
          </a:p>
        </p:txBody>
      </p:sp>
      <p:sp>
        <p:nvSpPr>
          <p:cNvPr id="113" name="Google Shape;113;p15"/>
          <p:cNvSpPr txBox="1"/>
          <p:nvPr/>
        </p:nvSpPr>
        <p:spPr>
          <a:xfrm>
            <a:off x="6286500" y="5172075"/>
            <a:ext cx="5334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Inter"/>
                <a:ea typeface="Inter"/>
                <a:cs typeface="Inter"/>
                <a:sym typeface="Inter"/>
              </a:rPr>
              <a:t>Hiệu quả: Có thể cải thiện lưu lượng xử lý lên đến </a:t>
            </a:r>
            <a:r>
              <a:rPr b="1" i="0" lang="en-US" sz="1500" u="none" cap="none" strike="noStrike">
                <a:solidFill>
                  <a:srgbClr val="F8FAFC"/>
                </a:solidFill>
                <a:latin typeface="Inter"/>
                <a:ea typeface="Inter"/>
                <a:cs typeface="Inter"/>
                <a:sym typeface="Inter"/>
              </a:rPr>
              <a:t>23 lần</a:t>
            </a:r>
            <a:r>
              <a:rPr b="0" i="0" lang="en-US" sz="1500" u="none" cap="none" strike="noStrike">
                <a:solidFill>
                  <a:srgbClr val="94A3B8"/>
                </a:solidFill>
                <a:latin typeface="Inter"/>
                <a:ea typeface="Inter"/>
                <a:cs typeface="Inter"/>
                <a:sym typeface="Inter"/>
              </a:rPr>
              <a:t> so với cách làm truyền thống.</a:t>
            </a:r>
            <a:endParaRPr/>
          </a:p>
        </p:txBody>
      </p:sp>
      <p:sp>
        <p:nvSpPr>
          <p:cNvPr id="114" name="Google Shape;114;p15"/>
          <p:cNvSpPr txBox="1"/>
          <p:nvPr/>
        </p:nvSpPr>
        <p:spPr>
          <a:xfrm>
            <a:off x="6610350" y="3533775"/>
            <a:ext cx="4714875" cy="9429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F1F5F9"/>
                </a:solidFill>
                <a:latin typeface="Inter"/>
                <a:ea typeface="Inter"/>
                <a:cs typeface="Inter"/>
                <a:sym typeface="Inter"/>
              </a:rPr>
              <a:t>"Ngay khi một yêu cầu kết thúc, yêu cầu mới từ hàng đợi sẽ được đẩy vào vị trí trống ngay lập tức mà không cần đợi batch cũ kết thúc."</a:t>
            </a:r>
            <a:endParaRPr/>
          </a:p>
        </p:txBody>
      </p:sp>
      <p:sp>
        <p:nvSpPr>
          <p:cNvPr id="115" name="Google Shape;115;p15"/>
          <p:cNvSpPr txBox="1"/>
          <p:nvPr/>
        </p:nvSpPr>
        <p:spPr>
          <a:xfrm>
            <a:off x="762000" y="571500"/>
            <a:ext cx="11401425"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1F5F9"/>
                </a:solidFill>
                <a:latin typeface="Inter"/>
                <a:ea typeface="Inter"/>
                <a:cs typeface="Inter"/>
                <a:sym typeface="Inter"/>
              </a:rPr>
              <a:t>ĐỊNH NGHĨA CONTINUOUS BATCHING</a:t>
            </a:r>
            <a:endParaRPr/>
          </a:p>
        </p:txBody>
      </p:sp>
      <p:sp>
        <p:nvSpPr>
          <p:cNvPr id="116" name="Google Shape;116;p15"/>
          <p:cNvSpPr/>
          <p:nvPr/>
        </p:nvSpPr>
        <p:spPr>
          <a:xfrm>
            <a:off x="571500" y="571500"/>
            <a:ext cx="57150" cy="4857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120" name="Shape 120"/>
        <p:cNvGrpSpPr/>
        <p:nvPr/>
      </p:nvGrpSpPr>
      <p:grpSpPr>
        <a:xfrm>
          <a:off x="0" y="0"/>
          <a:ext cx="0" cy="0"/>
          <a:chOff x="0" y="0"/>
          <a:chExt cx="0" cy="0"/>
        </a:xfrm>
      </p:grpSpPr>
      <p:pic>
        <p:nvPicPr>
          <p:cNvPr descr="image.png" id="121" name="Google Shape;121;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2" name="Google Shape;122;p16"/>
          <p:cNvPicPr preferRelativeResize="0"/>
          <p:nvPr/>
        </p:nvPicPr>
        <p:blipFill rotWithShape="1">
          <a:blip r:embed="rId4">
            <a:alphaModFix/>
          </a:blip>
          <a:srcRect b="0" l="0" r="0" t="0"/>
          <a:stretch/>
        </p:blipFill>
        <p:spPr>
          <a:xfrm>
            <a:off x="571500" y="5010150"/>
            <a:ext cx="11049000" cy="1714500"/>
          </a:xfrm>
          <a:prstGeom prst="rect">
            <a:avLst/>
          </a:prstGeom>
          <a:noFill/>
          <a:ln>
            <a:noFill/>
          </a:ln>
        </p:spPr>
      </p:pic>
      <p:pic>
        <p:nvPicPr>
          <p:cNvPr descr="image.png" id="123" name="Google Shape;123;p16"/>
          <p:cNvPicPr preferRelativeResize="0"/>
          <p:nvPr/>
        </p:nvPicPr>
        <p:blipFill rotWithShape="1">
          <a:blip r:embed="rId5">
            <a:alphaModFix/>
          </a:blip>
          <a:srcRect b="0" l="0" r="0" t="0"/>
          <a:stretch/>
        </p:blipFill>
        <p:spPr>
          <a:xfrm>
            <a:off x="571500" y="1438275"/>
            <a:ext cx="5334000" cy="3286125"/>
          </a:xfrm>
          <a:prstGeom prst="rect">
            <a:avLst/>
          </a:prstGeom>
          <a:noFill/>
          <a:ln>
            <a:noFill/>
          </a:ln>
        </p:spPr>
      </p:pic>
      <p:pic>
        <p:nvPicPr>
          <p:cNvPr descr="image.png" id="124" name="Google Shape;124;p16"/>
          <p:cNvPicPr preferRelativeResize="0"/>
          <p:nvPr/>
        </p:nvPicPr>
        <p:blipFill rotWithShape="1">
          <a:blip r:embed="rId6">
            <a:alphaModFix/>
          </a:blip>
          <a:srcRect b="0" l="0" r="0" t="0"/>
          <a:stretch/>
        </p:blipFill>
        <p:spPr>
          <a:xfrm>
            <a:off x="6286500" y="1581150"/>
            <a:ext cx="5334000" cy="3000375"/>
          </a:xfrm>
          <a:prstGeom prst="rect">
            <a:avLst/>
          </a:prstGeom>
          <a:noFill/>
          <a:ln>
            <a:noFill/>
          </a:ln>
        </p:spPr>
      </p:pic>
      <p:pic>
        <p:nvPicPr>
          <p:cNvPr descr="image.png" id="125" name="Google Shape;125;p16"/>
          <p:cNvPicPr preferRelativeResize="0"/>
          <p:nvPr/>
        </p:nvPicPr>
        <p:blipFill rotWithShape="1">
          <a:blip r:embed="rId7">
            <a:alphaModFix/>
          </a:blip>
          <a:srcRect b="0" l="0" r="0" t="0"/>
          <a:stretch/>
        </p:blipFill>
        <p:spPr>
          <a:xfrm>
            <a:off x="581025" y="5019675"/>
            <a:ext cx="11029950" cy="1695450"/>
          </a:xfrm>
          <a:prstGeom prst="rect">
            <a:avLst/>
          </a:prstGeom>
          <a:noFill/>
          <a:ln>
            <a:noFill/>
          </a:ln>
        </p:spPr>
      </p:pic>
      <p:sp>
        <p:nvSpPr>
          <p:cNvPr id="126" name="Google Shape;126;p16"/>
          <p:cNvSpPr txBox="1"/>
          <p:nvPr/>
        </p:nvSpPr>
        <p:spPr>
          <a:xfrm>
            <a:off x="866775" y="2905125"/>
            <a:ext cx="474345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Inter"/>
                <a:ea typeface="Inter"/>
                <a:cs typeface="Inter"/>
                <a:sym typeface="Inter"/>
              </a:rPr>
              <a:t>Mô hình đọc toàn bộ prompt đầu vào song song để xây dựng </a:t>
            </a:r>
            <a:r>
              <a:rPr b="1" i="0" lang="en-US" sz="1500" u="none" cap="none" strike="noStrike">
                <a:solidFill>
                  <a:srgbClr val="F8FAFC"/>
                </a:solidFill>
                <a:latin typeface="Inter"/>
                <a:ea typeface="Inter"/>
                <a:cs typeface="Inter"/>
                <a:sym typeface="Inter"/>
              </a:rPr>
              <a:t>KV Cache</a:t>
            </a:r>
            <a:r>
              <a:rPr b="0" i="0" lang="en-US" sz="1500" u="none" cap="none" strike="noStrike">
                <a:solidFill>
                  <a:srgbClr val="94A3B8"/>
                </a:solidFill>
                <a:latin typeface="Inter"/>
                <a:ea typeface="Inter"/>
                <a:cs typeface="Inter"/>
                <a:sym typeface="Inter"/>
              </a:rPr>
              <a:t>.</a:t>
            </a:r>
            <a:endParaRPr/>
          </a:p>
        </p:txBody>
      </p:sp>
      <p:sp>
        <p:nvSpPr>
          <p:cNvPr id="127" name="Google Shape;127;p16"/>
          <p:cNvSpPr txBox="1"/>
          <p:nvPr/>
        </p:nvSpPr>
        <p:spPr>
          <a:xfrm>
            <a:off x="866775" y="3667125"/>
            <a:ext cx="474345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Inter"/>
                <a:ea typeface="Inter"/>
                <a:cs typeface="Inter"/>
                <a:sym typeface="Inter"/>
              </a:rPr>
              <a:t>Tác vụ tối ưu cho tính toán song song (Compute-bound).</a:t>
            </a:r>
            <a:endParaRPr/>
          </a:p>
        </p:txBody>
      </p:sp>
      <p:sp>
        <p:nvSpPr>
          <p:cNvPr id="128" name="Google Shape;128;p16"/>
          <p:cNvSpPr txBox="1"/>
          <p:nvPr/>
        </p:nvSpPr>
        <p:spPr>
          <a:xfrm>
            <a:off x="6581775" y="3048000"/>
            <a:ext cx="474345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Inter"/>
                <a:ea typeface="Inter"/>
                <a:cs typeface="Inter"/>
                <a:sym typeface="Inter"/>
              </a:rPr>
              <a:t>Mô hình sinh từng token một theo cách tuần tự.</a:t>
            </a:r>
            <a:endParaRPr/>
          </a:p>
        </p:txBody>
      </p:sp>
      <p:sp>
        <p:nvSpPr>
          <p:cNvPr id="129" name="Google Shape;129;p16"/>
          <p:cNvSpPr txBox="1"/>
          <p:nvPr/>
        </p:nvSpPr>
        <p:spPr>
          <a:xfrm>
            <a:off x="6581775" y="3524250"/>
            <a:ext cx="474345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Inter"/>
                <a:ea typeface="Inter"/>
                <a:cs typeface="Inter"/>
                <a:sym typeface="Inter"/>
              </a:rPr>
              <a:t>Tác vụ bị giới hạn bởi băng thông bộ nhớ (Memory-IO bound).</a:t>
            </a:r>
            <a:endParaRPr/>
          </a:p>
        </p:txBody>
      </p:sp>
      <p:pic>
        <p:nvPicPr>
          <p:cNvPr descr="image.png" id="130" name="Google Shape;130;p16"/>
          <p:cNvPicPr preferRelativeResize="0"/>
          <p:nvPr/>
        </p:nvPicPr>
        <p:blipFill rotWithShape="1">
          <a:blip r:embed="rId8">
            <a:alphaModFix/>
          </a:blip>
          <a:srcRect b="0" l="0" r="0" t="0"/>
          <a:stretch/>
        </p:blipFill>
        <p:spPr>
          <a:xfrm>
            <a:off x="866775" y="1771650"/>
            <a:ext cx="333375" cy="381000"/>
          </a:xfrm>
          <a:prstGeom prst="rect">
            <a:avLst/>
          </a:prstGeom>
          <a:noFill/>
          <a:ln>
            <a:noFill/>
          </a:ln>
        </p:spPr>
      </p:pic>
      <p:pic>
        <p:nvPicPr>
          <p:cNvPr descr="image.png" id="131" name="Google Shape;131;p16"/>
          <p:cNvPicPr preferRelativeResize="0"/>
          <p:nvPr/>
        </p:nvPicPr>
        <p:blipFill rotWithShape="1">
          <a:blip r:embed="rId9">
            <a:alphaModFix/>
          </a:blip>
          <a:srcRect b="0" l="0" r="0" t="0"/>
          <a:stretch/>
        </p:blipFill>
        <p:spPr>
          <a:xfrm>
            <a:off x="6581775" y="1914525"/>
            <a:ext cx="333375" cy="381000"/>
          </a:xfrm>
          <a:prstGeom prst="rect">
            <a:avLst/>
          </a:prstGeom>
          <a:noFill/>
          <a:ln>
            <a:noFill/>
          </a:ln>
        </p:spPr>
      </p:pic>
      <p:sp>
        <p:nvSpPr>
          <p:cNvPr id="132" name="Google Shape;132;p16"/>
          <p:cNvSpPr txBox="1"/>
          <p:nvPr/>
        </p:nvSpPr>
        <p:spPr>
          <a:xfrm>
            <a:off x="762000" y="571500"/>
            <a:ext cx="11401425"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1F5F9"/>
                </a:solidFill>
                <a:latin typeface="Inter"/>
                <a:ea typeface="Inter"/>
                <a:cs typeface="Inter"/>
                <a:sym typeface="Inter"/>
              </a:rPr>
              <a:t>HAI GIAI ĐOẠN XỬ LÝ: PREFILL &amp; DECODE</a:t>
            </a:r>
            <a:endParaRPr/>
          </a:p>
        </p:txBody>
      </p:sp>
      <p:sp>
        <p:nvSpPr>
          <p:cNvPr id="133" name="Google Shape;133;p16"/>
          <p:cNvSpPr/>
          <p:nvPr/>
        </p:nvSpPr>
        <p:spPr>
          <a:xfrm>
            <a:off x="571500" y="571500"/>
            <a:ext cx="57150" cy="4857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4" name="Google Shape;134;p16"/>
          <p:cNvSpPr txBox="1"/>
          <p:nvPr/>
        </p:nvSpPr>
        <p:spPr>
          <a:xfrm>
            <a:off x="866775" y="2390775"/>
            <a:ext cx="4980622"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0B981"/>
                </a:solidFill>
                <a:latin typeface="Inter"/>
                <a:ea typeface="Inter"/>
                <a:cs typeface="Inter"/>
                <a:sym typeface="Inter"/>
              </a:rPr>
              <a:t>Giai đoạn Prefill</a:t>
            </a:r>
            <a:endParaRPr/>
          </a:p>
        </p:txBody>
      </p:sp>
      <p:sp>
        <p:nvSpPr>
          <p:cNvPr id="135" name="Google Shape;135;p16"/>
          <p:cNvSpPr txBox="1"/>
          <p:nvPr/>
        </p:nvSpPr>
        <p:spPr>
          <a:xfrm>
            <a:off x="6581775" y="2533650"/>
            <a:ext cx="4980622"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0B981"/>
                </a:solidFill>
                <a:latin typeface="Inter"/>
                <a:ea typeface="Inter"/>
                <a:cs typeface="Inter"/>
                <a:sym typeface="Inter"/>
              </a:rPr>
              <a:t>Giai đoạn Decode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139" name="Shape 139"/>
        <p:cNvGrpSpPr/>
        <p:nvPr/>
      </p:nvGrpSpPr>
      <p:grpSpPr>
        <a:xfrm>
          <a:off x="0" y="0"/>
          <a:ext cx="0" cy="0"/>
          <a:chOff x="0" y="0"/>
          <a:chExt cx="0" cy="0"/>
        </a:xfrm>
      </p:grpSpPr>
      <p:pic>
        <p:nvPicPr>
          <p:cNvPr descr="image.png" id="140" name="Google Shape;140;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1" name="Google Shape;141;p17"/>
          <p:cNvPicPr preferRelativeResize="0"/>
          <p:nvPr/>
        </p:nvPicPr>
        <p:blipFill rotWithShape="1">
          <a:blip r:embed="rId4">
            <a:alphaModFix/>
          </a:blip>
          <a:srcRect b="0" l="0" r="0" t="0"/>
          <a:stretch/>
        </p:blipFill>
        <p:spPr>
          <a:xfrm>
            <a:off x="571500" y="4667250"/>
            <a:ext cx="11049000" cy="1581150"/>
          </a:xfrm>
          <a:prstGeom prst="rect">
            <a:avLst/>
          </a:prstGeom>
          <a:noFill/>
          <a:ln>
            <a:noFill/>
          </a:ln>
        </p:spPr>
      </p:pic>
      <p:pic>
        <p:nvPicPr>
          <p:cNvPr descr="image.png" id="142" name="Google Shape;142;p17"/>
          <p:cNvPicPr preferRelativeResize="0"/>
          <p:nvPr/>
        </p:nvPicPr>
        <p:blipFill rotWithShape="1">
          <a:blip r:embed="rId5">
            <a:alphaModFix/>
          </a:blip>
          <a:srcRect b="0" l="0" r="0" t="0"/>
          <a:stretch/>
        </p:blipFill>
        <p:spPr>
          <a:xfrm>
            <a:off x="571500" y="1476375"/>
            <a:ext cx="3530500" cy="2809875"/>
          </a:xfrm>
          <a:prstGeom prst="rect">
            <a:avLst/>
          </a:prstGeom>
          <a:noFill/>
          <a:ln>
            <a:noFill/>
          </a:ln>
        </p:spPr>
      </p:pic>
      <p:pic>
        <p:nvPicPr>
          <p:cNvPr descr="image.png" id="143" name="Google Shape;143;p17"/>
          <p:cNvPicPr preferRelativeResize="0"/>
          <p:nvPr/>
        </p:nvPicPr>
        <p:blipFill rotWithShape="1">
          <a:blip r:embed="rId6">
            <a:alphaModFix/>
          </a:blip>
          <a:srcRect b="0" l="0" r="0" t="0"/>
          <a:stretch/>
        </p:blipFill>
        <p:spPr>
          <a:xfrm>
            <a:off x="4330600" y="1476375"/>
            <a:ext cx="3530649" cy="2809875"/>
          </a:xfrm>
          <a:prstGeom prst="rect">
            <a:avLst/>
          </a:prstGeom>
          <a:noFill/>
          <a:ln>
            <a:noFill/>
          </a:ln>
        </p:spPr>
      </p:pic>
      <p:pic>
        <p:nvPicPr>
          <p:cNvPr descr="image.png" id="144" name="Google Shape;144;p17"/>
          <p:cNvPicPr preferRelativeResize="0"/>
          <p:nvPr/>
        </p:nvPicPr>
        <p:blipFill rotWithShape="1">
          <a:blip r:embed="rId5">
            <a:alphaModFix/>
          </a:blip>
          <a:srcRect b="0" l="0" r="0" t="0"/>
          <a:stretch/>
        </p:blipFill>
        <p:spPr>
          <a:xfrm>
            <a:off x="8089850" y="1476375"/>
            <a:ext cx="3530500" cy="2809875"/>
          </a:xfrm>
          <a:prstGeom prst="rect">
            <a:avLst/>
          </a:prstGeom>
          <a:noFill/>
          <a:ln>
            <a:noFill/>
          </a:ln>
        </p:spPr>
      </p:pic>
      <p:sp>
        <p:nvSpPr>
          <p:cNvPr id="145" name="Google Shape;145;p17"/>
          <p:cNvSpPr txBox="1"/>
          <p:nvPr/>
        </p:nvSpPr>
        <p:spPr>
          <a:xfrm>
            <a:off x="2524125" y="5286375"/>
            <a:ext cx="7143750" cy="3429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800" u="none" cap="none" strike="noStrike">
                <a:solidFill>
                  <a:srgbClr val="94A3B8"/>
                </a:solidFill>
                <a:latin typeface="Inter"/>
                <a:ea typeface="Inter"/>
                <a:cs typeface="Inter"/>
                <a:sym typeface="Inter"/>
              </a:rPr>
              <a:t>Giữ cho GPU luôn trong trạng thái làm việc gần như liên tục 100%.</a:t>
            </a:r>
            <a:endParaRPr/>
          </a:p>
        </p:txBody>
      </p:sp>
      <p:sp>
        <p:nvSpPr>
          <p:cNvPr id="146" name="Google Shape;146;p17"/>
          <p:cNvSpPr txBox="1"/>
          <p:nvPr/>
        </p:nvSpPr>
        <p:spPr>
          <a:xfrm>
            <a:off x="866775" y="2943225"/>
            <a:ext cx="2939950" cy="8572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Inter"/>
                <a:ea typeface="Inter"/>
                <a:cs typeface="Inter"/>
                <a:sym typeface="Inter"/>
              </a:rPr>
              <a:t>Bộ lập lịch kiểm tra trạng thái sau mỗi bước sinh token duy nhất.</a:t>
            </a:r>
            <a:endParaRPr/>
          </a:p>
        </p:txBody>
      </p:sp>
      <p:sp>
        <p:nvSpPr>
          <p:cNvPr id="147" name="Google Shape;147;p17"/>
          <p:cNvSpPr txBox="1"/>
          <p:nvPr/>
        </p:nvSpPr>
        <p:spPr>
          <a:xfrm>
            <a:off x="4625875" y="2943225"/>
            <a:ext cx="2940099"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Inter"/>
                <a:ea typeface="Inter"/>
                <a:cs typeface="Inter"/>
                <a:sym typeface="Inter"/>
              </a:rPr>
              <a:t>Chấp nhận yêu cầu mới tại mỗi bước thay vì đợi ranh giới batch.</a:t>
            </a:r>
            <a:endParaRPr/>
          </a:p>
        </p:txBody>
      </p:sp>
      <p:sp>
        <p:nvSpPr>
          <p:cNvPr id="148" name="Google Shape;148;p17"/>
          <p:cNvSpPr txBox="1"/>
          <p:nvPr/>
        </p:nvSpPr>
        <p:spPr>
          <a:xfrm>
            <a:off x="8385125" y="2943225"/>
            <a:ext cx="2939950" cy="8572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Inter"/>
                <a:ea typeface="Inter"/>
                <a:cs typeface="Inter"/>
                <a:sym typeface="Inter"/>
              </a:rPr>
              <a:t>Kích thước batch thay đổi linh hoạt (Grow &amp; Shrink) theo thực tế.</a:t>
            </a:r>
            <a:endParaRPr/>
          </a:p>
        </p:txBody>
      </p:sp>
      <p:pic>
        <p:nvPicPr>
          <p:cNvPr descr="image.png" id="149" name="Google Shape;149;p17"/>
          <p:cNvPicPr preferRelativeResize="0"/>
          <p:nvPr/>
        </p:nvPicPr>
        <p:blipFill rotWithShape="1">
          <a:blip r:embed="rId7">
            <a:alphaModFix/>
          </a:blip>
          <a:srcRect b="0" l="0" r="0" t="0"/>
          <a:stretch/>
        </p:blipFill>
        <p:spPr>
          <a:xfrm>
            <a:off x="866775" y="1809750"/>
            <a:ext cx="381000" cy="381000"/>
          </a:xfrm>
          <a:prstGeom prst="rect">
            <a:avLst/>
          </a:prstGeom>
          <a:noFill/>
          <a:ln>
            <a:noFill/>
          </a:ln>
        </p:spPr>
      </p:pic>
      <p:pic>
        <p:nvPicPr>
          <p:cNvPr descr="image.png" id="150" name="Google Shape;150;p17"/>
          <p:cNvPicPr preferRelativeResize="0"/>
          <p:nvPr/>
        </p:nvPicPr>
        <p:blipFill rotWithShape="1">
          <a:blip r:embed="rId8">
            <a:alphaModFix/>
          </a:blip>
          <a:srcRect b="0" l="0" r="0" t="0"/>
          <a:stretch/>
        </p:blipFill>
        <p:spPr>
          <a:xfrm>
            <a:off x="4625875" y="1809750"/>
            <a:ext cx="381000" cy="381000"/>
          </a:xfrm>
          <a:prstGeom prst="rect">
            <a:avLst/>
          </a:prstGeom>
          <a:noFill/>
          <a:ln>
            <a:noFill/>
          </a:ln>
        </p:spPr>
      </p:pic>
      <p:pic>
        <p:nvPicPr>
          <p:cNvPr descr="image.png" id="151" name="Google Shape;151;p17"/>
          <p:cNvPicPr preferRelativeResize="0"/>
          <p:nvPr/>
        </p:nvPicPr>
        <p:blipFill rotWithShape="1">
          <a:blip r:embed="rId9">
            <a:alphaModFix/>
          </a:blip>
          <a:srcRect b="0" l="0" r="0" t="0"/>
          <a:stretch/>
        </p:blipFill>
        <p:spPr>
          <a:xfrm>
            <a:off x="8385125" y="1809750"/>
            <a:ext cx="381000" cy="381000"/>
          </a:xfrm>
          <a:prstGeom prst="rect">
            <a:avLst/>
          </a:prstGeom>
          <a:noFill/>
          <a:ln>
            <a:noFill/>
          </a:ln>
        </p:spPr>
      </p:pic>
      <p:sp>
        <p:nvSpPr>
          <p:cNvPr id="152" name="Google Shape;152;p17"/>
          <p:cNvSpPr txBox="1"/>
          <p:nvPr/>
        </p:nvSpPr>
        <p:spPr>
          <a:xfrm>
            <a:off x="762000" y="571500"/>
            <a:ext cx="11401425"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1F5F9"/>
                </a:solidFill>
                <a:latin typeface="Inter"/>
                <a:ea typeface="Inter"/>
                <a:cs typeface="Inter"/>
                <a:sym typeface="Inter"/>
              </a:rPr>
              <a:t>CƠ CHẾ LẬP LỊCH MỨC ĐỘ LẶP</a:t>
            </a:r>
            <a:endParaRPr/>
          </a:p>
        </p:txBody>
      </p:sp>
      <p:sp>
        <p:nvSpPr>
          <p:cNvPr id="153" name="Google Shape;153;p17"/>
          <p:cNvSpPr/>
          <p:nvPr/>
        </p:nvSpPr>
        <p:spPr>
          <a:xfrm>
            <a:off x="571500" y="571500"/>
            <a:ext cx="57150" cy="4857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17"/>
          <p:cNvSpPr txBox="1"/>
          <p:nvPr/>
        </p:nvSpPr>
        <p:spPr>
          <a:xfrm>
            <a:off x="866775" y="2428875"/>
            <a:ext cx="3086948"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0B981"/>
                </a:solidFill>
                <a:latin typeface="Inter"/>
                <a:ea typeface="Inter"/>
                <a:cs typeface="Inter"/>
                <a:sym typeface="Inter"/>
              </a:rPr>
              <a:t>Step Check</a:t>
            </a:r>
            <a:endParaRPr/>
          </a:p>
        </p:txBody>
      </p:sp>
      <p:sp>
        <p:nvSpPr>
          <p:cNvPr id="155" name="Google Shape;155;p17"/>
          <p:cNvSpPr txBox="1"/>
          <p:nvPr/>
        </p:nvSpPr>
        <p:spPr>
          <a:xfrm>
            <a:off x="4625875" y="2428875"/>
            <a:ext cx="3087104"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0B981"/>
                </a:solidFill>
                <a:latin typeface="Inter"/>
                <a:ea typeface="Inter"/>
                <a:cs typeface="Inter"/>
                <a:sym typeface="Inter"/>
              </a:rPr>
              <a:t>Admit Every Step</a:t>
            </a:r>
            <a:endParaRPr/>
          </a:p>
        </p:txBody>
      </p:sp>
      <p:sp>
        <p:nvSpPr>
          <p:cNvPr id="156" name="Google Shape;156;p17"/>
          <p:cNvSpPr txBox="1"/>
          <p:nvPr/>
        </p:nvSpPr>
        <p:spPr>
          <a:xfrm>
            <a:off x="8385125" y="2428875"/>
            <a:ext cx="3086948"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0B981"/>
                </a:solidFill>
                <a:latin typeface="Inter"/>
                <a:ea typeface="Inter"/>
                <a:cs typeface="Inter"/>
                <a:sym typeface="Inter"/>
              </a:rPr>
              <a:t>Dynamic Resizing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0" name="Shape 160"/>
        <p:cNvGrpSpPr/>
        <p:nvPr/>
      </p:nvGrpSpPr>
      <p:grpSpPr>
        <a:xfrm>
          <a:off x="0" y="0"/>
          <a:ext cx="0" cy="0"/>
          <a:chOff x="0" y="0"/>
          <a:chExt cx="0" cy="0"/>
        </a:xfrm>
      </p:grpSpPr>
      <p:pic>
        <p:nvPicPr>
          <p:cNvPr id="161" name="Google Shape;161;p18"/>
          <p:cNvPicPr preferRelativeResize="0"/>
          <p:nvPr/>
        </p:nvPicPr>
        <p:blipFill rotWithShape="1">
          <a:blip r:embed="rId4">
            <a:alphaModFix/>
          </a:blip>
          <a:srcRect b="0" l="0" r="0" t="0"/>
          <a:stretch/>
        </p:blipFill>
        <p:spPr>
          <a:xfrm>
            <a:off x="0" y="0"/>
            <a:ext cx="12192000" cy="6858000"/>
          </a:xfrm>
          <a:prstGeom prst="rect">
            <a:avLst/>
          </a:prstGeom>
          <a:noFill/>
          <a:ln>
            <a:noFill/>
          </a:ln>
        </p:spPr>
      </p:pic>
      <p:pic>
        <p:nvPicPr>
          <p:cNvPr id="162" name="Google Shape;162;p18"/>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163" name="Google Shape;163;p18"/>
          <p:cNvSpPr/>
          <p:nvPr/>
        </p:nvSpPr>
        <p:spPr>
          <a:xfrm>
            <a:off x="571500" y="571500"/>
            <a:ext cx="57300" cy="4857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18"/>
          <p:cNvSpPr txBox="1"/>
          <p:nvPr/>
        </p:nvSpPr>
        <p:spPr>
          <a:xfrm>
            <a:off x="819150" y="571500"/>
            <a:ext cx="10801500" cy="485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3150">
                <a:solidFill>
                  <a:srgbClr val="F1F5F9"/>
                </a:solidFill>
                <a:latin typeface="Inter"/>
                <a:ea typeface="Inter"/>
                <a:cs typeface="Inter"/>
                <a:sym typeface="Inter"/>
              </a:rPr>
              <a:t>SỰ CAN THIỆP PREFILL &amp; DECODE</a:t>
            </a:r>
            <a:endParaRPr b="1" sz="3150">
              <a:solidFill>
                <a:srgbClr val="F1F5F9"/>
              </a:solidFill>
              <a:latin typeface="Inter"/>
              <a:ea typeface="Inter"/>
              <a:cs typeface="Inter"/>
              <a:sym typeface="Inter"/>
            </a:endParaRPr>
          </a:p>
        </p:txBody>
      </p:sp>
      <p:grpSp>
        <p:nvGrpSpPr>
          <p:cNvPr id="165" name="Google Shape;165;p18"/>
          <p:cNvGrpSpPr/>
          <p:nvPr/>
        </p:nvGrpSpPr>
        <p:grpSpPr>
          <a:xfrm>
            <a:off x="571500" y="1524000"/>
            <a:ext cx="5334000" cy="4381500"/>
            <a:chOff x="571500" y="1524000"/>
            <a:chExt cx="5334000" cy="4381500"/>
          </a:xfrm>
        </p:grpSpPr>
        <p:sp>
          <p:nvSpPr>
            <p:cNvPr id="166" name="Google Shape;166;p18"/>
            <p:cNvSpPr/>
            <p:nvPr/>
          </p:nvSpPr>
          <p:spPr>
            <a:xfrm>
              <a:off x="571500" y="1524000"/>
              <a:ext cx="5334000" cy="4381500"/>
            </a:xfrm>
            <a:prstGeom prst="roundRect">
              <a:avLst>
                <a:gd fmla="val 3478" name="adj"/>
              </a:avLst>
            </a:prstGeom>
            <a:solidFill>
              <a:srgbClr val="0F172A">
                <a:alpha val="80000"/>
              </a:srgbClr>
            </a:solidFill>
            <a:ln cap="flat" cmpd="sng" w="1905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7" name="Google Shape;167;p18"/>
            <p:cNvSpPr txBox="1"/>
            <p:nvPr/>
          </p:nvSpPr>
          <p:spPr>
            <a:xfrm>
              <a:off x="952500" y="1905000"/>
              <a:ext cx="4572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F87171"/>
                  </a:solidFill>
                  <a:latin typeface="Inter"/>
                  <a:ea typeface="Inter"/>
                  <a:cs typeface="Inter"/>
                  <a:sym typeface="Inter"/>
                </a:rPr>
                <a:t>Vấn đề: "Stall"</a:t>
              </a:r>
              <a:endParaRPr b="1" sz="2400">
                <a:solidFill>
                  <a:srgbClr val="F87171"/>
                </a:solidFill>
                <a:latin typeface="Inter"/>
                <a:ea typeface="Inter"/>
                <a:cs typeface="Inter"/>
                <a:sym typeface="Inter"/>
              </a:endParaRPr>
            </a:p>
          </p:txBody>
        </p:sp>
        <p:sp>
          <p:nvSpPr>
            <p:cNvPr id="168" name="Google Shape;168;p18"/>
            <p:cNvSpPr txBox="1"/>
            <p:nvPr/>
          </p:nvSpPr>
          <p:spPr>
            <a:xfrm>
              <a:off x="952500" y="2476500"/>
              <a:ext cx="4572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600">
                  <a:solidFill>
                    <a:srgbClr val="CBD5E1"/>
                  </a:solidFill>
                  <a:latin typeface="Inter"/>
                  <a:ea typeface="Inter"/>
                  <a:cs typeface="Inter"/>
                  <a:sym typeface="Inter"/>
                </a:rPr>
                <a:t>Khi một request mới (Prefill) có prompt rất dài được đưa vào, nó chiếm dụng tài nguyên GPU trong nhiều bước.</a:t>
              </a:r>
              <a:endParaRPr b="0" sz="1600">
                <a:solidFill>
                  <a:srgbClr val="CBD5E1"/>
                </a:solidFill>
                <a:latin typeface="Inter"/>
                <a:ea typeface="Inter"/>
                <a:cs typeface="Inter"/>
                <a:sym typeface="Inter"/>
              </a:endParaRPr>
            </a:p>
          </p:txBody>
        </p:sp>
        <p:sp>
          <p:nvSpPr>
            <p:cNvPr id="169" name="Google Shape;169;p18"/>
            <p:cNvSpPr/>
            <p:nvPr/>
          </p:nvSpPr>
          <p:spPr>
            <a:xfrm>
              <a:off x="952500" y="3429000"/>
              <a:ext cx="4572000" cy="96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70" name="Google Shape;170;p18"/>
          <p:cNvGrpSpPr/>
          <p:nvPr/>
        </p:nvGrpSpPr>
        <p:grpSpPr>
          <a:xfrm>
            <a:off x="6286500" y="1524000"/>
            <a:ext cx="5334000" cy="4381500"/>
            <a:chOff x="6286500" y="1524000"/>
            <a:chExt cx="5334000" cy="4381500"/>
          </a:xfrm>
        </p:grpSpPr>
        <p:sp>
          <p:nvSpPr>
            <p:cNvPr id="171" name="Google Shape;171;p18"/>
            <p:cNvSpPr/>
            <p:nvPr/>
          </p:nvSpPr>
          <p:spPr>
            <a:xfrm>
              <a:off x="6286500" y="1524000"/>
              <a:ext cx="5334000" cy="4381500"/>
            </a:xfrm>
            <a:prstGeom prst="roundRect">
              <a:avLst>
                <a:gd fmla="val 3478" name="adj"/>
              </a:avLst>
            </a:prstGeom>
            <a:solidFill>
              <a:srgbClr val="0F172A">
                <a:alpha val="80000"/>
              </a:srgbClr>
            </a:solidFill>
            <a:ln cap="flat" cmpd="sng" w="1905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 name="Google Shape;172;p18"/>
            <p:cNvSpPr txBox="1"/>
            <p:nvPr/>
          </p:nvSpPr>
          <p:spPr>
            <a:xfrm>
              <a:off x="6667500" y="1905000"/>
              <a:ext cx="4572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F1F5F9"/>
                  </a:solidFill>
                  <a:latin typeface="Inter"/>
                  <a:ea typeface="Inter"/>
                  <a:cs typeface="Inter"/>
                  <a:sym typeface="Inter"/>
                </a:rPr>
                <a:t>Hậu quả</a:t>
              </a:r>
              <a:endParaRPr b="1" sz="2400">
                <a:solidFill>
                  <a:srgbClr val="F1F5F9"/>
                </a:solidFill>
                <a:latin typeface="Inter"/>
                <a:ea typeface="Inter"/>
                <a:cs typeface="Inter"/>
                <a:sym typeface="Inter"/>
              </a:endParaRPr>
            </a:p>
          </p:txBody>
        </p:sp>
        <p:sp>
          <p:nvSpPr>
            <p:cNvPr id="173" name="Google Shape;173;p18"/>
            <p:cNvSpPr txBox="1"/>
            <p:nvPr/>
          </p:nvSpPr>
          <p:spPr>
            <a:xfrm>
              <a:off x="6667500" y="2476500"/>
              <a:ext cx="45720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550">
                  <a:solidFill>
                    <a:srgbClr val="F87171"/>
                  </a:solidFill>
                  <a:latin typeface="Material Icons"/>
                  <a:ea typeface="Material Icons"/>
                  <a:cs typeface="Material Icons"/>
                  <a:sym typeface="Material Icons"/>
                </a:rPr>
                <a:t>error_outline</a:t>
              </a:r>
              <a:endParaRPr sz="1085"/>
            </a:p>
            <a:p>
              <a:pPr indent="0" lvl="0" marL="0" rtl="0" algn="l">
                <a:spcBef>
                  <a:spcPts val="1875"/>
                </a:spcBef>
                <a:spcAft>
                  <a:spcPts val="0"/>
                </a:spcAft>
                <a:buNone/>
              </a:pPr>
              <a:r>
                <a:rPr b="1" lang="en-US" sz="1240">
                  <a:solidFill>
                    <a:srgbClr val="F8FAFC"/>
                  </a:solidFill>
                  <a:latin typeface="Inter"/>
                  <a:ea typeface="Inter"/>
                  <a:cs typeface="Inter"/>
                  <a:sym typeface="Inter"/>
                </a:rPr>
                <a:t>Request Decode bị "đóng băng"</a:t>
              </a:r>
              <a:endParaRPr b="1" sz="1240">
                <a:solidFill>
                  <a:srgbClr val="F8FAFC"/>
                </a:solidFill>
                <a:latin typeface="Inter"/>
                <a:ea typeface="Inter"/>
                <a:cs typeface="Inter"/>
                <a:sym typeface="Inter"/>
              </a:endParaRPr>
            </a:p>
            <a:p>
              <a:pPr indent="0" lvl="0" marL="0" rtl="0" algn="l">
                <a:spcBef>
                  <a:spcPts val="300"/>
                </a:spcBef>
                <a:spcAft>
                  <a:spcPts val="0"/>
                </a:spcAft>
                <a:buNone/>
              </a:pPr>
              <a:r>
                <a:rPr lang="en-US" sz="1240">
                  <a:solidFill>
                    <a:srgbClr val="94A3B8"/>
                  </a:solidFill>
                  <a:latin typeface="Inter"/>
                  <a:ea typeface="Inter"/>
                  <a:cs typeface="Inter"/>
                  <a:sym typeface="Inter"/>
                </a:rPr>
                <a:t>Tài nguyên bị chiếm dụng hoàn toàn bởi Prefill.</a:t>
              </a:r>
              <a:endParaRPr sz="1240">
                <a:solidFill>
                  <a:srgbClr val="94A3B8"/>
                </a:solidFill>
                <a:latin typeface="Inter"/>
                <a:ea typeface="Inter"/>
                <a:cs typeface="Inter"/>
                <a:sym typeface="Inter"/>
              </a:endParaRPr>
            </a:p>
            <a:p>
              <a:pPr indent="0" lvl="0" marL="0" rtl="0" algn="l">
                <a:spcBef>
                  <a:spcPts val="1875"/>
                </a:spcBef>
                <a:spcAft>
                  <a:spcPts val="0"/>
                </a:spcAft>
                <a:buNone/>
              </a:pPr>
              <a:r>
                <a:rPr lang="en-US" sz="1550">
                  <a:solidFill>
                    <a:srgbClr val="F87171"/>
                  </a:solidFill>
                  <a:latin typeface="Material Icons"/>
                  <a:ea typeface="Material Icons"/>
                  <a:cs typeface="Material Icons"/>
                  <a:sym typeface="Material Icons"/>
                </a:rPr>
                <a:t>timer_off</a:t>
              </a:r>
              <a:endParaRPr sz="1085"/>
            </a:p>
            <a:p>
              <a:pPr indent="0" lvl="0" marL="0" rtl="0" algn="l">
                <a:spcBef>
                  <a:spcPts val="1875"/>
                </a:spcBef>
                <a:spcAft>
                  <a:spcPts val="0"/>
                </a:spcAft>
                <a:buNone/>
              </a:pPr>
              <a:r>
                <a:rPr b="1" lang="en-US" sz="1240">
                  <a:solidFill>
                    <a:srgbClr val="F8FAFC"/>
                  </a:solidFill>
                  <a:latin typeface="Inter"/>
                  <a:ea typeface="Inter"/>
                  <a:cs typeface="Inter"/>
                  <a:sym typeface="Inter"/>
                </a:rPr>
                <a:t>Tăng độ trễ TPOT</a:t>
              </a:r>
              <a:endParaRPr b="1" sz="1240">
                <a:solidFill>
                  <a:srgbClr val="F8FAFC"/>
                </a:solidFill>
                <a:latin typeface="Inter"/>
                <a:ea typeface="Inter"/>
                <a:cs typeface="Inter"/>
                <a:sym typeface="Inter"/>
              </a:endParaRPr>
            </a:p>
            <a:p>
              <a:pPr indent="0" lvl="0" marL="0" rtl="0" algn="l">
                <a:spcBef>
                  <a:spcPts val="300"/>
                </a:spcBef>
                <a:spcAft>
                  <a:spcPts val="0"/>
                </a:spcAft>
                <a:buNone/>
              </a:pPr>
              <a:r>
                <a:rPr lang="en-US" sz="1240">
                  <a:solidFill>
                    <a:srgbClr val="94A3B8"/>
                  </a:solidFill>
                  <a:latin typeface="Inter"/>
                  <a:ea typeface="Inter"/>
                  <a:cs typeface="Inter"/>
                  <a:sym typeface="Inter"/>
                </a:rPr>
                <a:t>Time Per Output Token tăng đáng kể.</a:t>
              </a:r>
              <a:endParaRPr sz="1240">
                <a:solidFill>
                  <a:srgbClr val="94A3B8"/>
                </a:solidFill>
                <a:latin typeface="Inter"/>
                <a:ea typeface="Inter"/>
                <a:cs typeface="Inter"/>
                <a:sym typeface="Inter"/>
              </a:endParaRPr>
            </a:p>
            <a:p>
              <a:pPr indent="0" lvl="0" marL="0" rtl="0" algn="l">
                <a:spcBef>
                  <a:spcPts val="1875"/>
                </a:spcBef>
                <a:spcAft>
                  <a:spcPts val="0"/>
                </a:spcAft>
                <a:buNone/>
              </a:pPr>
              <a:r>
                <a:rPr lang="en-US" sz="1550">
                  <a:solidFill>
                    <a:srgbClr val="F87171"/>
                  </a:solidFill>
                  <a:latin typeface="Material Icons"/>
                  <a:ea typeface="Material Icons"/>
                  <a:cs typeface="Material Icons"/>
                  <a:sym typeface="Material Icons"/>
                </a:rPr>
                <a:t>trending_down</a:t>
              </a:r>
              <a:endParaRPr sz="1085"/>
            </a:p>
            <a:p>
              <a:pPr indent="0" lvl="0" marL="0" rtl="0" algn="l">
                <a:spcBef>
                  <a:spcPts val="0"/>
                </a:spcBef>
                <a:spcAft>
                  <a:spcPts val="0"/>
                </a:spcAft>
                <a:buNone/>
              </a:pPr>
              <a:r>
                <a:rPr b="1" lang="en-US" sz="1240">
                  <a:solidFill>
                    <a:srgbClr val="F8FAFC"/>
                  </a:solidFill>
                  <a:latin typeface="Inter"/>
                  <a:ea typeface="Inter"/>
                  <a:cs typeface="Inter"/>
                  <a:sym typeface="Inter"/>
                </a:rPr>
                <a:t>Giảm tính mượt mà</a:t>
              </a:r>
              <a:endParaRPr b="1" sz="1240">
                <a:solidFill>
                  <a:srgbClr val="F8FAFC"/>
                </a:solidFill>
                <a:latin typeface="Inter"/>
                <a:ea typeface="Inter"/>
                <a:cs typeface="Inter"/>
                <a:sym typeface="Inter"/>
              </a:endParaRPr>
            </a:p>
            <a:p>
              <a:pPr indent="0" lvl="0" marL="0" rtl="0" algn="l">
                <a:spcBef>
                  <a:spcPts val="300"/>
                </a:spcBef>
                <a:spcAft>
                  <a:spcPts val="0"/>
                </a:spcAft>
                <a:buNone/>
              </a:pPr>
              <a:r>
                <a:rPr lang="en-US" sz="1240">
                  <a:solidFill>
                    <a:srgbClr val="94A3B8"/>
                  </a:solidFill>
                  <a:latin typeface="Inter"/>
                  <a:ea typeface="Inter"/>
                  <a:cs typeface="Inter"/>
                  <a:sym typeface="Inter"/>
                </a:rPr>
                <a:t>Trải nghiệm người dùng bị gián đoạn.</a:t>
              </a:r>
              <a:endParaRPr sz="1240">
                <a:solidFill>
                  <a:srgbClr val="94A3B8"/>
                </a:solidFill>
                <a:latin typeface="Inter"/>
                <a:ea typeface="Inter"/>
                <a:cs typeface="Inter"/>
                <a:sym typeface="Inte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7" name="Shape 177"/>
        <p:cNvGrpSpPr/>
        <p:nvPr/>
      </p:nvGrpSpPr>
      <p:grpSpPr>
        <a:xfrm>
          <a:off x="0" y="0"/>
          <a:ext cx="0" cy="0"/>
          <a:chOff x="0" y="0"/>
          <a:chExt cx="0" cy="0"/>
        </a:xfrm>
      </p:grpSpPr>
      <p:pic>
        <p:nvPicPr>
          <p:cNvPr id="178" name="Google Shape;178;p19"/>
          <p:cNvPicPr preferRelativeResize="0"/>
          <p:nvPr/>
        </p:nvPicPr>
        <p:blipFill rotWithShape="1">
          <a:blip r:embed="rId4">
            <a:alphaModFix/>
          </a:blip>
          <a:srcRect b="0" l="0" r="0" t="0"/>
          <a:stretch/>
        </p:blipFill>
        <p:spPr>
          <a:xfrm>
            <a:off x="0" y="0"/>
            <a:ext cx="12192000" cy="6858000"/>
          </a:xfrm>
          <a:prstGeom prst="rect">
            <a:avLst/>
          </a:prstGeom>
          <a:noFill/>
          <a:ln>
            <a:noFill/>
          </a:ln>
        </p:spPr>
      </p:pic>
      <p:grpSp>
        <p:nvGrpSpPr>
          <p:cNvPr id="179" name="Google Shape;179;p19"/>
          <p:cNvGrpSpPr/>
          <p:nvPr/>
        </p:nvGrpSpPr>
        <p:grpSpPr>
          <a:xfrm>
            <a:off x="571500" y="1524000"/>
            <a:ext cx="5524500" cy="4000500"/>
            <a:chOff x="571500" y="1524000"/>
            <a:chExt cx="5524500" cy="4000500"/>
          </a:xfrm>
        </p:grpSpPr>
        <p:sp>
          <p:nvSpPr>
            <p:cNvPr id="180" name="Google Shape;180;p19"/>
            <p:cNvSpPr/>
            <p:nvPr/>
          </p:nvSpPr>
          <p:spPr>
            <a:xfrm>
              <a:off x="571500" y="1524000"/>
              <a:ext cx="5524500" cy="4000500"/>
            </a:xfrm>
            <a:prstGeom prst="roundRect">
              <a:avLst>
                <a:gd fmla="val 3809" name="adj"/>
              </a:avLst>
            </a:prstGeom>
            <a:solidFill>
              <a:srgbClr val="0F172A">
                <a:alpha val="80000"/>
              </a:srgbClr>
            </a:solidFill>
            <a:ln cap="flat" cmpd="sng" w="1905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highly detailed technical architectural diagram showing a large text prompt being broken into smaller sequential blocks labeled 'Chunk 1', 'Chunk 2', 'Chunk 3', feeding into a GPU processing unit interspersed with smaller 'Decode' token icons. Futuristic, clean corporate tech style, blue and green neon accents on a dark background." id="181" name="Google Shape;181;p19"/>
            <p:cNvPicPr preferRelativeResize="0"/>
            <p:nvPr/>
          </p:nvPicPr>
          <p:blipFill rotWithShape="1">
            <a:blip r:embed="rId5">
              <a:alphaModFix/>
            </a:blip>
            <a:srcRect b="0" l="10032" r="10032" t="0"/>
            <a:stretch/>
          </p:blipFill>
          <p:spPr>
            <a:xfrm>
              <a:off x="762000" y="1714500"/>
              <a:ext cx="5143500" cy="3619500"/>
            </a:xfrm>
            <a:prstGeom prst="roundRect">
              <a:avLst>
                <a:gd fmla="val 3157" name="adj"/>
              </a:avLst>
            </a:prstGeom>
            <a:noFill/>
            <a:ln>
              <a:noFill/>
            </a:ln>
          </p:spPr>
        </p:pic>
      </p:grpSp>
      <p:sp>
        <p:nvSpPr>
          <p:cNvPr id="182" name="Google Shape;182;p19"/>
          <p:cNvSpPr txBox="1"/>
          <p:nvPr/>
        </p:nvSpPr>
        <p:spPr>
          <a:xfrm>
            <a:off x="819150" y="571500"/>
            <a:ext cx="11401500" cy="484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3150">
                <a:solidFill>
                  <a:srgbClr val="F1F5F9"/>
                </a:solidFill>
                <a:latin typeface="Inter"/>
                <a:ea typeface="Inter"/>
                <a:cs typeface="Inter"/>
                <a:sym typeface="Inter"/>
              </a:rPr>
              <a:t>GIẢI PHÁP CHUNKED PREFILL</a:t>
            </a:r>
            <a:endParaRPr b="1" sz="3150">
              <a:solidFill>
                <a:srgbClr val="F1F5F9"/>
              </a:solidFill>
              <a:latin typeface="Inter"/>
              <a:ea typeface="Inter"/>
              <a:cs typeface="Inter"/>
              <a:sym typeface="Inter"/>
            </a:endParaRPr>
          </a:p>
        </p:txBody>
      </p:sp>
      <p:sp>
        <p:nvSpPr>
          <p:cNvPr id="183" name="Google Shape;183;p19"/>
          <p:cNvSpPr/>
          <p:nvPr/>
        </p:nvSpPr>
        <p:spPr>
          <a:xfrm>
            <a:off x="571500" y="571500"/>
            <a:ext cx="57300" cy="4857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184" name="Google Shape;184;p19"/>
          <p:cNvGrpSpPr/>
          <p:nvPr/>
        </p:nvGrpSpPr>
        <p:grpSpPr>
          <a:xfrm>
            <a:off x="6286500" y="1524000"/>
            <a:ext cx="5334000" cy="4000500"/>
            <a:chOff x="6286500" y="1524000"/>
            <a:chExt cx="5334000" cy="4000500"/>
          </a:xfrm>
        </p:grpSpPr>
        <p:sp>
          <p:nvSpPr>
            <p:cNvPr id="185" name="Google Shape;185;p19"/>
            <p:cNvSpPr/>
            <p:nvPr/>
          </p:nvSpPr>
          <p:spPr>
            <a:xfrm>
              <a:off x="6286500" y="1524000"/>
              <a:ext cx="5334000" cy="4000500"/>
            </a:xfrm>
            <a:prstGeom prst="roundRect">
              <a:avLst>
                <a:gd fmla="val 3809" name="adj"/>
              </a:avLst>
            </a:prstGeom>
            <a:solidFill>
              <a:srgbClr val="0F172A">
                <a:alpha val="80000"/>
              </a:srgbClr>
            </a:solidFill>
            <a:ln cap="flat" cmpd="sng" w="1905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6" name="Google Shape;186;p19"/>
            <p:cNvSpPr txBox="1"/>
            <p:nvPr/>
          </p:nvSpPr>
          <p:spPr>
            <a:xfrm>
              <a:off x="6522350" y="1862150"/>
              <a:ext cx="4937700" cy="3437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10B981"/>
                  </a:solidFill>
                  <a:latin typeface="Inter"/>
                  <a:ea typeface="Inter"/>
                  <a:cs typeface="Inter"/>
                  <a:sym typeface="Inter"/>
                </a:rPr>
                <a:t>Chia nhỏ để trị</a:t>
              </a:r>
              <a:endParaRPr b="1" sz="1800">
                <a:solidFill>
                  <a:srgbClr val="10B981"/>
                </a:solidFill>
                <a:latin typeface="Inter"/>
                <a:ea typeface="Inter"/>
                <a:cs typeface="Inter"/>
                <a:sym typeface="Inter"/>
              </a:endParaRPr>
            </a:p>
            <a:p>
              <a:pPr indent="0" lvl="0" marL="0" rtl="0" algn="l">
                <a:spcBef>
                  <a:spcPts val="1500"/>
                </a:spcBef>
                <a:spcAft>
                  <a:spcPts val="0"/>
                </a:spcAft>
                <a:buNone/>
              </a:pPr>
              <a:r>
                <a:rPr b="0" lang="en-US" sz="1300">
                  <a:solidFill>
                    <a:srgbClr val="94A3B8"/>
                  </a:solidFill>
                  <a:latin typeface="Inter"/>
                  <a:ea typeface="Inter"/>
                  <a:cs typeface="Inter"/>
                  <a:sym typeface="Inter"/>
                </a:rPr>
                <a:t>Thay vì xử lý toàn bộ prompt dài một lần, chia nhỏ prompt thành các </a:t>
              </a:r>
              <a:r>
                <a:rPr b="1" lang="en-US" sz="1300">
                  <a:solidFill>
                    <a:srgbClr val="F8FAFC"/>
                  </a:solidFill>
                  <a:latin typeface="Inter"/>
                  <a:ea typeface="Inter"/>
                  <a:cs typeface="Inter"/>
                  <a:sym typeface="Inter"/>
                </a:rPr>
                <a:t>mảnh (chunks)</a:t>
              </a:r>
              <a:r>
                <a:rPr b="0" lang="en-US" sz="1300">
                  <a:solidFill>
                    <a:srgbClr val="94A3B8"/>
                  </a:solidFill>
                  <a:latin typeface="Inter"/>
                  <a:ea typeface="Inter"/>
                  <a:cs typeface="Inter"/>
                  <a:sym typeface="Inter"/>
                </a:rPr>
                <a:t>.</a:t>
              </a:r>
              <a:endParaRPr b="0" sz="1300">
                <a:solidFill>
                  <a:srgbClr val="94A3B8"/>
                </a:solidFill>
                <a:latin typeface="Inter"/>
                <a:ea typeface="Inter"/>
                <a:cs typeface="Inter"/>
                <a:sym typeface="Inter"/>
              </a:endParaRPr>
            </a:p>
            <a:p>
              <a:pPr indent="0" lvl="0" marL="0" rtl="0" algn="l">
                <a:spcBef>
                  <a:spcPts val="2250"/>
                </a:spcBef>
                <a:spcAft>
                  <a:spcPts val="0"/>
                </a:spcAft>
                <a:buNone/>
              </a:pPr>
              <a:r>
                <a:rPr lang="en-US" sz="1300">
                  <a:solidFill>
                    <a:srgbClr val="10B981"/>
                  </a:solidFill>
                  <a:latin typeface="Material Icons"/>
                  <a:ea typeface="Material Icons"/>
                  <a:cs typeface="Material Icons"/>
                  <a:sym typeface="Material Icons"/>
                </a:rPr>
                <a:t>check_circle</a:t>
              </a:r>
              <a:r>
                <a:rPr lang="en-US" sz="1300">
                  <a:solidFill>
                    <a:srgbClr val="CBD5E1"/>
                  </a:solidFill>
                  <a:latin typeface="Inter"/>
                  <a:ea typeface="Inter"/>
                  <a:cs typeface="Inter"/>
                  <a:sym typeface="Inter"/>
                </a:rPr>
                <a:t>Xử lý một mảnh mỗi iteration.</a:t>
              </a:r>
              <a:endParaRPr sz="1300">
                <a:solidFill>
                  <a:srgbClr val="CBD5E1"/>
                </a:solidFill>
                <a:latin typeface="Inter"/>
                <a:ea typeface="Inter"/>
                <a:cs typeface="Inter"/>
                <a:sym typeface="Inter"/>
              </a:endParaRPr>
            </a:p>
            <a:p>
              <a:pPr indent="0" lvl="0" marL="0" rtl="0" algn="l">
                <a:spcBef>
                  <a:spcPts val="1125"/>
                </a:spcBef>
                <a:spcAft>
                  <a:spcPts val="0"/>
                </a:spcAft>
                <a:buNone/>
              </a:pPr>
              <a:r>
                <a:rPr lang="en-US" sz="1300">
                  <a:solidFill>
                    <a:srgbClr val="10B981"/>
                  </a:solidFill>
                  <a:latin typeface="Material Icons"/>
                  <a:ea typeface="Material Icons"/>
                  <a:cs typeface="Material Icons"/>
                  <a:sym typeface="Material Icons"/>
                </a:rPr>
                <a:t>check_circle</a:t>
              </a:r>
              <a:r>
                <a:rPr lang="en-US" sz="1300">
                  <a:solidFill>
                    <a:srgbClr val="CBD5E1"/>
                  </a:solidFill>
                  <a:latin typeface="Inter"/>
                  <a:ea typeface="Inter"/>
                  <a:cs typeface="Inter"/>
                  <a:sym typeface="Inter"/>
                </a:rPr>
                <a:t>Xen kẽ với các bước Decode của người dùng khác.</a:t>
              </a:r>
              <a:endParaRPr sz="1300">
                <a:solidFill>
                  <a:srgbClr val="CBD5E1"/>
                </a:solidFill>
                <a:latin typeface="Inter"/>
                <a:ea typeface="Inter"/>
                <a:cs typeface="Inter"/>
                <a:sym typeface="Inter"/>
              </a:endParaRPr>
            </a:p>
            <a:p>
              <a:pPr indent="0" lvl="0" marL="0" rtl="0" algn="l">
                <a:spcBef>
                  <a:spcPts val="1125"/>
                </a:spcBef>
                <a:spcAft>
                  <a:spcPts val="0"/>
                </a:spcAft>
                <a:buNone/>
              </a:pPr>
              <a:r>
                <a:rPr lang="en-US" sz="1300">
                  <a:solidFill>
                    <a:srgbClr val="10B981"/>
                  </a:solidFill>
                  <a:latin typeface="Material Icons"/>
                  <a:ea typeface="Material Icons"/>
                  <a:cs typeface="Material Icons"/>
                  <a:sym typeface="Material Icons"/>
                </a:rPr>
                <a:t>check_circle</a:t>
              </a:r>
              <a:r>
                <a:rPr lang="en-US" sz="1300">
                  <a:solidFill>
                    <a:srgbClr val="CBD5E1"/>
                  </a:solidFill>
                  <a:latin typeface="Inter"/>
                  <a:ea typeface="Inter"/>
                  <a:cs typeface="Inter"/>
                  <a:sym typeface="Inter"/>
                </a:rPr>
                <a:t>Cân bằng giữa Throughput và Latency.</a:t>
              </a:r>
              <a:endParaRPr sz="1300">
                <a:solidFill>
                  <a:srgbClr val="CBD5E1"/>
                </a:solidFill>
                <a:latin typeface="Inter"/>
                <a:ea typeface="Inter"/>
                <a:cs typeface="Inter"/>
                <a:sym typeface="Inter"/>
              </a:endParaRPr>
            </a:p>
            <a:p>
              <a:pPr indent="0" lvl="0" marL="0" rtl="0" algn="l">
                <a:spcBef>
                  <a:spcPts val="1125"/>
                </a:spcBef>
                <a:spcAft>
                  <a:spcPts val="0"/>
                </a:spcAft>
                <a:buNone/>
              </a:pPr>
              <a:r>
                <a:rPr lang="en-US" sz="1300">
                  <a:solidFill>
                    <a:srgbClr val="10B981"/>
                  </a:solidFill>
                  <a:latin typeface="Material Icons"/>
                  <a:ea typeface="Material Icons"/>
                  <a:cs typeface="Material Icons"/>
                  <a:sym typeface="Material Icons"/>
                </a:rPr>
                <a:t>check_circle</a:t>
              </a:r>
              <a:r>
                <a:rPr lang="en-US" sz="1300">
                  <a:solidFill>
                    <a:srgbClr val="CBD5E1"/>
                  </a:solidFill>
                  <a:latin typeface="Inter"/>
                  <a:ea typeface="Inter"/>
                  <a:cs typeface="Inter"/>
                  <a:sym typeface="Inter"/>
                </a:rPr>
                <a:t>Đảm bảo trải nghiệm streaming mượt mà.</a:t>
              </a:r>
              <a:endParaRPr sz="1300">
                <a:solidFill>
                  <a:srgbClr val="CBD5E1"/>
                </a:solidFill>
                <a:latin typeface="Inter"/>
                <a:ea typeface="Inter"/>
                <a:cs typeface="Inter"/>
                <a:sym typeface="Inte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190" name="Shape 190"/>
        <p:cNvGrpSpPr/>
        <p:nvPr/>
      </p:nvGrpSpPr>
      <p:grpSpPr>
        <a:xfrm>
          <a:off x="0" y="0"/>
          <a:ext cx="0" cy="0"/>
          <a:chOff x="0" y="0"/>
          <a:chExt cx="0" cy="0"/>
        </a:xfrm>
      </p:grpSpPr>
      <p:pic>
        <p:nvPicPr>
          <p:cNvPr descr="image.png" id="191" name="Google Shape;191;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2" name="Google Shape;192;p20"/>
          <p:cNvPicPr preferRelativeResize="0"/>
          <p:nvPr/>
        </p:nvPicPr>
        <p:blipFill rotWithShape="1">
          <a:blip r:embed="rId4">
            <a:alphaModFix/>
          </a:blip>
          <a:srcRect b="0" l="0" r="0" t="0"/>
          <a:stretch/>
        </p:blipFill>
        <p:spPr>
          <a:xfrm>
            <a:off x="571500" y="2719387"/>
            <a:ext cx="11049000" cy="2286000"/>
          </a:xfrm>
          <a:prstGeom prst="rect">
            <a:avLst/>
          </a:prstGeom>
          <a:noFill/>
          <a:ln>
            <a:noFill/>
          </a:ln>
        </p:spPr>
      </p:pic>
      <p:sp>
        <p:nvSpPr>
          <p:cNvPr id="193" name="Google Shape;193;p20"/>
          <p:cNvSpPr/>
          <p:nvPr/>
        </p:nvSpPr>
        <p:spPr>
          <a:xfrm>
            <a:off x="3609975" y="3386137"/>
            <a:ext cx="19050" cy="952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4" name="Google Shape;194;p20"/>
          <p:cNvSpPr txBox="1"/>
          <p:nvPr/>
        </p:nvSpPr>
        <p:spPr>
          <a:xfrm>
            <a:off x="952500" y="3128962"/>
            <a:ext cx="2276475" cy="114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9000" u="none" cap="none" strike="noStrike">
                <a:solidFill>
                  <a:srgbClr val="10B981"/>
                </a:solidFill>
                <a:latin typeface="Inter ExtraBold"/>
                <a:ea typeface="Inter ExtraBold"/>
                <a:cs typeface="Inter ExtraBold"/>
                <a:sym typeface="Inter ExtraBold"/>
              </a:rPr>
              <a:t>23x</a:t>
            </a:r>
            <a:endParaRPr/>
          </a:p>
        </p:txBody>
      </p:sp>
      <p:sp>
        <p:nvSpPr>
          <p:cNvPr id="195" name="Google Shape;195;p20"/>
          <p:cNvSpPr txBox="1"/>
          <p:nvPr/>
        </p:nvSpPr>
        <p:spPr>
          <a:xfrm>
            <a:off x="952500" y="4271962"/>
            <a:ext cx="2276475"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F8FAFC"/>
                </a:solidFill>
                <a:latin typeface="Inter SemiBold"/>
                <a:ea typeface="Inter SemiBold"/>
                <a:cs typeface="Inter SemiBold"/>
                <a:sym typeface="Inter SemiBold"/>
              </a:rPr>
              <a:t>Throughput tối đa</a:t>
            </a:r>
            <a:endParaRPr/>
          </a:p>
        </p:txBody>
      </p:sp>
      <p:sp>
        <p:nvSpPr>
          <p:cNvPr id="196" name="Google Shape;196;p20"/>
          <p:cNvSpPr txBox="1"/>
          <p:nvPr/>
        </p:nvSpPr>
        <p:spPr>
          <a:xfrm>
            <a:off x="4391025" y="3252787"/>
            <a:ext cx="6848475"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F8FAFC"/>
                </a:solidFill>
                <a:latin typeface="Inter"/>
                <a:ea typeface="Inter"/>
                <a:cs typeface="Inter"/>
                <a:sym typeface="Inter"/>
              </a:rPr>
              <a:t>TTFT Cực thấp:</a:t>
            </a:r>
            <a:r>
              <a:rPr b="0" i="0" lang="en-US" sz="1500" u="none" cap="none" strike="noStrike">
                <a:solidFill>
                  <a:srgbClr val="94A3B8"/>
                </a:solidFill>
                <a:latin typeface="Inter"/>
                <a:ea typeface="Inter"/>
                <a:cs typeface="Inter"/>
                <a:sym typeface="Inter"/>
              </a:rPr>
              <a:t> Request mới được đưa vào lịch trình nhanh hơn.</a:t>
            </a:r>
            <a:endParaRPr/>
          </a:p>
        </p:txBody>
      </p:sp>
      <p:sp>
        <p:nvSpPr>
          <p:cNvPr id="197" name="Google Shape;197;p20"/>
          <p:cNvSpPr txBox="1"/>
          <p:nvPr/>
        </p:nvSpPr>
        <p:spPr>
          <a:xfrm>
            <a:off x="4391025" y="3709987"/>
            <a:ext cx="6848475"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F8FAFC"/>
                </a:solidFill>
                <a:latin typeface="Inter"/>
                <a:ea typeface="Inter"/>
                <a:cs typeface="Inter"/>
                <a:sym typeface="Inter"/>
              </a:rPr>
              <a:t>TPS Cao:</a:t>
            </a:r>
            <a:r>
              <a:rPr b="0" i="0" lang="en-US" sz="1500" u="none" cap="none" strike="noStrike">
                <a:solidFill>
                  <a:srgbClr val="94A3B8"/>
                </a:solidFill>
                <a:latin typeface="Inter"/>
                <a:ea typeface="Inter"/>
                <a:cs typeface="Inter"/>
                <a:sym typeface="Inter"/>
              </a:rPr>
              <a:t> Các bước Decode đóng gói chặt chẽ, tận dụng 100% tài nguyên.</a:t>
            </a:r>
            <a:endParaRPr/>
          </a:p>
        </p:txBody>
      </p:sp>
      <p:sp>
        <p:nvSpPr>
          <p:cNvPr id="198" name="Google Shape;198;p20"/>
          <p:cNvSpPr txBox="1"/>
          <p:nvPr/>
        </p:nvSpPr>
        <p:spPr>
          <a:xfrm>
            <a:off x="4391025" y="4167187"/>
            <a:ext cx="6848475"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F8FAFC"/>
                </a:solidFill>
                <a:latin typeface="Inter"/>
                <a:ea typeface="Inter"/>
                <a:cs typeface="Inter"/>
                <a:sym typeface="Inter"/>
              </a:rPr>
              <a:t>Khả năng hấp thụ:</a:t>
            </a:r>
            <a:r>
              <a:rPr b="0" i="0" lang="en-US" sz="1500" u="none" cap="none" strike="noStrike">
                <a:solidFill>
                  <a:srgbClr val="94A3B8"/>
                </a:solidFill>
                <a:latin typeface="Inter"/>
                <a:ea typeface="Inter"/>
                <a:cs typeface="Inter"/>
                <a:sym typeface="Inter"/>
              </a:rPr>
              <a:t> Xử lý tốt các đợt lưu lượng truy cập lớn đột biến.</a:t>
            </a:r>
            <a:endParaRPr/>
          </a:p>
        </p:txBody>
      </p:sp>
      <p:sp>
        <p:nvSpPr>
          <p:cNvPr id="199" name="Google Shape;199;p20"/>
          <p:cNvSpPr txBox="1"/>
          <p:nvPr/>
        </p:nvSpPr>
        <p:spPr>
          <a:xfrm>
            <a:off x="762000" y="571500"/>
            <a:ext cx="11401425"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1F5F9"/>
                </a:solidFill>
                <a:latin typeface="Inter"/>
                <a:ea typeface="Inter"/>
                <a:cs typeface="Inter"/>
                <a:sym typeface="Inter"/>
              </a:rPr>
              <a:t>LỢI ÍCH ĐỐI VỚI TTFT VÀ TPS</a:t>
            </a:r>
            <a:endParaRPr/>
          </a:p>
        </p:txBody>
      </p:sp>
      <p:sp>
        <p:nvSpPr>
          <p:cNvPr id="200" name="Google Shape;200;p20"/>
          <p:cNvSpPr/>
          <p:nvPr/>
        </p:nvSpPr>
        <p:spPr>
          <a:xfrm>
            <a:off x="571500" y="571500"/>
            <a:ext cx="57150" cy="4857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01" name="Google Shape;201;p20"/>
          <p:cNvPicPr preferRelativeResize="0"/>
          <p:nvPr/>
        </p:nvPicPr>
        <p:blipFill rotWithShape="1">
          <a:blip r:embed="rId5">
            <a:alphaModFix/>
          </a:blip>
          <a:srcRect b="0" l="0" r="0" t="0"/>
          <a:stretch/>
        </p:blipFill>
        <p:spPr>
          <a:xfrm>
            <a:off x="4010025" y="3252787"/>
            <a:ext cx="228600" cy="247650"/>
          </a:xfrm>
          <a:prstGeom prst="rect">
            <a:avLst/>
          </a:prstGeom>
          <a:noFill/>
          <a:ln>
            <a:noFill/>
          </a:ln>
        </p:spPr>
      </p:pic>
      <p:pic>
        <p:nvPicPr>
          <p:cNvPr descr="image.png" id="202" name="Google Shape;202;p20"/>
          <p:cNvPicPr preferRelativeResize="0"/>
          <p:nvPr/>
        </p:nvPicPr>
        <p:blipFill rotWithShape="1">
          <a:blip r:embed="rId5">
            <a:alphaModFix/>
          </a:blip>
          <a:srcRect b="0" l="0" r="0" t="0"/>
          <a:stretch/>
        </p:blipFill>
        <p:spPr>
          <a:xfrm>
            <a:off x="4010025" y="3709987"/>
            <a:ext cx="228600" cy="247650"/>
          </a:xfrm>
          <a:prstGeom prst="rect">
            <a:avLst/>
          </a:prstGeom>
          <a:noFill/>
          <a:ln>
            <a:noFill/>
          </a:ln>
        </p:spPr>
      </p:pic>
      <p:pic>
        <p:nvPicPr>
          <p:cNvPr descr="image.png" id="203" name="Google Shape;203;p20"/>
          <p:cNvPicPr preferRelativeResize="0"/>
          <p:nvPr/>
        </p:nvPicPr>
        <p:blipFill rotWithShape="1">
          <a:blip r:embed="rId5">
            <a:alphaModFix/>
          </a:blip>
          <a:srcRect b="0" l="0" r="0" t="0"/>
          <a:stretch/>
        </p:blipFill>
        <p:spPr>
          <a:xfrm>
            <a:off x="4010025" y="4167187"/>
            <a:ext cx="228600" cy="247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207" name="Shape 207"/>
        <p:cNvGrpSpPr/>
        <p:nvPr/>
      </p:nvGrpSpPr>
      <p:grpSpPr>
        <a:xfrm>
          <a:off x="0" y="0"/>
          <a:ext cx="0" cy="0"/>
          <a:chOff x="0" y="0"/>
          <a:chExt cx="0" cy="0"/>
        </a:xfrm>
      </p:grpSpPr>
      <p:pic>
        <p:nvPicPr>
          <p:cNvPr descr="image.png" id="208" name="Google Shape;208;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9" name="Google Shape;209;p21"/>
          <p:cNvPicPr preferRelativeResize="0"/>
          <p:nvPr/>
        </p:nvPicPr>
        <p:blipFill rotWithShape="1">
          <a:blip r:embed="rId4">
            <a:alphaModFix/>
          </a:blip>
          <a:srcRect b="0" l="0" r="0" t="0"/>
          <a:stretch/>
        </p:blipFill>
        <p:spPr>
          <a:xfrm>
            <a:off x="571500" y="1881187"/>
            <a:ext cx="5410200" cy="1866900"/>
          </a:xfrm>
          <a:prstGeom prst="rect">
            <a:avLst/>
          </a:prstGeom>
          <a:noFill/>
          <a:ln>
            <a:noFill/>
          </a:ln>
        </p:spPr>
      </p:pic>
      <p:pic>
        <p:nvPicPr>
          <p:cNvPr descr="image.png" id="210" name="Google Shape;210;p21"/>
          <p:cNvPicPr preferRelativeResize="0"/>
          <p:nvPr/>
        </p:nvPicPr>
        <p:blipFill rotWithShape="1">
          <a:blip r:embed="rId4">
            <a:alphaModFix/>
          </a:blip>
          <a:srcRect b="0" l="0" r="0" t="0"/>
          <a:stretch/>
        </p:blipFill>
        <p:spPr>
          <a:xfrm>
            <a:off x="6210300" y="1881187"/>
            <a:ext cx="5410200" cy="1866900"/>
          </a:xfrm>
          <a:prstGeom prst="rect">
            <a:avLst/>
          </a:prstGeom>
          <a:noFill/>
          <a:ln>
            <a:noFill/>
          </a:ln>
        </p:spPr>
      </p:pic>
      <p:pic>
        <p:nvPicPr>
          <p:cNvPr descr="image.png" id="211" name="Google Shape;211;p21"/>
          <p:cNvPicPr preferRelativeResize="0"/>
          <p:nvPr/>
        </p:nvPicPr>
        <p:blipFill rotWithShape="1">
          <a:blip r:embed="rId4">
            <a:alphaModFix/>
          </a:blip>
          <a:srcRect b="0" l="0" r="0" t="0"/>
          <a:stretch/>
        </p:blipFill>
        <p:spPr>
          <a:xfrm>
            <a:off x="571500" y="3976687"/>
            <a:ext cx="5410200" cy="1866900"/>
          </a:xfrm>
          <a:prstGeom prst="rect">
            <a:avLst/>
          </a:prstGeom>
          <a:noFill/>
          <a:ln>
            <a:noFill/>
          </a:ln>
        </p:spPr>
      </p:pic>
      <p:pic>
        <p:nvPicPr>
          <p:cNvPr descr="image.png" id="212" name="Google Shape;212;p21"/>
          <p:cNvPicPr preferRelativeResize="0"/>
          <p:nvPr/>
        </p:nvPicPr>
        <p:blipFill rotWithShape="1">
          <a:blip r:embed="rId4">
            <a:alphaModFix/>
          </a:blip>
          <a:srcRect b="0" l="0" r="0" t="0"/>
          <a:stretch/>
        </p:blipFill>
        <p:spPr>
          <a:xfrm>
            <a:off x="6210300" y="3976687"/>
            <a:ext cx="5410200" cy="1866900"/>
          </a:xfrm>
          <a:prstGeom prst="rect">
            <a:avLst/>
          </a:prstGeom>
          <a:noFill/>
          <a:ln>
            <a:noFill/>
          </a:ln>
        </p:spPr>
      </p:pic>
      <p:sp>
        <p:nvSpPr>
          <p:cNvPr id="213" name="Google Shape;213;p21"/>
          <p:cNvSpPr txBox="1"/>
          <p:nvPr/>
        </p:nvSpPr>
        <p:spPr>
          <a:xfrm>
            <a:off x="866775" y="2690812"/>
            <a:ext cx="481965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Inter"/>
                <a:ea typeface="Inter"/>
                <a:cs typeface="Inter"/>
                <a:sym typeface="Inter"/>
              </a:rPr>
              <a:t>Prompt và output càng dài thì </a:t>
            </a:r>
            <a:r>
              <a:rPr b="1" i="0" lang="en-US" sz="1500" u="none" cap="none" strike="noStrike">
                <a:solidFill>
                  <a:srgbClr val="F8FAFC"/>
                </a:solidFill>
                <a:latin typeface="Inter"/>
                <a:ea typeface="Inter"/>
                <a:cs typeface="Inter"/>
                <a:sym typeface="Inter"/>
              </a:rPr>
              <a:t>KV Cache</a:t>
            </a:r>
            <a:r>
              <a:rPr b="0" i="0" lang="en-US" sz="1500" u="none" cap="none" strike="noStrike">
                <a:solidFill>
                  <a:srgbClr val="94A3B8"/>
                </a:solidFill>
                <a:latin typeface="Inter"/>
                <a:ea typeface="Inter"/>
                <a:cs typeface="Inter"/>
                <a:sym typeface="Inter"/>
              </a:rPr>
              <a:t> càng phình to, dễ gây ra lỗi OOM (Out of Memory).</a:t>
            </a:r>
            <a:endParaRPr/>
          </a:p>
        </p:txBody>
      </p:sp>
      <p:sp>
        <p:nvSpPr>
          <p:cNvPr id="214" name="Google Shape;214;p21"/>
          <p:cNvSpPr txBox="1"/>
          <p:nvPr/>
        </p:nvSpPr>
        <p:spPr>
          <a:xfrm>
            <a:off x="6505575" y="2690812"/>
            <a:ext cx="481965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Inter"/>
                <a:ea typeface="Inter"/>
                <a:cs typeface="Inter"/>
                <a:sym typeface="Inter"/>
              </a:rPr>
              <a:t>Việc đóng gói quá mức có thể khiến các prompt dài bị "đói" tài nguyên (starvation).</a:t>
            </a:r>
            <a:endParaRPr/>
          </a:p>
        </p:txBody>
      </p:sp>
      <p:sp>
        <p:nvSpPr>
          <p:cNvPr id="215" name="Google Shape;215;p21"/>
          <p:cNvSpPr txBox="1"/>
          <p:nvPr/>
        </p:nvSpPr>
        <p:spPr>
          <a:xfrm>
            <a:off x="866775" y="4786312"/>
            <a:ext cx="481965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Inter"/>
                <a:ea typeface="Inter"/>
                <a:cs typeface="Inter"/>
                <a:sym typeface="Inter"/>
              </a:rPr>
              <a:t>Độ dài đầu vào thay đổi gây ra sự biến động nhỏ về thời gian sinh token.</a:t>
            </a:r>
            <a:endParaRPr/>
          </a:p>
        </p:txBody>
      </p:sp>
      <p:sp>
        <p:nvSpPr>
          <p:cNvPr id="216" name="Google Shape;216;p21"/>
          <p:cNvSpPr txBox="1"/>
          <p:nvPr/>
        </p:nvSpPr>
        <p:spPr>
          <a:xfrm>
            <a:off x="6505575" y="4786312"/>
            <a:ext cx="481965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Inter"/>
                <a:ea typeface="Inter"/>
                <a:cs typeface="Inter"/>
                <a:sym typeface="Inter"/>
              </a:rPr>
              <a:t>Yêu cầu thuật toán lập lịch thông minh hơn so với FIFO đơn giản.</a:t>
            </a:r>
            <a:endParaRPr/>
          </a:p>
        </p:txBody>
      </p:sp>
      <p:pic>
        <p:nvPicPr>
          <p:cNvPr descr="image.png" id="217" name="Google Shape;217;p21"/>
          <p:cNvPicPr preferRelativeResize="0"/>
          <p:nvPr/>
        </p:nvPicPr>
        <p:blipFill rotWithShape="1">
          <a:blip r:embed="rId5">
            <a:alphaModFix/>
          </a:blip>
          <a:srcRect b="0" l="0" r="0" t="0"/>
          <a:stretch/>
        </p:blipFill>
        <p:spPr>
          <a:xfrm>
            <a:off x="866775" y="2205037"/>
            <a:ext cx="304800" cy="266700"/>
          </a:xfrm>
          <a:prstGeom prst="rect">
            <a:avLst/>
          </a:prstGeom>
          <a:noFill/>
          <a:ln>
            <a:noFill/>
          </a:ln>
        </p:spPr>
      </p:pic>
      <p:pic>
        <p:nvPicPr>
          <p:cNvPr descr="image.png" id="218" name="Google Shape;218;p21"/>
          <p:cNvPicPr preferRelativeResize="0"/>
          <p:nvPr/>
        </p:nvPicPr>
        <p:blipFill rotWithShape="1">
          <a:blip r:embed="rId6">
            <a:alphaModFix/>
          </a:blip>
          <a:srcRect b="0" l="0" r="0" t="0"/>
          <a:stretch/>
        </p:blipFill>
        <p:spPr>
          <a:xfrm>
            <a:off x="6505575" y="2205037"/>
            <a:ext cx="333375" cy="266700"/>
          </a:xfrm>
          <a:prstGeom prst="rect">
            <a:avLst/>
          </a:prstGeom>
          <a:noFill/>
          <a:ln>
            <a:noFill/>
          </a:ln>
        </p:spPr>
      </p:pic>
      <p:pic>
        <p:nvPicPr>
          <p:cNvPr descr="image.png" id="219" name="Google Shape;219;p21"/>
          <p:cNvPicPr preferRelativeResize="0"/>
          <p:nvPr/>
        </p:nvPicPr>
        <p:blipFill rotWithShape="1">
          <a:blip r:embed="rId7">
            <a:alphaModFix/>
          </a:blip>
          <a:srcRect b="0" l="0" r="0" t="0"/>
          <a:stretch/>
        </p:blipFill>
        <p:spPr>
          <a:xfrm>
            <a:off x="866775" y="4300537"/>
            <a:ext cx="333375" cy="266700"/>
          </a:xfrm>
          <a:prstGeom prst="rect">
            <a:avLst/>
          </a:prstGeom>
          <a:noFill/>
          <a:ln>
            <a:noFill/>
          </a:ln>
        </p:spPr>
      </p:pic>
      <p:pic>
        <p:nvPicPr>
          <p:cNvPr descr="image.png" id="220" name="Google Shape;220;p21"/>
          <p:cNvPicPr preferRelativeResize="0"/>
          <p:nvPr/>
        </p:nvPicPr>
        <p:blipFill rotWithShape="1">
          <a:blip r:embed="rId8">
            <a:alphaModFix/>
          </a:blip>
          <a:srcRect b="0" l="0" r="0" t="0"/>
          <a:stretch/>
        </p:blipFill>
        <p:spPr>
          <a:xfrm>
            <a:off x="6505575" y="4300537"/>
            <a:ext cx="266700" cy="266700"/>
          </a:xfrm>
          <a:prstGeom prst="rect">
            <a:avLst/>
          </a:prstGeom>
          <a:noFill/>
          <a:ln>
            <a:noFill/>
          </a:ln>
        </p:spPr>
      </p:pic>
      <p:sp>
        <p:nvSpPr>
          <p:cNvPr id="221" name="Google Shape;221;p21"/>
          <p:cNvSpPr txBox="1"/>
          <p:nvPr/>
        </p:nvSpPr>
        <p:spPr>
          <a:xfrm>
            <a:off x="762000" y="571500"/>
            <a:ext cx="11401425"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1F5F9"/>
                </a:solidFill>
                <a:latin typeface="Inter"/>
                <a:ea typeface="Inter"/>
                <a:cs typeface="Inter"/>
                <a:sym typeface="Inter"/>
              </a:rPr>
              <a:t>CÁC GIỚI HẠN VÀ ĐÁNH ĐỔI</a:t>
            </a:r>
            <a:endParaRPr/>
          </a:p>
        </p:txBody>
      </p:sp>
      <p:sp>
        <p:nvSpPr>
          <p:cNvPr id="222" name="Google Shape;222;p21"/>
          <p:cNvSpPr/>
          <p:nvPr/>
        </p:nvSpPr>
        <p:spPr>
          <a:xfrm>
            <a:off x="571500" y="571500"/>
            <a:ext cx="57150" cy="4857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21"/>
          <p:cNvSpPr txBox="1"/>
          <p:nvPr/>
        </p:nvSpPr>
        <p:spPr>
          <a:xfrm>
            <a:off x="866775" y="2176462"/>
            <a:ext cx="5060632" cy="323850"/>
          </a:xfrm>
          <a:prstGeom prst="rect">
            <a:avLst/>
          </a:prstGeom>
          <a:noFill/>
          <a:ln>
            <a:noFill/>
          </a:ln>
        </p:spPr>
        <p:txBody>
          <a:bodyPr anchorCtr="0" anchor="t" bIns="0" lIns="304800" spcFirstLastPara="1" rIns="0" wrap="square" tIns="0">
            <a:spAutoFit/>
          </a:bodyPr>
          <a:lstStyle/>
          <a:p>
            <a:pPr indent="0" lvl="0" marL="0" marR="0" rtl="0" algn="l">
              <a:spcBef>
                <a:spcPts val="0"/>
              </a:spcBef>
              <a:spcAft>
                <a:spcPts val="0"/>
              </a:spcAft>
              <a:buNone/>
            </a:pPr>
            <a:r>
              <a:rPr b="1" i="0" lang="en-US" sz="2100" u="none" cap="none" strike="noStrike">
                <a:solidFill>
                  <a:srgbClr val="10B981"/>
                </a:solidFill>
                <a:latin typeface="Inter"/>
                <a:ea typeface="Inter"/>
                <a:cs typeface="Inter"/>
                <a:sym typeface="Inter"/>
              </a:rPr>
              <a:t>Áp lực bộ nhớ</a:t>
            </a:r>
            <a:endParaRPr/>
          </a:p>
        </p:txBody>
      </p:sp>
      <p:sp>
        <p:nvSpPr>
          <p:cNvPr id="224" name="Google Shape;224;p21"/>
          <p:cNvSpPr txBox="1"/>
          <p:nvPr/>
        </p:nvSpPr>
        <p:spPr>
          <a:xfrm>
            <a:off x="6505575" y="2176462"/>
            <a:ext cx="5060632" cy="323850"/>
          </a:xfrm>
          <a:prstGeom prst="rect">
            <a:avLst/>
          </a:prstGeom>
          <a:noFill/>
          <a:ln>
            <a:noFill/>
          </a:ln>
        </p:spPr>
        <p:txBody>
          <a:bodyPr anchorCtr="0" anchor="t" bIns="0" lIns="333375" spcFirstLastPara="1" rIns="0" wrap="square" tIns="0">
            <a:spAutoFit/>
          </a:bodyPr>
          <a:lstStyle/>
          <a:p>
            <a:pPr indent="0" lvl="0" marL="0" marR="0" rtl="0" algn="l">
              <a:spcBef>
                <a:spcPts val="0"/>
              </a:spcBef>
              <a:spcAft>
                <a:spcPts val="0"/>
              </a:spcAft>
              <a:buNone/>
            </a:pPr>
            <a:r>
              <a:rPr b="1" i="0" lang="en-US" sz="2100" u="none" cap="none" strike="noStrike">
                <a:solidFill>
                  <a:srgbClr val="10B981"/>
                </a:solidFill>
                <a:latin typeface="Inter"/>
                <a:ea typeface="Inter"/>
                <a:cs typeface="Inter"/>
                <a:sym typeface="Inter"/>
              </a:rPr>
              <a:t>Công bằng vs. Tốc độ</a:t>
            </a:r>
            <a:endParaRPr/>
          </a:p>
        </p:txBody>
      </p:sp>
      <p:sp>
        <p:nvSpPr>
          <p:cNvPr id="225" name="Google Shape;225;p21"/>
          <p:cNvSpPr txBox="1"/>
          <p:nvPr/>
        </p:nvSpPr>
        <p:spPr>
          <a:xfrm>
            <a:off x="866775" y="4271962"/>
            <a:ext cx="5060632" cy="323850"/>
          </a:xfrm>
          <a:prstGeom prst="rect">
            <a:avLst/>
          </a:prstGeom>
          <a:noFill/>
          <a:ln>
            <a:noFill/>
          </a:ln>
        </p:spPr>
        <p:txBody>
          <a:bodyPr anchorCtr="0" anchor="t" bIns="0" lIns="333375" spcFirstLastPara="1" rIns="0" wrap="square" tIns="0">
            <a:spAutoFit/>
          </a:bodyPr>
          <a:lstStyle/>
          <a:p>
            <a:pPr indent="0" lvl="0" marL="0" marR="0" rtl="0" algn="l">
              <a:spcBef>
                <a:spcPts val="0"/>
              </a:spcBef>
              <a:spcAft>
                <a:spcPts val="0"/>
              </a:spcAft>
              <a:buNone/>
            </a:pPr>
            <a:r>
              <a:rPr b="1" i="0" lang="en-US" sz="2100" u="none" cap="none" strike="noStrike">
                <a:solidFill>
                  <a:srgbClr val="10B981"/>
                </a:solidFill>
                <a:latin typeface="Inter"/>
                <a:ea typeface="Inter"/>
                <a:cs typeface="Inter"/>
                <a:sym typeface="Inter"/>
              </a:rPr>
              <a:t>Hiện tượng Jitter</a:t>
            </a:r>
            <a:endParaRPr/>
          </a:p>
        </p:txBody>
      </p:sp>
      <p:sp>
        <p:nvSpPr>
          <p:cNvPr id="226" name="Google Shape;226;p21"/>
          <p:cNvSpPr txBox="1"/>
          <p:nvPr/>
        </p:nvSpPr>
        <p:spPr>
          <a:xfrm>
            <a:off x="6505575" y="4271962"/>
            <a:ext cx="5060632" cy="323850"/>
          </a:xfrm>
          <a:prstGeom prst="rect">
            <a:avLst/>
          </a:prstGeom>
          <a:noFill/>
          <a:ln>
            <a:noFill/>
          </a:ln>
        </p:spPr>
        <p:txBody>
          <a:bodyPr anchorCtr="0" anchor="t" bIns="0" lIns="266700" spcFirstLastPara="1" rIns="0" wrap="square" tIns="0">
            <a:spAutoFit/>
          </a:bodyPr>
          <a:lstStyle/>
          <a:p>
            <a:pPr indent="0" lvl="0" marL="0" marR="0" rtl="0" algn="l">
              <a:spcBef>
                <a:spcPts val="0"/>
              </a:spcBef>
              <a:spcAft>
                <a:spcPts val="0"/>
              </a:spcAft>
              <a:buNone/>
            </a:pPr>
            <a:r>
              <a:rPr b="1" i="0" lang="en-US" sz="2100" u="none" cap="none" strike="noStrike">
                <a:solidFill>
                  <a:srgbClr val="10B981"/>
                </a:solidFill>
                <a:latin typeface="Inter"/>
                <a:ea typeface="Inter"/>
                <a:cs typeface="Inter"/>
                <a:sym typeface="Inter"/>
              </a:rPr>
              <a:t>Phức tạp lập lịch</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230" name="Shape 230"/>
        <p:cNvGrpSpPr/>
        <p:nvPr/>
      </p:nvGrpSpPr>
      <p:grpSpPr>
        <a:xfrm>
          <a:off x="0" y="0"/>
          <a:ext cx="0" cy="0"/>
          <a:chOff x="0" y="0"/>
          <a:chExt cx="0" cy="0"/>
        </a:xfrm>
      </p:grpSpPr>
      <p:pic>
        <p:nvPicPr>
          <p:cNvPr descr="image.png" id="231" name="Google Shape;231;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2" name="Google Shape;232;p22"/>
          <p:cNvPicPr preferRelativeResize="0"/>
          <p:nvPr/>
        </p:nvPicPr>
        <p:blipFill rotWithShape="1">
          <a:blip r:embed="rId4">
            <a:alphaModFix/>
          </a:blip>
          <a:srcRect b="0" l="0" r="0" t="0"/>
          <a:stretch/>
        </p:blipFill>
        <p:spPr>
          <a:xfrm>
            <a:off x="6286500" y="1957387"/>
            <a:ext cx="5334000" cy="3810000"/>
          </a:xfrm>
          <a:prstGeom prst="rect">
            <a:avLst/>
          </a:prstGeom>
          <a:noFill/>
          <a:ln>
            <a:noFill/>
          </a:ln>
        </p:spPr>
      </p:pic>
      <p:pic>
        <p:nvPicPr>
          <p:cNvPr descr="image.png" id="233" name="Google Shape;233;p22"/>
          <p:cNvPicPr preferRelativeResize="0"/>
          <p:nvPr/>
        </p:nvPicPr>
        <p:blipFill rotWithShape="1">
          <a:blip r:embed="rId5">
            <a:alphaModFix/>
          </a:blip>
          <a:srcRect b="0" l="0" r="0" t="0"/>
          <a:stretch/>
        </p:blipFill>
        <p:spPr>
          <a:xfrm>
            <a:off x="571500" y="3043237"/>
            <a:ext cx="5334000" cy="2590800"/>
          </a:xfrm>
          <a:prstGeom prst="rect">
            <a:avLst/>
          </a:prstGeom>
          <a:noFill/>
          <a:ln>
            <a:noFill/>
          </a:ln>
        </p:spPr>
      </p:pic>
      <p:sp>
        <p:nvSpPr>
          <p:cNvPr id="234" name="Google Shape;234;p22"/>
          <p:cNvSpPr txBox="1"/>
          <p:nvPr/>
        </p:nvSpPr>
        <p:spPr>
          <a:xfrm>
            <a:off x="571500" y="2281237"/>
            <a:ext cx="5334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Inter"/>
                <a:ea typeface="Inter"/>
                <a:cs typeface="Inter"/>
                <a:sym typeface="Inter"/>
              </a:rPr>
              <a:t>Continuous batching hoạt động hiệu quả nhất khi kết hợp với </a:t>
            </a:r>
            <a:r>
              <a:rPr b="1" i="0" lang="en-US" sz="1500" u="none" cap="none" strike="noStrike">
                <a:solidFill>
                  <a:srgbClr val="F8FAFC"/>
                </a:solidFill>
                <a:latin typeface="Inter"/>
                <a:ea typeface="Inter"/>
                <a:cs typeface="Inter"/>
                <a:sym typeface="Inter"/>
              </a:rPr>
              <a:t>PagedAttention</a:t>
            </a:r>
            <a:r>
              <a:rPr b="0" i="0" lang="en-US" sz="1500" u="none" cap="none" strike="noStrike">
                <a:solidFill>
                  <a:srgbClr val="94A3B8"/>
                </a:solidFill>
                <a:latin typeface="Inter"/>
                <a:ea typeface="Inter"/>
                <a:cs typeface="Inter"/>
                <a:sym typeface="Inter"/>
              </a:rPr>
              <a:t>.</a:t>
            </a:r>
            <a:endParaRPr/>
          </a:p>
        </p:txBody>
      </p:sp>
      <p:pic>
        <p:nvPicPr>
          <p:cNvPr descr="image.png" id="235" name="Google Shape;235;p22"/>
          <p:cNvPicPr preferRelativeResize="0"/>
          <p:nvPr/>
        </p:nvPicPr>
        <p:blipFill rotWithShape="1">
          <a:blip r:embed="rId6">
            <a:alphaModFix/>
          </a:blip>
          <a:srcRect b="0" l="0" r="0" t="0"/>
          <a:stretch/>
        </p:blipFill>
        <p:spPr>
          <a:xfrm>
            <a:off x="6296025" y="1966912"/>
            <a:ext cx="5314950" cy="3790950"/>
          </a:xfrm>
          <a:prstGeom prst="rect">
            <a:avLst/>
          </a:prstGeom>
          <a:noFill/>
          <a:ln>
            <a:noFill/>
          </a:ln>
        </p:spPr>
      </p:pic>
      <p:sp>
        <p:nvSpPr>
          <p:cNvPr id="236" name="Google Shape;236;p22"/>
          <p:cNvSpPr txBox="1"/>
          <p:nvPr/>
        </p:nvSpPr>
        <p:spPr>
          <a:xfrm>
            <a:off x="866775" y="3529012"/>
            <a:ext cx="474345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Inter"/>
                <a:ea typeface="Inter"/>
                <a:cs typeface="Inter"/>
                <a:sym typeface="Inter"/>
              </a:rPr>
              <a:t>Chia bộ nhớ cache thành các khối nhỏ (blocks) và tái sử dụng chúng linh hoạt.</a:t>
            </a:r>
            <a:endParaRPr/>
          </a:p>
        </p:txBody>
      </p:sp>
      <p:sp>
        <p:nvSpPr>
          <p:cNvPr id="237" name="Google Shape;237;p22"/>
          <p:cNvSpPr txBox="1"/>
          <p:nvPr/>
        </p:nvSpPr>
        <p:spPr>
          <a:xfrm>
            <a:off x="866775" y="4291012"/>
            <a:ext cx="4743450" cy="8572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10B981"/>
                </a:solidFill>
                <a:latin typeface="Inter"/>
                <a:ea typeface="Inter"/>
                <a:cs typeface="Inter"/>
                <a:sym typeface="Inter"/>
              </a:rPr>
              <a:t>Các khối đã hoàn thành được trả lại pool ngay lập tức, ngăn chặn hiện tượng treo request do chờ bộ nhớ.</a:t>
            </a:r>
            <a:endParaRPr/>
          </a:p>
        </p:txBody>
      </p:sp>
      <p:sp>
        <p:nvSpPr>
          <p:cNvPr id="238" name="Google Shape;238;p22"/>
          <p:cNvSpPr txBox="1"/>
          <p:nvPr/>
        </p:nvSpPr>
        <p:spPr>
          <a:xfrm>
            <a:off x="762000" y="571500"/>
            <a:ext cx="11401425"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1F5F9"/>
                </a:solidFill>
                <a:latin typeface="Inter"/>
                <a:ea typeface="Inter"/>
                <a:cs typeface="Inter"/>
                <a:sym typeface="Inter"/>
              </a:rPr>
              <a:t>QUẢN LÝ KV CACHE THÔNG MINH</a:t>
            </a:r>
            <a:endParaRPr/>
          </a:p>
        </p:txBody>
      </p:sp>
      <p:sp>
        <p:nvSpPr>
          <p:cNvPr id="239" name="Google Shape;239;p22"/>
          <p:cNvSpPr/>
          <p:nvPr/>
        </p:nvSpPr>
        <p:spPr>
          <a:xfrm>
            <a:off x="571500" y="571500"/>
            <a:ext cx="57150" cy="4857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243" name="Shape 243"/>
        <p:cNvGrpSpPr/>
        <p:nvPr/>
      </p:nvGrpSpPr>
      <p:grpSpPr>
        <a:xfrm>
          <a:off x="0" y="0"/>
          <a:ext cx="0" cy="0"/>
          <a:chOff x="0" y="0"/>
          <a:chExt cx="0" cy="0"/>
        </a:xfrm>
      </p:grpSpPr>
      <p:pic>
        <p:nvPicPr>
          <p:cNvPr descr="image.png" id="244" name="Google Shape;244;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5" name="Google Shape;245;p23"/>
          <p:cNvSpPr/>
          <p:nvPr/>
        </p:nvSpPr>
        <p:spPr>
          <a:xfrm>
            <a:off x="571500" y="2366962"/>
            <a:ext cx="11049000" cy="2990850"/>
          </a:xfrm>
          <a:prstGeom prst="roundRect">
            <a:avLst>
              <a:gd fmla="val 0" name="adj"/>
            </a:avLst>
          </a:prstGeom>
          <a:solidFill>
            <a:srgbClr val="1E293B"/>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46" name="Google Shape;246;p23"/>
          <p:cNvGraphicFramePr/>
          <p:nvPr/>
        </p:nvGraphicFramePr>
        <p:xfrm>
          <a:off x="571500" y="2366962"/>
          <a:ext cx="3000000" cy="3000000"/>
        </p:xfrm>
        <a:graphic>
          <a:graphicData uri="http://schemas.openxmlformats.org/drawingml/2006/table">
            <a:tbl>
              <a:tblPr bandRow="1" firstRow="1">
                <a:noFill/>
                <a:tableStyleId>{714511AF-E522-4003-9CBD-61CB89B9FB59}</a:tableStyleId>
              </a:tblPr>
              <a:tblGrid>
                <a:gridCol w="3410400"/>
                <a:gridCol w="3861500"/>
                <a:gridCol w="3777100"/>
              </a:tblGrid>
              <a:tr h="598175">
                <a:tc>
                  <a:txBody>
                    <a:bodyPr/>
                    <a:lstStyle/>
                    <a:p>
                      <a:pPr indent="0" lvl="0" marL="0" marR="0" rtl="0" algn="l">
                        <a:spcBef>
                          <a:spcPts val="0"/>
                        </a:spcBef>
                        <a:spcAft>
                          <a:spcPts val="0"/>
                        </a:spcAft>
                        <a:buNone/>
                      </a:pPr>
                      <a:r>
                        <a:rPr b="1" i="0" lang="en-US" sz="1650" u="none" cap="none" strike="noStrike">
                          <a:solidFill>
                            <a:srgbClr val="3B82F6"/>
                          </a:solidFill>
                          <a:latin typeface="Inter"/>
                          <a:ea typeface="Inter"/>
                          <a:cs typeface="Inter"/>
                          <a:sym typeface="Inter"/>
                        </a:rPr>
                        <a:t>Chỉ số</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None/>
                      </a:pPr>
                      <a:r>
                        <a:rPr b="1" i="0" lang="en-US" sz="1650" u="none" cap="none" strike="noStrike">
                          <a:solidFill>
                            <a:srgbClr val="3B82F6"/>
                          </a:solidFill>
                          <a:latin typeface="Inter"/>
                          <a:ea typeface="Inter"/>
                          <a:cs typeface="Inter"/>
                          <a:sym typeface="Inter"/>
                        </a:rPr>
                        <a:t>Static Batching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None/>
                      </a:pPr>
                      <a:r>
                        <a:rPr b="1" i="0" lang="en-US" sz="1650" u="none" cap="none" strike="noStrike">
                          <a:solidFill>
                            <a:srgbClr val="3B82F6"/>
                          </a:solidFill>
                          <a:latin typeface="Inter"/>
                          <a:ea typeface="Inter"/>
                          <a:cs typeface="Inter"/>
                          <a:sym typeface="Inter"/>
                        </a:rPr>
                        <a:t>Continuous Batching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r>
              <a:tr h="598175">
                <a:tc>
                  <a:txBody>
                    <a:bodyPr/>
                    <a:lstStyle/>
                    <a:p>
                      <a:pPr indent="0" lvl="0" marL="0" marR="0" rtl="0" algn="l">
                        <a:spcBef>
                          <a:spcPts val="0"/>
                        </a:spcBef>
                        <a:spcAft>
                          <a:spcPts val="0"/>
                        </a:spcAft>
                        <a:buNone/>
                      </a:pPr>
                      <a:r>
                        <a:rPr b="1" i="0" lang="en-US" sz="1350" u="none" cap="none" strike="noStrike">
                          <a:solidFill>
                            <a:srgbClr val="CC0000"/>
                          </a:solidFill>
                          <a:latin typeface="Inter"/>
                          <a:ea typeface="Inter"/>
                          <a:cs typeface="Inter"/>
                          <a:sym typeface="Inter"/>
                        </a:rPr>
                        <a:t>Throughput (Tokens/s)</a:t>
                      </a:r>
                      <a:endParaRPr>
                        <a:solidFill>
                          <a:srgbClr val="CC0000"/>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i="0" lang="en-US" sz="1350" u="none" cap="none" strike="noStrike">
                          <a:solidFill>
                            <a:srgbClr val="CC0000"/>
                          </a:solidFill>
                          <a:latin typeface="Inter"/>
                          <a:ea typeface="Inter"/>
                          <a:cs typeface="Inter"/>
                          <a:sym typeface="Inter"/>
                        </a:rPr>
                        <a:t>Thấp (Bị nghẽn)</a:t>
                      </a:r>
                      <a:endParaRPr>
                        <a:solidFill>
                          <a:srgbClr val="CC0000"/>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1" i="0" lang="en-US" sz="1350" u="none" cap="none" strike="noStrike">
                          <a:solidFill>
                            <a:srgbClr val="CC0000"/>
                          </a:solidFill>
                          <a:latin typeface="Inter"/>
                          <a:ea typeface="Inter"/>
                          <a:cs typeface="Inter"/>
                          <a:sym typeface="Inter"/>
                        </a:rPr>
                        <a:t>Cao hơn tới 23x</a:t>
                      </a:r>
                      <a:endParaRPr>
                        <a:solidFill>
                          <a:srgbClr val="CC0000"/>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598175">
                <a:tc>
                  <a:txBody>
                    <a:bodyPr/>
                    <a:lstStyle/>
                    <a:p>
                      <a:pPr indent="0" lvl="0" marL="0" marR="0" rtl="0" algn="l">
                        <a:spcBef>
                          <a:spcPts val="0"/>
                        </a:spcBef>
                        <a:spcAft>
                          <a:spcPts val="0"/>
                        </a:spcAft>
                        <a:buNone/>
                      </a:pPr>
                      <a:r>
                        <a:rPr b="1" i="0" lang="en-US" sz="1350" u="none" cap="none" strike="noStrike">
                          <a:solidFill>
                            <a:srgbClr val="CC0000"/>
                          </a:solidFill>
                          <a:latin typeface="Inter"/>
                          <a:ea typeface="Inter"/>
                          <a:cs typeface="Inter"/>
                          <a:sym typeface="Inter"/>
                        </a:rPr>
                        <a:t>GPU Utilization</a:t>
                      </a:r>
                      <a:endParaRPr>
                        <a:solidFill>
                          <a:srgbClr val="CC0000"/>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i="0" lang="en-US" sz="1350" u="none" cap="none" strike="noStrike">
                          <a:solidFill>
                            <a:srgbClr val="CC0000"/>
                          </a:solidFill>
                          <a:latin typeface="Inter"/>
                          <a:ea typeface="Inter"/>
                          <a:cs typeface="Inter"/>
                          <a:sym typeface="Inter"/>
                        </a:rPr>
                        <a:t>Thấp (Nhiều khoảng trống)</a:t>
                      </a:r>
                      <a:endParaRPr>
                        <a:solidFill>
                          <a:srgbClr val="CC0000"/>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i="0" lang="en-US" sz="1350" u="none" cap="none" strike="noStrike">
                          <a:solidFill>
                            <a:srgbClr val="CC0000"/>
                          </a:solidFill>
                          <a:latin typeface="Inter"/>
                          <a:ea typeface="Inter"/>
                          <a:cs typeface="Inter"/>
                          <a:sym typeface="Inter"/>
                        </a:rPr>
                        <a:t>Rất cao (Liên tục)</a:t>
                      </a:r>
                      <a:endParaRPr>
                        <a:solidFill>
                          <a:srgbClr val="CC0000"/>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598175">
                <a:tc>
                  <a:txBody>
                    <a:bodyPr/>
                    <a:lstStyle/>
                    <a:p>
                      <a:pPr indent="0" lvl="0" marL="0" marR="0" rtl="0" algn="l">
                        <a:spcBef>
                          <a:spcPts val="0"/>
                        </a:spcBef>
                        <a:spcAft>
                          <a:spcPts val="0"/>
                        </a:spcAft>
                        <a:buNone/>
                      </a:pPr>
                      <a:r>
                        <a:rPr b="1" i="0" lang="en-US" sz="1350" u="none" cap="none" strike="noStrike">
                          <a:solidFill>
                            <a:srgbClr val="CC0000"/>
                          </a:solidFill>
                          <a:latin typeface="Inter"/>
                          <a:ea typeface="Inter"/>
                          <a:cs typeface="Inter"/>
                          <a:sym typeface="Inter"/>
                        </a:rPr>
                        <a:t>Độ trễ trung bình</a:t>
                      </a:r>
                      <a:endParaRPr>
                        <a:solidFill>
                          <a:srgbClr val="CC0000"/>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i="0" lang="en-US" sz="1350" u="none" cap="none" strike="noStrike">
                          <a:solidFill>
                            <a:srgbClr val="CC0000"/>
                          </a:solidFill>
                          <a:latin typeface="Inter"/>
                          <a:ea typeface="Inter"/>
                          <a:cs typeface="Inter"/>
                          <a:sym typeface="Inter"/>
                        </a:rPr>
                        <a:t>Phụ thuộc request dài nhất</a:t>
                      </a:r>
                      <a:endParaRPr>
                        <a:solidFill>
                          <a:srgbClr val="CC0000"/>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i="0" lang="en-US" sz="1350" u="none" cap="none" strike="noStrike">
                          <a:solidFill>
                            <a:srgbClr val="CC0000"/>
                          </a:solidFill>
                          <a:latin typeface="Inter"/>
                          <a:ea typeface="Inter"/>
                          <a:cs typeface="Inter"/>
                          <a:sym typeface="Inter"/>
                        </a:rPr>
                        <a:t>Ổn định cho mọi request</a:t>
                      </a:r>
                      <a:endParaRPr>
                        <a:solidFill>
                          <a:srgbClr val="CC0000"/>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598175">
                <a:tc>
                  <a:txBody>
                    <a:bodyPr/>
                    <a:lstStyle/>
                    <a:p>
                      <a:pPr indent="0" lvl="0" marL="0" marR="0" rtl="0" algn="l">
                        <a:spcBef>
                          <a:spcPts val="0"/>
                        </a:spcBef>
                        <a:spcAft>
                          <a:spcPts val="0"/>
                        </a:spcAft>
                        <a:buNone/>
                      </a:pPr>
                      <a:r>
                        <a:rPr b="1" i="0" lang="en-US" sz="1350" u="none" cap="none" strike="noStrike">
                          <a:solidFill>
                            <a:srgbClr val="CC0000"/>
                          </a:solidFill>
                          <a:latin typeface="Inter"/>
                          <a:ea typeface="Inter"/>
                          <a:cs typeface="Inter"/>
                          <a:sym typeface="Inter"/>
                        </a:rPr>
                        <a:t>Khả năng Streaming</a:t>
                      </a:r>
                      <a:endParaRPr>
                        <a:solidFill>
                          <a:srgbClr val="CC0000"/>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i="0" lang="en-US" sz="1350" u="none" cap="none" strike="noStrike">
                          <a:solidFill>
                            <a:srgbClr val="CC0000"/>
                          </a:solidFill>
                          <a:latin typeface="Inter"/>
                          <a:ea typeface="Inter"/>
                          <a:cs typeface="Inter"/>
                          <a:sym typeface="Inter"/>
                        </a:rPr>
                        <a:t>Khó tối ưu</a:t>
                      </a:r>
                      <a:endParaRPr>
                        <a:solidFill>
                          <a:srgbClr val="CC0000"/>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i="0" lang="en-US" sz="1350" u="none" cap="none" strike="noStrike">
                          <a:solidFill>
                            <a:srgbClr val="CC0000"/>
                          </a:solidFill>
                          <a:latin typeface="Inter"/>
                          <a:ea typeface="Inter"/>
                          <a:cs typeface="Inter"/>
                          <a:sym typeface="Inter"/>
                        </a:rPr>
                        <a:t>Tối ưu tuyệt vời</a:t>
                      </a:r>
                      <a:endParaRPr>
                        <a:solidFill>
                          <a:srgbClr val="CC0000"/>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bl>
          </a:graphicData>
        </a:graphic>
      </p:graphicFrame>
      <p:sp>
        <p:nvSpPr>
          <p:cNvPr id="247" name="Google Shape;247;p23"/>
          <p:cNvSpPr/>
          <p:nvPr/>
        </p:nvSpPr>
        <p:spPr>
          <a:xfrm>
            <a:off x="571500" y="2990850"/>
            <a:ext cx="3410396" cy="9525"/>
          </a:xfrm>
          <a:prstGeom prst="rect">
            <a:avLst/>
          </a:prstGeom>
          <a:solidFill>
            <a:srgbClr val="94A3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8" name="Google Shape;248;p23"/>
          <p:cNvSpPr/>
          <p:nvPr/>
        </p:nvSpPr>
        <p:spPr>
          <a:xfrm>
            <a:off x="3981896" y="2990850"/>
            <a:ext cx="3861494" cy="9525"/>
          </a:xfrm>
          <a:prstGeom prst="rect">
            <a:avLst/>
          </a:prstGeom>
          <a:solidFill>
            <a:srgbClr val="94A3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9" name="Google Shape;249;p23"/>
          <p:cNvSpPr/>
          <p:nvPr/>
        </p:nvSpPr>
        <p:spPr>
          <a:xfrm>
            <a:off x="7843391" y="2990850"/>
            <a:ext cx="3777108" cy="9525"/>
          </a:xfrm>
          <a:prstGeom prst="rect">
            <a:avLst/>
          </a:prstGeom>
          <a:solidFill>
            <a:srgbClr val="94A3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23"/>
          <p:cNvSpPr/>
          <p:nvPr/>
        </p:nvSpPr>
        <p:spPr>
          <a:xfrm>
            <a:off x="571500" y="3581400"/>
            <a:ext cx="3410396" cy="9525"/>
          </a:xfrm>
          <a:prstGeom prst="rect">
            <a:avLst/>
          </a:prstGeom>
          <a:solidFill>
            <a:srgbClr val="94A3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1" name="Google Shape;251;p23"/>
          <p:cNvSpPr/>
          <p:nvPr/>
        </p:nvSpPr>
        <p:spPr>
          <a:xfrm>
            <a:off x="3981896" y="3581400"/>
            <a:ext cx="3861494" cy="9525"/>
          </a:xfrm>
          <a:prstGeom prst="rect">
            <a:avLst/>
          </a:prstGeom>
          <a:solidFill>
            <a:srgbClr val="94A3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2" name="Google Shape;252;p23"/>
          <p:cNvSpPr/>
          <p:nvPr/>
        </p:nvSpPr>
        <p:spPr>
          <a:xfrm>
            <a:off x="7843391" y="3581400"/>
            <a:ext cx="3777108" cy="9525"/>
          </a:xfrm>
          <a:prstGeom prst="rect">
            <a:avLst/>
          </a:prstGeom>
          <a:solidFill>
            <a:srgbClr val="94A3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23"/>
          <p:cNvSpPr/>
          <p:nvPr/>
        </p:nvSpPr>
        <p:spPr>
          <a:xfrm>
            <a:off x="571500" y="4171950"/>
            <a:ext cx="3410396" cy="9525"/>
          </a:xfrm>
          <a:prstGeom prst="rect">
            <a:avLst/>
          </a:prstGeom>
          <a:solidFill>
            <a:srgbClr val="94A3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23"/>
          <p:cNvSpPr/>
          <p:nvPr/>
        </p:nvSpPr>
        <p:spPr>
          <a:xfrm>
            <a:off x="3981896" y="4171950"/>
            <a:ext cx="3861494" cy="9525"/>
          </a:xfrm>
          <a:prstGeom prst="rect">
            <a:avLst/>
          </a:prstGeom>
          <a:solidFill>
            <a:srgbClr val="94A3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5" name="Google Shape;255;p23"/>
          <p:cNvSpPr/>
          <p:nvPr/>
        </p:nvSpPr>
        <p:spPr>
          <a:xfrm>
            <a:off x="7843391" y="4171950"/>
            <a:ext cx="3777108" cy="9525"/>
          </a:xfrm>
          <a:prstGeom prst="rect">
            <a:avLst/>
          </a:prstGeom>
          <a:solidFill>
            <a:srgbClr val="94A3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6" name="Google Shape;256;p23"/>
          <p:cNvSpPr/>
          <p:nvPr/>
        </p:nvSpPr>
        <p:spPr>
          <a:xfrm>
            <a:off x="571500" y="4762500"/>
            <a:ext cx="3410396" cy="9525"/>
          </a:xfrm>
          <a:prstGeom prst="rect">
            <a:avLst/>
          </a:prstGeom>
          <a:solidFill>
            <a:srgbClr val="94A3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7" name="Google Shape;257;p23"/>
          <p:cNvSpPr/>
          <p:nvPr/>
        </p:nvSpPr>
        <p:spPr>
          <a:xfrm>
            <a:off x="3981896" y="4762500"/>
            <a:ext cx="3861494" cy="9525"/>
          </a:xfrm>
          <a:prstGeom prst="rect">
            <a:avLst/>
          </a:prstGeom>
          <a:solidFill>
            <a:srgbClr val="94A3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8" name="Google Shape;258;p23"/>
          <p:cNvSpPr/>
          <p:nvPr/>
        </p:nvSpPr>
        <p:spPr>
          <a:xfrm>
            <a:off x="7843391" y="4762500"/>
            <a:ext cx="3777108" cy="9525"/>
          </a:xfrm>
          <a:prstGeom prst="rect">
            <a:avLst/>
          </a:prstGeom>
          <a:solidFill>
            <a:srgbClr val="94A3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23"/>
          <p:cNvSpPr txBox="1"/>
          <p:nvPr/>
        </p:nvSpPr>
        <p:spPr>
          <a:xfrm>
            <a:off x="762000" y="571500"/>
            <a:ext cx="11401425"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1F5F9"/>
                </a:solidFill>
                <a:latin typeface="Inter"/>
                <a:ea typeface="Inter"/>
                <a:cs typeface="Inter"/>
                <a:sym typeface="Inter"/>
              </a:rPr>
              <a:t>SO SÁNH HIỆU NĂNG THỰC TẾ</a:t>
            </a:r>
            <a:endParaRPr/>
          </a:p>
        </p:txBody>
      </p:sp>
      <p:sp>
        <p:nvSpPr>
          <p:cNvPr id="260" name="Google Shape;260;p23"/>
          <p:cNvSpPr/>
          <p:nvPr/>
        </p:nvSpPr>
        <p:spPr>
          <a:xfrm>
            <a:off x="571500" y="571500"/>
            <a:ext cx="57150" cy="4857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264" name="Shape 264"/>
        <p:cNvGrpSpPr/>
        <p:nvPr/>
      </p:nvGrpSpPr>
      <p:grpSpPr>
        <a:xfrm>
          <a:off x="0" y="0"/>
          <a:ext cx="0" cy="0"/>
          <a:chOff x="0" y="0"/>
          <a:chExt cx="0" cy="0"/>
        </a:xfrm>
      </p:grpSpPr>
      <p:pic>
        <p:nvPicPr>
          <p:cNvPr descr="image.png" id="265" name="Google Shape;265;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66" name="Google Shape;266;p24"/>
          <p:cNvPicPr preferRelativeResize="0"/>
          <p:nvPr/>
        </p:nvPicPr>
        <p:blipFill rotWithShape="1">
          <a:blip r:embed="rId4">
            <a:alphaModFix/>
          </a:blip>
          <a:srcRect b="0" l="0" r="0" t="0"/>
          <a:stretch/>
        </p:blipFill>
        <p:spPr>
          <a:xfrm>
            <a:off x="571500" y="4757737"/>
            <a:ext cx="11049000" cy="685800"/>
          </a:xfrm>
          <a:prstGeom prst="rect">
            <a:avLst/>
          </a:prstGeom>
          <a:noFill/>
          <a:ln>
            <a:noFill/>
          </a:ln>
        </p:spPr>
      </p:pic>
      <p:sp>
        <p:nvSpPr>
          <p:cNvPr id="267" name="Google Shape;267;p24"/>
          <p:cNvSpPr txBox="1"/>
          <p:nvPr/>
        </p:nvSpPr>
        <p:spPr>
          <a:xfrm>
            <a:off x="952500" y="2509837"/>
            <a:ext cx="1066800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F8FAFC"/>
                </a:solidFill>
                <a:latin typeface="Inter"/>
                <a:ea typeface="Inter"/>
                <a:cs typeface="Inter"/>
                <a:sym typeface="Inter"/>
              </a:rPr>
              <a:t>Cap max_tokens:</a:t>
            </a:r>
            <a:r>
              <a:rPr b="0" i="0" lang="en-US" sz="1500" u="none" cap="none" strike="noStrike">
                <a:solidFill>
                  <a:srgbClr val="94A3B8"/>
                </a:solidFill>
                <a:latin typeface="Inter"/>
                <a:ea typeface="Inter"/>
                <a:cs typeface="Inter"/>
                <a:sym typeface="Inter"/>
              </a:rPr>
              <a:t> Giới hạn token đầu ra để tránh lãng phí ngân sách tính toán.</a:t>
            </a:r>
            <a:endParaRPr/>
          </a:p>
        </p:txBody>
      </p:sp>
      <p:sp>
        <p:nvSpPr>
          <p:cNvPr id="268" name="Google Shape;268;p24"/>
          <p:cNvSpPr txBox="1"/>
          <p:nvPr/>
        </p:nvSpPr>
        <p:spPr>
          <a:xfrm>
            <a:off x="952500" y="2967037"/>
            <a:ext cx="1066800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F8FAFC"/>
                </a:solidFill>
                <a:latin typeface="Inter"/>
                <a:ea typeface="Inter"/>
                <a:cs typeface="Inter"/>
                <a:sym typeface="Inter"/>
              </a:rPr>
              <a:t>Sane context length:</a:t>
            </a:r>
            <a:r>
              <a:rPr b="0" i="0" lang="en-US" sz="1500" u="none" cap="none" strike="noStrike">
                <a:solidFill>
                  <a:srgbClr val="94A3B8"/>
                </a:solidFill>
                <a:latin typeface="Inter"/>
                <a:ea typeface="Inter"/>
                <a:cs typeface="Inter"/>
                <a:sym typeface="Inter"/>
              </a:rPr>
              <a:t> Sử dụng RAG để giữ prompt ngắn gọn và liên quan nhất.</a:t>
            </a:r>
            <a:endParaRPr/>
          </a:p>
        </p:txBody>
      </p:sp>
      <p:sp>
        <p:nvSpPr>
          <p:cNvPr id="269" name="Google Shape;269;p24"/>
          <p:cNvSpPr txBox="1"/>
          <p:nvPr/>
        </p:nvSpPr>
        <p:spPr>
          <a:xfrm>
            <a:off x="952500" y="3424237"/>
            <a:ext cx="1066800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F8FAFC"/>
                </a:solidFill>
                <a:latin typeface="Inter"/>
                <a:ea typeface="Inter"/>
                <a:cs typeface="Inter"/>
                <a:sym typeface="Inter"/>
              </a:rPr>
              <a:t>Pick batch limits:</a:t>
            </a:r>
            <a:r>
              <a:rPr b="0" i="0" lang="en-US" sz="1500" u="none" cap="none" strike="noStrike">
                <a:solidFill>
                  <a:srgbClr val="94A3B8"/>
                </a:solidFill>
                <a:latin typeface="Inter"/>
                <a:ea typeface="Inter"/>
                <a:cs typeface="Inter"/>
                <a:sym typeface="Inter"/>
              </a:rPr>
              <a:t> Chọn giới hạn batch đủ để GPU bận rộn nhưng tránh "thrashing".</a:t>
            </a:r>
            <a:endParaRPr/>
          </a:p>
        </p:txBody>
      </p:sp>
      <p:sp>
        <p:nvSpPr>
          <p:cNvPr id="270" name="Google Shape;270;p24"/>
          <p:cNvSpPr txBox="1"/>
          <p:nvPr/>
        </p:nvSpPr>
        <p:spPr>
          <a:xfrm>
            <a:off x="952500" y="3881437"/>
            <a:ext cx="1066800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F8FAFC"/>
                </a:solidFill>
                <a:latin typeface="Inter"/>
                <a:ea typeface="Inter"/>
                <a:cs typeface="Inter"/>
                <a:sym typeface="Inter"/>
              </a:rPr>
              <a:t>Right-size hardware:</a:t>
            </a:r>
            <a:r>
              <a:rPr b="0" i="0" lang="en-US" sz="1500" u="none" cap="none" strike="noStrike">
                <a:solidFill>
                  <a:srgbClr val="94A3B8"/>
                </a:solidFill>
                <a:latin typeface="Inter"/>
                <a:ea typeface="Inter"/>
                <a:cs typeface="Inter"/>
                <a:sym typeface="Inter"/>
              </a:rPr>
              <a:t> Nếu lỗi OOM thường xuyên, hãy tăng VRAM hoặc dùng model nhỏ hơn.</a:t>
            </a:r>
            <a:endParaRPr/>
          </a:p>
        </p:txBody>
      </p:sp>
      <p:sp>
        <p:nvSpPr>
          <p:cNvPr id="271" name="Google Shape;271;p24"/>
          <p:cNvSpPr txBox="1"/>
          <p:nvPr/>
        </p:nvSpPr>
        <p:spPr>
          <a:xfrm>
            <a:off x="771525" y="4957762"/>
            <a:ext cx="10648950" cy="2857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10B981"/>
                </a:solidFill>
                <a:latin typeface="Inter"/>
                <a:ea typeface="Inter"/>
                <a:cs typeface="Inter"/>
                <a:sym typeface="Inter"/>
              </a:rPr>
              <a:t>Tối ưu hóa là quá trình thử nghiệm và cân bằng liên tục.</a:t>
            </a:r>
            <a:endParaRPr/>
          </a:p>
        </p:txBody>
      </p:sp>
      <p:sp>
        <p:nvSpPr>
          <p:cNvPr id="272" name="Google Shape;272;p24"/>
          <p:cNvSpPr txBox="1"/>
          <p:nvPr/>
        </p:nvSpPr>
        <p:spPr>
          <a:xfrm>
            <a:off x="762000" y="571500"/>
            <a:ext cx="11401425"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1F5F9"/>
                </a:solidFill>
                <a:latin typeface="Inter"/>
                <a:ea typeface="Inter"/>
                <a:cs typeface="Inter"/>
                <a:sym typeface="Inter"/>
              </a:rPr>
              <a:t>DANH SÁCH KIỂM TRA (TUNING)</a:t>
            </a:r>
            <a:endParaRPr/>
          </a:p>
        </p:txBody>
      </p:sp>
      <p:sp>
        <p:nvSpPr>
          <p:cNvPr id="273" name="Google Shape;273;p24"/>
          <p:cNvSpPr/>
          <p:nvPr/>
        </p:nvSpPr>
        <p:spPr>
          <a:xfrm>
            <a:off x="571500" y="571500"/>
            <a:ext cx="57150" cy="4857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74" name="Google Shape;274;p24"/>
          <p:cNvPicPr preferRelativeResize="0"/>
          <p:nvPr/>
        </p:nvPicPr>
        <p:blipFill rotWithShape="1">
          <a:blip r:embed="rId5">
            <a:alphaModFix/>
          </a:blip>
          <a:srcRect b="0" l="0" r="0" t="0"/>
          <a:stretch/>
        </p:blipFill>
        <p:spPr>
          <a:xfrm>
            <a:off x="571500" y="2509837"/>
            <a:ext cx="228600" cy="247650"/>
          </a:xfrm>
          <a:prstGeom prst="rect">
            <a:avLst/>
          </a:prstGeom>
          <a:noFill/>
          <a:ln>
            <a:noFill/>
          </a:ln>
        </p:spPr>
      </p:pic>
      <p:pic>
        <p:nvPicPr>
          <p:cNvPr descr="image.png" id="275" name="Google Shape;275;p24"/>
          <p:cNvPicPr preferRelativeResize="0"/>
          <p:nvPr/>
        </p:nvPicPr>
        <p:blipFill rotWithShape="1">
          <a:blip r:embed="rId5">
            <a:alphaModFix/>
          </a:blip>
          <a:srcRect b="0" l="0" r="0" t="0"/>
          <a:stretch/>
        </p:blipFill>
        <p:spPr>
          <a:xfrm>
            <a:off x="571500" y="2967037"/>
            <a:ext cx="228600" cy="247650"/>
          </a:xfrm>
          <a:prstGeom prst="rect">
            <a:avLst/>
          </a:prstGeom>
          <a:noFill/>
          <a:ln>
            <a:noFill/>
          </a:ln>
        </p:spPr>
      </p:pic>
      <p:pic>
        <p:nvPicPr>
          <p:cNvPr descr="image.png" id="276" name="Google Shape;276;p24"/>
          <p:cNvPicPr preferRelativeResize="0"/>
          <p:nvPr/>
        </p:nvPicPr>
        <p:blipFill rotWithShape="1">
          <a:blip r:embed="rId5">
            <a:alphaModFix/>
          </a:blip>
          <a:srcRect b="0" l="0" r="0" t="0"/>
          <a:stretch/>
        </p:blipFill>
        <p:spPr>
          <a:xfrm>
            <a:off x="571500" y="3424237"/>
            <a:ext cx="228600" cy="247650"/>
          </a:xfrm>
          <a:prstGeom prst="rect">
            <a:avLst/>
          </a:prstGeom>
          <a:noFill/>
          <a:ln>
            <a:noFill/>
          </a:ln>
        </p:spPr>
      </p:pic>
      <p:pic>
        <p:nvPicPr>
          <p:cNvPr descr="image.png" id="277" name="Google Shape;277;p24"/>
          <p:cNvPicPr preferRelativeResize="0"/>
          <p:nvPr/>
        </p:nvPicPr>
        <p:blipFill rotWithShape="1">
          <a:blip r:embed="rId5">
            <a:alphaModFix/>
          </a:blip>
          <a:srcRect b="0" l="0" r="0" t="0"/>
          <a:stretch/>
        </p:blipFill>
        <p:spPr>
          <a:xfrm>
            <a:off x="571500" y="3881437"/>
            <a:ext cx="228600" cy="247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281" name="Shape 281"/>
        <p:cNvGrpSpPr/>
        <p:nvPr/>
      </p:nvGrpSpPr>
      <p:grpSpPr>
        <a:xfrm>
          <a:off x="0" y="0"/>
          <a:ext cx="0" cy="0"/>
          <a:chOff x="0" y="0"/>
          <a:chExt cx="0" cy="0"/>
        </a:xfrm>
      </p:grpSpPr>
      <p:pic>
        <p:nvPicPr>
          <p:cNvPr descr="image.png" id="282" name="Google Shape;282;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83" name="Google Shape;283;p25"/>
          <p:cNvPicPr preferRelativeResize="0"/>
          <p:nvPr/>
        </p:nvPicPr>
        <p:blipFill rotWithShape="1">
          <a:blip r:embed="rId4">
            <a:alphaModFix/>
          </a:blip>
          <a:srcRect b="0" l="0" r="0" t="0"/>
          <a:stretch/>
        </p:blipFill>
        <p:spPr>
          <a:xfrm>
            <a:off x="571500" y="2457450"/>
            <a:ext cx="3530500" cy="2809875"/>
          </a:xfrm>
          <a:prstGeom prst="rect">
            <a:avLst/>
          </a:prstGeom>
          <a:noFill/>
          <a:ln>
            <a:noFill/>
          </a:ln>
        </p:spPr>
      </p:pic>
      <p:pic>
        <p:nvPicPr>
          <p:cNvPr descr="image.png" id="284" name="Google Shape;284;p25"/>
          <p:cNvPicPr preferRelativeResize="0"/>
          <p:nvPr/>
        </p:nvPicPr>
        <p:blipFill rotWithShape="1">
          <a:blip r:embed="rId5">
            <a:alphaModFix/>
          </a:blip>
          <a:srcRect b="0" l="0" r="0" t="0"/>
          <a:stretch/>
        </p:blipFill>
        <p:spPr>
          <a:xfrm>
            <a:off x="4330600" y="2457450"/>
            <a:ext cx="3530649" cy="2809875"/>
          </a:xfrm>
          <a:prstGeom prst="rect">
            <a:avLst/>
          </a:prstGeom>
          <a:noFill/>
          <a:ln>
            <a:noFill/>
          </a:ln>
        </p:spPr>
      </p:pic>
      <p:pic>
        <p:nvPicPr>
          <p:cNvPr descr="image.png" id="285" name="Google Shape;285;p25"/>
          <p:cNvPicPr preferRelativeResize="0"/>
          <p:nvPr/>
        </p:nvPicPr>
        <p:blipFill rotWithShape="1">
          <a:blip r:embed="rId4">
            <a:alphaModFix/>
          </a:blip>
          <a:srcRect b="0" l="0" r="0" t="0"/>
          <a:stretch/>
        </p:blipFill>
        <p:spPr>
          <a:xfrm>
            <a:off x="8089850" y="2457450"/>
            <a:ext cx="3530500" cy="2809875"/>
          </a:xfrm>
          <a:prstGeom prst="rect">
            <a:avLst/>
          </a:prstGeom>
          <a:noFill/>
          <a:ln>
            <a:noFill/>
          </a:ln>
        </p:spPr>
      </p:pic>
      <p:sp>
        <p:nvSpPr>
          <p:cNvPr id="286" name="Google Shape;286;p25"/>
          <p:cNvSpPr txBox="1"/>
          <p:nvPr/>
        </p:nvSpPr>
        <p:spPr>
          <a:xfrm>
            <a:off x="866775" y="3924300"/>
            <a:ext cx="2939950" cy="8572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Inter"/>
                <a:ea typeface="Inter"/>
                <a:cs typeface="Inter"/>
                <a:sym typeface="Inter"/>
              </a:rPr>
              <a:t>Tăng dần số lượng request đồng thời và theo dõi TTFT/TPS.</a:t>
            </a:r>
            <a:endParaRPr/>
          </a:p>
        </p:txBody>
      </p:sp>
      <p:sp>
        <p:nvSpPr>
          <p:cNvPr id="287" name="Google Shape;287;p25"/>
          <p:cNvSpPr txBox="1"/>
          <p:nvPr/>
        </p:nvSpPr>
        <p:spPr>
          <a:xfrm>
            <a:off x="4625875" y="3924300"/>
            <a:ext cx="2940099"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Inter"/>
                <a:ea typeface="Inter"/>
                <a:cs typeface="Inter"/>
                <a:sym typeface="Inter"/>
              </a:rPr>
              <a:t>Trộn lẫn prompt ngắn/dài để xem scheduler điều tiết ra sao.</a:t>
            </a:r>
            <a:endParaRPr/>
          </a:p>
        </p:txBody>
      </p:sp>
      <p:sp>
        <p:nvSpPr>
          <p:cNvPr id="288" name="Google Shape;288;p25"/>
          <p:cNvSpPr txBox="1"/>
          <p:nvPr/>
        </p:nvSpPr>
        <p:spPr>
          <a:xfrm>
            <a:off x="8385125" y="3924300"/>
            <a:ext cx="293995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Inter"/>
                <a:ea typeface="Inter"/>
                <a:cs typeface="Inter"/>
                <a:sym typeface="Inter"/>
              </a:rPr>
              <a:t>Gửi nhiều lệnh hủy để kiểm tra khả năng dọn dẹp cache.</a:t>
            </a:r>
            <a:endParaRPr/>
          </a:p>
        </p:txBody>
      </p:sp>
      <p:pic>
        <p:nvPicPr>
          <p:cNvPr descr="image.png" id="289" name="Google Shape;289;p25"/>
          <p:cNvPicPr preferRelativeResize="0"/>
          <p:nvPr/>
        </p:nvPicPr>
        <p:blipFill rotWithShape="1">
          <a:blip r:embed="rId6">
            <a:alphaModFix/>
          </a:blip>
          <a:srcRect b="0" l="0" r="0" t="0"/>
          <a:stretch/>
        </p:blipFill>
        <p:spPr>
          <a:xfrm>
            <a:off x="866775" y="2790825"/>
            <a:ext cx="381000" cy="381000"/>
          </a:xfrm>
          <a:prstGeom prst="rect">
            <a:avLst/>
          </a:prstGeom>
          <a:noFill/>
          <a:ln>
            <a:noFill/>
          </a:ln>
        </p:spPr>
      </p:pic>
      <p:pic>
        <p:nvPicPr>
          <p:cNvPr descr="image.png" id="290" name="Google Shape;290;p25"/>
          <p:cNvPicPr preferRelativeResize="0"/>
          <p:nvPr/>
        </p:nvPicPr>
        <p:blipFill rotWithShape="1">
          <a:blip r:embed="rId7">
            <a:alphaModFix/>
          </a:blip>
          <a:srcRect b="0" l="0" r="0" t="0"/>
          <a:stretch/>
        </p:blipFill>
        <p:spPr>
          <a:xfrm>
            <a:off x="4625875" y="2790825"/>
            <a:ext cx="381000" cy="381000"/>
          </a:xfrm>
          <a:prstGeom prst="rect">
            <a:avLst/>
          </a:prstGeom>
          <a:noFill/>
          <a:ln>
            <a:noFill/>
          </a:ln>
        </p:spPr>
      </p:pic>
      <p:pic>
        <p:nvPicPr>
          <p:cNvPr descr="image.png" id="291" name="Google Shape;291;p25"/>
          <p:cNvPicPr preferRelativeResize="0"/>
          <p:nvPr/>
        </p:nvPicPr>
        <p:blipFill rotWithShape="1">
          <a:blip r:embed="rId8">
            <a:alphaModFix/>
          </a:blip>
          <a:srcRect b="0" l="0" r="0" t="0"/>
          <a:stretch/>
        </p:blipFill>
        <p:spPr>
          <a:xfrm>
            <a:off x="8385125" y="2790825"/>
            <a:ext cx="381000" cy="381000"/>
          </a:xfrm>
          <a:prstGeom prst="rect">
            <a:avLst/>
          </a:prstGeom>
          <a:noFill/>
          <a:ln>
            <a:noFill/>
          </a:ln>
        </p:spPr>
      </p:pic>
      <p:sp>
        <p:nvSpPr>
          <p:cNvPr id="292" name="Google Shape;292;p25"/>
          <p:cNvSpPr txBox="1"/>
          <p:nvPr/>
        </p:nvSpPr>
        <p:spPr>
          <a:xfrm>
            <a:off x="762000" y="571500"/>
            <a:ext cx="11401425"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1F5F9"/>
                </a:solidFill>
                <a:latin typeface="Inter"/>
                <a:ea typeface="Inter"/>
                <a:cs typeface="Inter"/>
                <a:sym typeface="Inter"/>
              </a:rPr>
              <a:t>CÁC BÀI KIỂM TRA (VALIDATION)</a:t>
            </a:r>
            <a:endParaRPr/>
          </a:p>
        </p:txBody>
      </p:sp>
      <p:sp>
        <p:nvSpPr>
          <p:cNvPr id="293" name="Google Shape;293;p25"/>
          <p:cNvSpPr/>
          <p:nvPr/>
        </p:nvSpPr>
        <p:spPr>
          <a:xfrm>
            <a:off x="571500" y="571500"/>
            <a:ext cx="57150" cy="4857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4" name="Google Shape;294;p25"/>
          <p:cNvSpPr txBox="1"/>
          <p:nvPr/>
        </p:nvSpPr>
        <p:spPr>
          <a:xfrm>
            <a:off x="866775" y="3409950"/>
            <a:ext cx="3086948"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0B981"/>
                </a:solidFill>
                <a:latin typeface="Inter"/>
                <a:ea typeface="Inter"/>
                <a:cs typeface="Inter"/>
                <a:sym typeface="Inter"/>
              </a:rPr>
              <a:t>Load Ramp</a:t>
            </a:r>
            <a:endParaRPr/>
          </a:p>
        </p:txBody>
      </p:sp>
      <p:sp>
        <p:nvSpPr>
          <p:cNvPr id="295" name="Google Shape;295;p25"/>
          <p:cNvSpPr txBox="1"/>
          <p:nvPr/>
        </p:nvSpPr>
        <p:spPr>
          <a:xfrm>
            <a:off x="4625875" y="3409950"/>
            <a:ext cx="3087104"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0B981"/>
                </a:solidFill>
                <a:latin typeface="Inter"/>
                <a:ea typeface="Inter"/>
                <a:cs typeface="Inter"/>
                <a:sym typeface="Inter"/>
              </a:rPr>
              <a:t>Mixed Prompts</a:t>
            </a:r>
            <a:endParaRPr/>
          </a:p>
        </p:txBody>
      </p:sp>
      <p:sp>
        <p:nvSpPr>
          <p:cNvPr id="296" name="Google Shape;296;p25"/>
          <p:cNvSpPr txBox="1"/>
          <p:nvPr/>
        </p:nvSpPr>
        <p:spPr>
          <a:xfrm>
            <a:off x="8385125" y="3409950"/>
            <a:ext cx="3086948"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0B981"/>
                </a:solidFill>
                <a:latin typeface="Inter"/>
                <a:ea typeface="Inter"/>
                <a:cs typeface="Inter"/>
                <a:sym typeface="Inter"/>
              </a:rPr>
              <a:t>Cancel Storms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300" name="Shape 300"/>
        <p:cNvGrpSpPr/>
        <p:nvPr/>
      </p:nvGrpSpPr>
      <p:grpSpPr>
        <a:xfrm>
          <a:off x="0" y="0"/>
          <a:ext cx="0" cy="0"/>
          <a:chOff x="0" y="0"/>
          <a:chExt cx="0" cy="0"/>
        </a:xfrm>
      </p:grpSpPr>
      <p:pic>
        <p:nvPicPr>
          <p:cNvPr descr="image.png" id="301" name="Google Shape;301;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02" name="Google Shape;302;p26"/>
          <p:cNvPicPr preferRelativeResize="0"/>
          <p:nvPr/>
        </p:nvPicPr>
        <p:blipFill rotWithShape="1">
          <a:blip r:embed="rId4">
            <a:alphaModFix/>
          </a:blip>
          <a:srcRect b="0" l="0" r="0" t="0"/>
          <a:stretch/>
        </p:blipFill>
        <p:spPr>
          <a:xfrm>
            <a:off x="571500" y="1438275"/>
            <a:ext cx="11049000" cy="4848225"/>
          </a:xfrm>
          <a:prstGeom prst="rect">
            <a:avLst/>
          </a:prstGeom>
          <a:noFill/>
          <a:ln>
            <a:noFill/>
          </a:ln>
        </p:spPr>
      </p:pic>
      <p:sp>
        <p:nvSpPr>
          <p:cNvPr id="303" name="Google Shape;303;p26"/>
          <p:cNvSpPr txBox="1"/>
          <p:nvPr/>
        </p:nvSpPr>
        <p:spPr>
          <a:xfrm>
            <a:off x="571500" y="4791075"/>
            <a:ext cx="11049000" cy="2857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1500" u="none" cap="none" strike="noStrike">
                <a:solidFill>
                  <a:srgbClr val="F8FAFC"/>
                </a:solidFill>
                <a:latin typeface="Inter"/>
                <a:ea typeface="Inter"/>
                <a:cs typeface="Inter"/>
                <a:sym typeface="Inter"/>
              </a:rPr>
              <a:t>Cần chú ý:</a:t>
            </a:r>
            <a:r>
              <a:rPr b="0" i="0" lang="en-US" sz="1500" u="none" cap="none" strike="noStrike">
                <a:solidFill>
                  <a:srgbClr val="94A3B8"/>
                </a:solidFill>
                <a:latin typeface="Inter"/>
                <a:ea typeface="Inter"/>
                <a:cs typeface="Inter"/>
                <a:sym typeface="Inter"/>
              </a:rPr>
              <a:t> Mã lỗi OOM (Out of Memory) và Timeouts là tín hiệu cần điều chỉnh cấu hình.</a:t>
            </a:r>
            <a:endParaRPr/>
          </a:p>
        </p:txBody>
      </p:sp>
      <p:sp>
        <p:nvSpPr>
          <p:cNvPr id="304" name="Google Shape;304;p26"/>
          <p:cNvSpPr txBox="1"/>
          <p:nvPr/>
        </p:nvSpPr>
        <p:spPr>
          <a:xfrm>
            <a:off x="762000" y="571500"/>
            <a:ext cx="11401425"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1F5F9"/>
                </a:solidFill>
                <a:latin typeface="Inter"/>
                <a:ea typeface="Inter"/>
                <a:cs typeface="Inter"/>
                <a:sym typeface="Inter"/>
              </a:rPr>
              <a:t>GIÁM SÁT CÁC CHỈ SỐ QUAN TRỌNG</a:t>
            </a:r>
            <a:endParaRPr/>
          </a:p>
        </p:txBody>
      </p:sp>
      <p:sp>
        <p:nvSpPr>
          <p:cNvPr id="305" name="Google Shape;305;p26"/>
          <p:cNvSpPr/>
          <p:nvPr/>
        </p:nvSpPr>
        <p:spPr>
          <a:xfrm>
            <a:off x="571500" y="571500"/>
            <a:ext cx="57150" cy="4857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309" name="Shape 309"/>
        <p:cNvGrpSpPr/>
        <p:nvPr/>
      </p:nvGrpSpPr>
      <p:grpSpPr>
        <a:xfrm>
          <a:off x="0" y="0"/>
          <a:ext cx="0" cy="0"/>
          <a:chOff x="0" y="0"/>
          <a:chExt cx="0" cy="0"/>
        </a:xfrm>
      </p:grpSpPr>
      <p:pic>
        <p:nvPicPr>
          <p:cNvPr descr="image.png" id="310" name="Google Shape;310;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11" name="Google Shape;311;p27"/>
          <p:cNvPicPr preferRelativeResize="0"/>
          <p:nvPr/>
        </p:nvPicPr>
        <p:blipFill rotWithShape="1">
          <a:blip r:embed="rId4">
            <a:alphaModFix/>
          </a:blip>
          <a:srcRect b="0" l="0" r="0" t="0"/>
          <a:stretch/>
        </p:blipFill>
        <p:spPr>
          <a:xfrm>
            <a:off x="3771900" y="2834580"/>
            <a:ext cx="4648200" cy="2209800"/>
          </a:xfrm>
          <a:prstGeom prst="rect">
            <a:avLst/>
          </a:prstGeom>
          <a:noFill/>
          <a:ln>
            <a:noFill/>
          </a:ln>
        </p:spPr>
      </p:pic>
      <p:pic>
        <p:nvPicPr>
          <p:cNvPr descr="image.png" id="312" name="Google Shape;312;p27"/>
          <p:cNvPicPr preferRelativeResize="0"/>
          <p:nvPr/>
        </p:nvPicPr>
        <p:blipFill rotWithShape="1">
          <a:blip r:embed="rId5">
            <a:alphaModFix/>
          </a:blip>
          <a:srcRect b="0" l="0" r="0" t="0"/>
          <a:stretch/>
        </p:blipFill>
        <p:spPr>
          <a:xfrm>
            <a:off x="4191000" y="5425380"/>
            <a:ext cx="3810000" cy="1428750"/>
          </a:xfrm>
          <a:prstGeom prst="rect">
            <a:avLst/>
          </a:prstGeom>
          <a:noFill/>
          <a:ln>
            <a:noFill/>
          </a:ln>
        </p:spPr>
      </p:pic>
      <p:sp>
        <p:nvSpPr>
          <p:cNvPr id="313" name="Google Shape;313;p27"/>
          <p:cNvSpPr txBox="1"/>
          <p:nvPr/>
        </p:nvSpPr>
        <p:spPr>
          <a:xfrm>
            <a:off x="1809750" y="1539180"/>
            <a:ext cx="8572500" cy="9144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2400" u="none" cap="none" strike="noStrike">
                <a:solidFill>
                  <a:srgbClr val="94A3B8"/>
                </a:solidFill>
                <a:latin typeface="Inter"/>
                <a:ea typeface="Inter"/>
                <a:cs typeface="Inter"/>
                <a:sym typeface="Inter"/>
              </a:rPr>
              <a:t>Continuous batching là nền tảng cốt lõi để các framework như </a:t>
            </a:r>
            <a:r>
              <a:rPr b="1" i="0" lang="en-US" sz="2400" u="none" cap="none" strike="noStrike">
                <a:solidFill>
                  <a:srgbClr val="F8FAFC"/>
                </a:solidFill>
                <a:latin typeface="Inter"/>
                <a:ea typeface="Inter"/>
                <a:cs typeface="Inter"/>
                <a:sym typeface="Inter"/>
              </a:rPr>
              <a:t>vLLM</a:t>
            </a:r>
            <a:r>
              <a:rPr b="0" i="0" lang="en-US" sz="2400" u="none" cap="none" strike="noStrike">
                <a:solidFill>
                  <a:srgbClr val="94A3B8"/>
                </a:solidFill>
                <a:latin typeface="Inter"/>
                <a:ea typeface="Inter"/>
                <a:cs typeface="Inter"/>
                <a:sym typeface="Inter"/>
              </a:rPr>
              <a:t> đạt được hiệu năng vượt trội.</a:t>
            </a:r>
            <a:endParaRPr/>
          </a:p>
        </p:txBody>
      </p:sp>
      <p:sp>
        <p:nvSpPr>
          <p:cNvPr id="314" name="Google Shape;314;p27"/>
          <p:cNvSpPr txBox="1"/>
          <p:nvPr/>
        </p:nvSpPr>
        <p:spPr>
          <a:xfrm>
            <a:off x="571500" y="7425630"/>
            <a:ext cx="11049000" cy="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3B82F6"/>
                </a:solidFill>
                <a:latin typeface="JetBrains Mono"/>
                <a:ea typeface="JetBrains Mono"/>
                <a:cs typeface="JetBrains Mono"/>
                <a:sym typeface="JetBrains Mono"/>
              </a:rPr>
              <a:t>Cảm ơn các bạn đã lắng nghe!</a:t>
            </a:r>
            <a:endParaRPr/>
          </a:p>
        </p:txBody>
      </p:sp>
      <p:sp>
        <p:nvSpPr>
          <p:cNvPr id="315" name="Google Shape;315;p27"/>
          <p:cNvSpPr txBox="1"/>
          <p:nvPr/>
        </p:nvSpPr>
        <p:spPr>
          <a:xfrm>
            <a:off x="4067175" y="3320355"/>
            <a:ext cx="405765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Inter"/>
                <a:ea typeface="Inter"/>
                <a:cs typeface="Inter"/>
                <a:sym typeface="Inter"/>
              </a:rPr>
              <a:t>1. Giữ GPU luôn bận rộn.</a:t>
            </a:r>
            <a:endParaRPr/>
          </a:p>
        </p:txBody>
      </p:sp>
      <p:sp>
        <p:nvSpPr>
          <p:cNvPr id="316" name="Google Shape;316;p27"/>
          <p:cNvSpPr txBox="1"/>
          <p:nvPr/>
        </p:nvSpPr>
        <p:spPr>
          <a:xfrm>
            <a:off x="4067175" y="3796605"/>
            <a:ext cx="405765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Inter"/>
                <a:ea typeface="Inter"/>
                <a:cs typeface="Inter"/>
                <a:sym typeface="Inter"/>
              </a:rPr>
              <a:t>2. Giữ người dùng hạnh phúc với độ trễ thấp.</a:t>
            </a:r>
            <a:endParaRPr/>
          </a:p>
        </p:txBody>
      </p:sp>
      <p:sp>
        <p:nvSpPr>
          <p:cNvPr id="317" name="Google Shape;317;p27"/>
          <p:cNvSpPr txBox="1"/>
          <p:nvPr/>
        </p:nvSpPr>
        <p:spPr>
          <a:xfrm>
            <a:off x="4067175" y="4272855"/>
            <a:ext cx="405765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Inter"/>
                <a:ea typeface="Inter"/>
                <a:cs typeface="Inter"/>
                <a:sym typeface="Inter"/>
              </a:rPr>
              <a:t>3. Tiết kiệm chi phí hạ tầng tối đa.</a:t>
            </a:r>
            <a:endParaRPr/>
          </a:p>
        </p:txBody>
      </p:sp>
      <p:pic>
        <p:nvPicPr>
          <p:cNvPr descr="image.png" id="318" name="Google Shape;318;p27"/>
          <p:cNvPicPr preferRelativeResize="0"/>
          <p:nvPr/>
        </p:nvPicPr>
        <p:blipFill rotWithShape="1">
          <a:blip r:embed="rId6">
            <a:alphaModFix/>
          </a:blip>
          <a:srcRect b="0" l="0" r="0" t="0"/>
          <a:stretch/>
        </p:blipFill>
        <p:spPr>
          <a:xfrm>
            <a:off x="5262562" y="5434905"/>
            <a:ext cx="1666875" cy="190500"/>
          </a:xfrm>
          <a:prstGeom prst="rect">
            <a:avLst/>
          </a:prstGeom>
          <a:noFill/>
          <a:ln>
            <a:noFill/>
          </a:ln>
        </p:spPr>
      </p:pic>
      <p:sp>
        <p:nvSpPr>
          <p:cNvPr id="319" name="Google Shape;319;p27"/>
          <p:cNvSpPr txBox="1"/>
          <p:nvPr/>
        </p:nvSpPr>
        <p:spPr>
          <a:xfrm>
            <a:off x="295275" y="571500"/>
            <a:ext cx="11601450" cy="58668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4200" u="none" cap="none" strike="noStrike">
                <a:solidFill>
                  <a:srgbClr val="10B981"/>
                </a:solidFill>
                <a:latin typeface="Inter"/>
                <a:ea typeface="Inter"/>
                <a:cs typeface="Inter"/>
                <a:sym typeface="Inter"/>
              </a:rPr>
              <a:t>Kết luận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